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Default Extension="xlsx" ContentType="application/vnd.openxmlformats-officedocument.spreadsheetml.sheet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s/slide14.xml" ContentType="application/vnd.openxmlformats-officedocument.presentationml.slide+xml"/>
  <Override PartName="/ppt/charts/chart7.xml" ContentType="application/vnd.ms-office.chartex+xml"/>
  <Override PartName="/ppt/charts/colors7.xml" ContentType="application/vnd.ms-office.chartcolorstyle+xml"/>
  <Override PartName="/ppt/charts/style7.xml" ContentType="application/vnd.ms-office.chartstyle+xml"/>
  <Override PartName="/ppt/slides/slide15.xml" ContentType="application/vnd.openxmlformats-officedocument.presentationml.slide+xml"/>
  <Override PartName="/ppt/charts/chart8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301" r:id="rIdChartSlide1"/>
    <p:sldId id="302" r:id="rIdChartSlide2"/>
    <p:sldId id="303" r:id="rIdChartSlide3"/>
    <p:sldId id="304" r:id="rIdChartSlide4"/>
    <p:sldId id="305" r:id="rIdChartSlide5"/>
    <p:sldId id="306" r:id="rIdChartSlide6"/>
    <p:sldId id="307" r:id="rIdChartSlide7"/>
    <p:sldId id="308" r:id="rIdChartSlide8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tx1">
              <a:alpha val="8000"/>
            </a:schemeClr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ChartSlide1" Type="http://schemas.openxmlformats.org/officeDocument/2006/relationships/slide" Target="slides/slide8.xml"/><Relationship Id="rIdChartSlide2" Type="http://schemas.openxmlformats.org/officeDocument/2006/relationships/slide" Target="slides/slide9.xml"/><Relationship Id="rIdChartSlide3" Type="http://schemas.openxmlformats.org/officeDocument/2006/relationships/slide" Target="slides/slide10.xml"/><Relationship Id="rIdChartSlide4" Type="http://schemas.openxmlformats.org/officeDocument/2006/relationships/slide" Target="slides/slide11.xml"/><Relationship Id="rIdChartSlide5" Type="http://schemas.openxmlformats.org/officeDocument/2006/relationships/slide" Target="slides/slide12.xml"/><Relationship Id="rIdChartSlide6" Type="http://schemas.openxmlformats.org/officeDocument/2006/relationships/slide" Target="slides/slide13.xml"/><Relationship Id="rIdChartSlide7" Type="http://schemas.openxmlformats.org/officeDocument/2006/relationships/slide" Target="slides/slide14.xml"/><Relationship Id="rIdChartSlide8" Type="http://schemas.openxmlformats.org/officeDocument/2006/relationships/slide" Target="slides/slide15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7.xlsx"/><Relationship Id="rId2" Type="http://schemas.microsoft.com/office/2011/relationships/chartColorStyle" Target="colors7.xml"/><Relationship Id="rId3" Type="http://schemas.microsoft.com/office/2011/relationships/chartStyle" Target="style7.xm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広告経由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5200</c:v>
                </c:pt>
                <c:pt idx="1">
                  <c:v>5600</c:v>
                </c:pt>
                <c:pt idx="2">
                  <c:v>5400</c:v>
                </c:pt>
                <c:pt idx="3">
                  <c:v>6100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自然流入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7280</c:v>
                </c:pt>
                <c:pt idx="1">
                  <c:v>7502</c:v>
                </c:pt>
                <c:pt idx="2">
                  <c:v>7555</c:v>
                </c:pt>
                <c:pt idx="3">
                  <c:v>8130</c:v>
                </c:pt>
              </c:numCache>
            </c:numRef>
          </c:val>
        </c:ser>
        <c:gapWidth val="80"/>
        <c:overlap val="-1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Google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</c:spPr>
          <c:marker>
            <c:symbol val="circle"/>
            <c:size val="6"/>
          </c:marker>
          <c:dLbls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3.88</c:v>
                </c:pt>
                <c:pt idx="1">
                  <c:v>4.01</c:v>
                </c:pt>
                <c:pt idx="2">
                  <c:v>4.12</c:v>
                </c:pt>
                <c:pt idx="3">
                  <c:v>3.95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</c:spPr>
          <c:marker>
            <c:symbol val="circle"/>
            <c:size val="6"/>
          </c:marker>
          <c:dLbls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2.9</c:v>
                </c:pt>
                <c:pt idx="1">
                  <c:v>3.1</c:v>
                </c:pt>
                <c:pt idx="2">
                  <c:v>2.7</c:v>
                </c:pt>
                <c:pt idx="3">
                  <c:v>3.3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楽天RPP</c:v>
                </c:pt>
              </c:strCache>
            </c:strRef>
          </c:tx>
          <c:spPr>
            <a:ln w="34925" cap="rnd">
              <a:solidFill>
                <a:schemeClr val="accent6"/>
              </a:solidFill>
              <a:round/>
            </a:ln>
          </c:spPr>
          <c:marker>
            <c:symbol val="circle"/>
            <c:size val="6"/>
          </c:marker>
          <c:dLbls>
            <c:dLbl>
              <c:idx val="0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4.5</c:v>
                </c:pt>
                <c:pt idx="1">
                  <c:v>4.2</c:v>
                </c:pt>
                <c:pt idx="2">
                  <c:v>4.8</c:v>
                </c:pt>
                <c:pt idx="3">
                  <c:v>5.1</c:v>
                </c:pt>
              </c:numCache>
            </c:numRef>
          </c:val>
          <c:smooth val="0"/>
        </c:ser>
        <c:marker val="1"/>
        <c:axId val="1001"/>
        <c:axId val="1002"/>
      </c:line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</c:scaling>
        <c:delete val="0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広告経由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c:spPr>
          <c:invertIfNegative val="0"/>
          <c:dPt>
            <c:idx val="3"/>
            <c:invertIfNegative val="0"/>
            <c:bubble3D val="0"/>
            <c:spPr>
              <a:solidFill>
                <a:schemeClr val="accent1"/>
              </a:solidFill>
              <a:ln w="28575">
                <a:solidFill>
                  <a:schemeClr val="accent6"/>
                </a:solidFill>
              </a:ln>
            </c:spPr>
          </c:dPt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5200</c:v>
                </c:pt>
                <c:pt idx="1">
                  <c:v>5600</c:v>
                </c:pt>
                <c:pt idx="2">
                  <c:v>5400</c:v>
                </c:pt>
                <c:pt idx="3">
                  <c:v>6100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自然流入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7280</c:v>
                </c:pt>
                <c:pt idx="1">
                  <c:v>7502</c:v>
                </c:pt>
                <c:pt idx="2">
                  <c:v>7555</c:v>
                </c:pt>
                <c:pt idx="3">
                  <c:v>8130</c:v>
                </c:pt>
              </c:numCache>
            </c:numRef>
          </c:val>
        </c:ser>
        <c:gapWidth val="80"/>
        <c:overlap val="-1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検索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Sheet1!$B$2:$B$2</c:f>
              <c:numCache>
                <c:formatCode>0%</c:formatCode>
                <c:ptCount val="1"/>
                <c:pt idx="0">
                  <c:v>0.58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SNS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Sheet1!$C$2:$C$2</c:f>
              <c:numCache>
                <c:formatCode>0%</c:formatCode>
                <c:ptCount val="1"/>
                <c:pt idx="0">
                  <c:v>0.21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note 内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Sheet1!$D$2:$D$2</c:f>
              <c:numCache>
                <c:formatCode>0%</c:formatCode>
                <c:ptCount val="1"/>
                <c:pt idx="0">
                  <c:v>0.13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Sheet1!$E$2:$E$2</c:f>
              <c:numCache>
                <c:formatCode>0%</c:formatCode>
                <c:ptCount val="1"/>
                <c:pt idx="0">
                  <c:v>0.08</c:v>
                </c:pt>
              </c:numCache>
            </c:numRef>
          </c:val>
        </c:ser>
        <c:gapWidth val="60"/>
        <c:overlap val="100"/>
        <c:axId val="1001"/>
        <c:axId val="1002"/>
      </c:barChart>
      <c:catAx>
        <c:axId val="10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ax val="1"/>
          <c:min val="0"/>
        </c:scaling>
        <c:delete val="0"/>
        <c:axPos val="b"/>
        <c:numFmt formatCode="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セッション（件）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12480</c:v>
                </c:pt>
                <c:pt idx="1">
                  <c:v>13102</c:v>
                </c:pt>
                <c:pt idx="2">
                  <c:v>12955</c:v>
                </c:pt>
                <c:pt idx="3">
                  <c:v>14230</c:v>
                </c:pt>
              </c:numCache>
            </c:numRef>
          </c:val>
        </c:ser>
        <c:gapWidth val="80"/>
        <c:axId val="1001"/>
        <c:axId val="100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CVR（%）</c:v>
                </c:pt>
              </c:strCache>
            </c:strRef>
          </c:tx>
          <c:spPr>
            <a:ln w="34925" cap="rnd">
              <a:solidFill>
                <a:schemeClr val="accent6"/>
              </a:solidFill>
              <a:round/>
            </a:ln>
          </c:spPr>
          <c:marker>
            <c:symbol val="circle"/>
            <c:size val="6"/>
          </c:marker>
          <c:dLbls>
            <c:dLbl>
              <c:idx val="0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0.0%</c:formatCode>
                <c:ptCount val="4"/>
                <c:pt idx="0">
                  <c:v>0.021</c:v>
                </c:pt>
                <c:pt idx="1">
                  <c:v>0.023</c:v>
                </c:pt>
                <c:pt idx="2">
                  <c:v>0.024</c:v>
                </c:pt>
                <c:pt idx="3">
                  <c:v>0.022</c:v>
                </c:pt>
              </c:numCache>
            </c:numRef>
          </c:val>
          <c:smooth val="0"/>
        </c:ser>
        <c:marker val="1"/>
        <c:axId val="1003"/>
        <c:axId val="1004"/>
      </c:line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0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  <c:valAx>
        <c:axId val="1004"/>
        <c:scaling>
          <c:orientation val="minMax"/>
        </c:scaling>
        <c:delete val="0"/>
        <c:axPos val="l"/>
        <c:numFmt formatCode="0.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3"/>
        <c:crosses val="max"/>
        <c:crossBetween val="between"/>
        <c:majorUnit val="0.005"/>
      </c:valAx>
      <c:catAx>
        <c:axId val="100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4"/>
        <c:crosses val="autoZero"/>
        <c:auto val="1"/>
        <c:lblAlgn val="ctr"/>
        <c:lblOffset val="100"/>
      </c:cat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前年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検索</c:v>
                </c:pt>
                <c:pt idx="1">
                  <c:v>SNS</c:v>
                </c:pt>
                <c:pt idx="2">
                  <c:v>内部リンク</c:v>
                </c:pt>
                <c:pt idx="3">
                  <c:v>その他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2140</c:v>
                </c:pt>
                <c:pt idx="1">
                  <c:v>1280</c:v>
                </c:pt>
                <c:pt idx="2">
                  <c:v>640</c:v>
                </c:pt>
                <c:pt idx="3">
                  <c:v>320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今年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検索</c:v>
                </c:pt>
                <c:pt idx="1">
                  <c:v>SNS</c:v>
                </c:pt>
                <c:pt idx="2">
                  <c:v>内部リンク</c:v>
                </c:pt>
                <c:pt idx="3">
                  <c:v>その他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3480</c:v>
                </c:pt>
                <c:pt idx="1">
                  <c:v>1020</c:v>
                </c:pt>
                <c:pt idx="2">
                  <c:v>980</c:v>
                </c:pt>
                <c:pt idx="3">
                  <c:v>410</c:v>
                </c:pt>
              </c:numCache>
            </c:numRef>
          </c:val>
        </c:ser>
        <c:gapWidth val="60"/>
        <c:overlap val="-10"/>
        <c:axId val="1001"/>
        <c:axId val="1002"/>
      </c:barChart>
      <c:catAx>
        <c:axId val="100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b"/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max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7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externalData r:id="rId1" cx:autoUpdate="0"/>
    <cx:data id="0">
      <cx:strDim type="cat">
        <cx:f>Sheet1!$A$2:$A$7</cx:f>
        <cx:lvl ptCount="6">
          <cx:pt idx="0">8月</cx:pt>
          <cx:pt idx="1">検索</cx:pt>
          <cx:pt idx="2">その他</cx:pt>
          <cx:pt idx="3">内部リンク</cx:pt>
          <cx:pt idx="4">SNS</cx:pt>
          <cx:pt idx="5">9月</cx:pt>
        </cx:lvl>
      </cx:strDim>
      <cx:numDim type="val">
        <cx:f>Sheet1!$B$2:$B$7</cx:f>
        <cx:lvl ptCount="6" formatCode="#,##0">
          <cx:pt idx="0">12480</cx:pt>
          <cx:pt idx="1">1340</cx:pt>
          <cx:pt idx="2">690</cx:pt>
          <cx:pt idx="3">340</cx:pt>
          <cx:pt idx="4">-620</cx:pt>
          <cx:pt idx="5">14230</cx:pt>
        </cx:lvl>
      </cx:numDim>
    </cx:data>
  </cx:chartData>
  <cx:chart>
    <cx:plotArea>
      <cx:plotAreaRegion>
        <cx:series layoutId="waterfall" uniqueId="{00000000-1111-2222-3333-444444444444}">
          <cx:tx>
            <cx:txData>
              <cx:f>Sheet1!$B$1</cx:f>
              <cx:v>増減</cx:v>
            </cx:txData>
          </cx:tx>
          <cx:dataLabels pos="outEnd">
            <cx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</a:p>
            </cx:txPr>
            <cx:visibility seriesName="0" categoryName="0" value="1"/>
          </cx:dataLabels>
          <cx:dataId val="0"/>
          <cx:layoutPr>
            <cx:subtotals>
              <cx:idx val="0"/>
              <cx:idx val="5"/>
            </cx:subtotals>
          </cx:layoutPr>
        </cx:series>
      </cx:plotAreaRegion>
      <cx:axis id="0">
        <cx:catScaling gapWidth="0.5"/>
        <cx:tickLabels/>
        <cx:txPr>
          <a:bodyPr/>
          <a:lstStyle/>
          <a:p>
            <a:pPr>
              <a:defRPr sz="1100">
                <a:solidFill>
                  <a:schemeClr val="tx1"/>
                </a:solidFill>
                <a:latin typeface="+mn-lt"/>
                <a:ea typeface="+mn-ea"/>
              </a:defRPr>
            </a:pPr>
          </a:p>
        </cx:txPr>
      </cx:axis>
      <cx:axis id="1">
        <cx:valScaling/>
        <cx:majorGridlines/>
        <cx:tickLabels/>
        <cx:txPr>
          <a:bodyPr/>
          <a:lstStyle/>
          <a:p>
            <a:pPr>
              <a:defRPr sz="1100">
                <a:solidFill>
                  <a:schemeClr val="tx1"/>
                </a:solidFill>
                <a:latin typeface="+mn-lt"/>
                <a:ea typeface="+mn-ea"/>
              </a:defRPr>
            </a:pPr>
          </a:p>
        </cx:txPr>
      </cx:axis>
    </cx:plotArea>
  </cx:chart>
  <cx:spPr>
    <a:noFill/>
    <a:ln>
      <a:noFill/>
    </a:ln>
  </cx:spPr>
</cx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土台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0</c:v>
                </c:pt>
                <c:pt idx="1">
                  <c:v>12480</c:v>
                </c:pt>
                <c:pt idx="2">
                  <c:v>13820</c:v>
                </c:pt>
                <c:pt idx="3">
                  <c:v>14510</c:v>
                </c:pt>
                <c:pt idx="4">
                  <c:v>14230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増加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Sheet1!$C$2:$C$7</c:f>
              <c:numCache>
                <c:formatCode>#,##0</c:formatCode>
                <c:ptCount val="6"/>
                <c:pt idx="1">
                  <c:v>1340</c:v>
                </c:pt>
                <c:pt idx="2">
                  <c:v>690</c:v>
                </c:pt>
                <c:pt idx="3">
                  <c:v>340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減少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Sheet1!$D$2:$D$7</c:f>
              <c:numCache>
                <c:formatCode>#,##0</c:formatCode>
                <c:ptCount val="6"/>
                <c:pt idx="4">
                  <c:v>620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合計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Sheet1!$E$2:$E$7</c:f>
              <c:numCache>
                <c:formatCode>#,##0</c:formatCode>
                <c:ptCount val="6"/>
                <c:pt idx="0">
                  <c:v>12480</c:v>
                </c:pt>
                <c:pt idx="5">
                  <c:v>14230</c:v>
                </c:pt>
              </c:numCache>
            </c:numRef>
          </c:val>
        </c:ser>
        <c:gapWidth val="60"/>
        <c:overlap val="10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1100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3"/>
  <a:schemeClr val="tx1"/>
  <a:schemeClr val="accent4"/>
  <a:schemeClr val="accent5"/>
  <a:schemeClr val="accent2"/>
  <cs:variation/>
  <cs:variation>
    <a:lumMod val="60000"/>
  </cs:variation>
  <cs:variation>
    <a:lumMod val="80000"/>
    <a:lumOff val="20000"/>
  </cs:variation>
</cs:color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/>
    </cs:fontRef>
    <cs:defRPr/>
  </cs:axisTitle>
  <cs:categoryAxis>
    <cs:lnRef idx="0"/>
    <cs:fillRef idx="0"/>
    <cs:effectRef idx="0"/>
    <cs:fontRef idx="minor">
      <a:schemeClr val="tx1"/>
    </cs:fontRef>
    <cs:defRPr/>
  </cs:categoryAxis>
  <cs:chartArea>
    <cs:lnRef idx="0"/>
    <cs:fillRef idx="0"/>
    <cs:effectRef idx="0"/>
    <cs:fontRef idx="minor">
      <a:schemeClr val="tx1"/>
    </cs:fontRef>
  </cs:chartArea>
  <cs:dataLabel>
    <cs:lnRef idx="0"/>
    <cs:fillRef idx="0"/>
    <cs:effectRef idx="0"/>
    <cs:fontRef idx="minor">
      <a:schemeClr val="tx1"/>
    </cs:fontRef>
    <cs:defRPr/>
  </cs:dataLabel>
  <cs:dataLabelCallout>
    <cs:lnRef idx="0"/>
    <cs:fillRef idx="0"/>
    <cs:effectRef idx="0"/>
    <cs:fontRef idx="minor">
      <a:schemeClr val="tx1"/>
    </cs:fontRef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/>
    <cs:fillRef idx="1">
      <cs:styleClr val="auto"/>
    </cs:fillRef>
    <cs:effectRef idx="0"/>
    <cs:fontRef idx="minor">
      <a:schemeClr val="tx1"/>
    </cs:fontRef>
  </cs:dataPointLine>
  <cs:dataPointMarker>
    <cs:lnRef idx="0"/>
    <cs:fillRef idx="1">
      <cs:styleClr val="auto"/>
    </cs:fillRef>
    <cs:effectRef idx="0"/>
    <cs:fontRef idx="minor">
      <a:schemeClr val="tx1"/>
    </cs:fontRef>
  </cs:dataPointMarker>
  <cs:dataPointWireframe>
    <cs:lnRef idx="0"/>
    <cs:fillRef idx="1">
      <cs:styleClr val="auto"/>
    </cs:fillRef>
    <cs:effectRef idx="0"/>
    <cs:fontRef idx="minor">
      <a:schemeClr val="tx1"/>
    </cs:fontRef>
  </cs:dataPointWireframe>
  <cs:dataTable>
    <cs:lnRef idx="0"/>
    <cs:fillRef idx="0"/>
    <cs:effectRef idx="0"/>
    <cs:fontRef idx="minor">
      <a:schemeClr val="tx1"/>
    </cs:fontRef>
    <cs:defRPr/>
  </cs:dataTable>
  <cs:downBar>
    <cs:lnRef idx="0"/>
    <cs:fillRef idx="0"/>
    <cs:effectRef idx="0"/>
    <cs:fontRef idx="minor">
      <a:schemeClr val="tx1"/>
    </cs:fontRef>
  </cs:downBar>
  <cs:dropLine>
    <cs:lnRef idx="0"/>
    <cs:fillRef idx="0"/>
    <cs:effectRef idx="0"/>
    <cs:fontRef idx="minor">
      <a:schemeClr val="tx1"/>
    </cs:fontRef>
  </cs:dropLine>
  <cs:errorBar>
    <cs:lnRef idx="0"/>
    <cs:fillRef idx="0"/>
    <cs:effectRef idx="0"/>
    <cs:fontRef idx="minor">
      <a:schemeClr val="tx1"/>
    </cs:fontRef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</cs:gridlineMajor>
  <cs:gridlineMinor>
    <cs:lnRef idx="0"/>
    <cs:fillRef idx="0"/>
    <cs:effectRef idx="0"/>
    <cs:fontRef idx="minor">
      <a:schemeClr val="tx1"/>
    </cs:fontRef>
  </cs:gridlineMinor>
  <cs:hiLoLine>
    <cs:lnRef idx="0"/>
    <cs:fillRef idx="0"/>
    <cs:effectRef idx="0"/>
    <cs:fontRef idx="minor">
      <a:schemeClr val="tx1"/>
    </cs:fontRef>
  </cs:hiLoLine>
  <cs:leaderLine>
    <cs:lnRef idx="0"/>
    <cs:fillRef idx="0"/>
    <cs:effectRef idx="0"/>
    <cs:fontRef idx="minor">
      <a:schemeClr val="tx1"/>
    </cs:fontRef>
  </cs:leaderLine>
  <cs:legend>
    <cs:lnRef idx="0"/>
    <cs:fillRef idx="0"/>
    <cs:effectRef idx="0"/>
    <cs:fontRef idx="minor">
      <a:schemeClr val="tx1"/>
    </cs:fontRef>
    <cs:defRPr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/>
    </cs:fontRef>
    <cs:defRPr/>
  </cs:seriesAxis>
  <cs:seriesLine>
    <cs:lnRef idx="0"/>
    <cs:fillRef idx="0"/>
    <cs:effectRef idx="0"/>
    <cs:fontRef idx="minor">
      <a:schemeClr val="tx1"/>
    </cs:fontRef>
  </cs:seriesLine>
  <cs:title>
    <cs:lnRef idx="0"/>
    <cs:fillRef idx="0"/>
    <cs:effectRef idx="0"/>
    <cs:fontRef idx="minor">
      <a:schemeClr val="tx1"/>
    </cs:fontRef>
    <cs:defRPr/>
  </cs:title>
  <cs:trendline>
    <cs:lnRef idx="0"/>
    <cs:fillRef idx="0"/>
    <cs:effectRef idx="0"/>
    <cs:fontRef idx="minor">
      <a:schemeClr val="tx1"/>
    </cs:fontRef>
  </cs:trendline>
  <cs:trendlineLabel>
    <cs:lnRef idx="0"/>
    <cs:fillRef idx="0"/>
    <cs:effectRef idx="0"/>
    <cs:fontRef idx="minor">
      <a:schemeClr val="tx1"/>
    </cs:fontRef>
    <cs:defRPr/>
  </cs:trendlineLabel>
  <cs:upBar>
    <cs:lnRef idx="0"/>
    <cs:fillRef idx="0"/>
    <cs:effectRef idx="0"/>
    <cs:fontRef idx="minor">
      <a:schemeClr val="tx1"/>
    </cs:fontRef>
  </cs:upBar>
  <cs:valueAxis>
    <cs:lnRef idx="0"/>
    <cs:fillRef idx="0"/>
    <cs:effectRef idx="0"/>
    <cs:fontRef idx="minor">
      <a:schemeClr val="tx1"/>
    </cs:fontRef>
    <cs:defRPr/>
  </cs:valueAxis>
  <cs:wall>
    <cs:lnRef idx="0"/>
    <cs:fillRef idx="0"/>
    <cs:effectRef idx="0"/>
    <cs:fontRef idx="minor">
      <a:schemeClr val="tx1"/>
    </cs:fontRef>
  </cs:wall>
  <cs:dataPointMarkerLayout symbol="circle" size="5"/>
</cs:chartStyl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347028" h="457200">
                <a:moveTo>
                  <a:pt x="8333" y="32378"/>
                </a:moveTo>
                <a:lnTo>
                  <a:pt x="8333" y="115676"/>
                </a:lnTo>
                <a:lnTo>
                  <a:pt x="49982" y="139724"/>
                </a:lnTo>
                <a:lnTo>
                  <a:pt x="49982" y="115676"/>
                </a:lnTo>
                <a:lnTo>
                  <a:pt x="49982" y="74027"/>
                </a:lnTo>
                <a:lnTo>
                  <a:pt x="194263" y="157325"/>
                </a:lnTo>
                <a:lnTo>
                  <a:pt x="122118" y="198974"/>
                </a:lnTo>
                <a:lnTo>
                  <a:pt x="124951" y="198974"/>
                </a:lnTo>
                <a:lnTo>
                  <a:pt x="269232" y="282273"/>
                </a:lnTo>
                <a:lnTo>
                  <a:pt x="197087" y="323922"/>
                </a:lnTo>
                <a:lnTo>
                  <a:pt x="266558" y="323922"/>
                </a:lnTo>
                <a:lnTo>
                  <a:pt x="338694" y="282273"/>
                </a:lnTo>
                <a:lnTo>
                  <a:pt x="194421" y="198974"/>
                </a:lnTo>
                <a:lnTo>
                  <a:pt x="266558" y="157325"/>
                </a:lnTo>
                <a:lnTo>
                  <a:pt x="266400" y="157325"/>
                </a:lnTo>
                <a:lnTo>
                  <a:pt x="122118" y="74027"/>
                </a:lnTo>
                <a:lnTo>
                  <a:pt x="49982" y="32378"/>
                </a:lnTo>
                <a:lnTo>
                  <a:pt x="8333" y="8329"/>
                </a:lnTo>
                <a:close/>
                <a:moveTo>
                  <a:pt x="91631" y="323922"/>
                </a:moveTo>
                <a:lnTo>
                  <a:pt x="133280" y="323922"/>
                </a:lnTo>
                <a:lnTo>
                  <a:pt x="144442" y="323922"/>
                </a:lnTo>
                <a:lnTo>
                  <a:pt x="216579" y="282273"/>
                </a:lnTo>
                <a:lnTo>
                  <a:pt x="133280" y="282273"/>
                </a:lnTo>
                <a:lnTo>
                  <a:pt x="133280" y="240624"/>
                </a:lnTo>
                <a:lnTo>
                  <a:pt x="91631" y="216575"/>
                </a:lnTo>
                <a:close/>
                <a:moveTo>
                  <a:pt x="49982" y="181373"/>
                </a:moveTo>
                <a:lnTo>
                  <a:pt x="8333" y="157325"/>
                </a:lnTo>
                <a:lnTo>
                  <a:pt x="8333" y="365571"/>
                </a:lnTo>
                <a:lnTo>
                  <a:pt x="8333" y="407220"/>
                </a:lnTo>
                <a:lnTo>
                  <a:pt x="8333" y="448870"/>
                </a:lnTo>
                <a:lnTo>
                  <a:pt x="150881" y="448870"/>
                </a:lnTo>
                <a:lnTo>
                  <a:pt x="174930" y="407220"/>
                </a:lnTo>
                <a:lnTo>
                  <a:pt x="49982" y="407220"/>
                </a:lnTo>
                <a:lnTo>
                  <a:pt x="49982" y="365571"/>
                </a:lnTo>
                <a:close/>
                <a:moveTo>
                  <a:pt x="192531" y="448870"/>
                </a:moveTo>
                <a:lnTo>
                  <a:pt x="216579" y="407220"/>
                </a:lnTo>
                <a:lnTo>
                  <a:pt x="191589" y="407220"/>
                </a:lnTo>
                <a:lnTo>
                  <a:pt x="167541" y="4488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microsoft.com/office/2014/relationships/chartEx" Target="../charts/char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週次セッション（流入経路別）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data1（横の report_charts.xlsx が正）</a:t>
            </a:r>
          </a:p>
        </p:txBody>
      </p:sp>
      <p:graphicFrame>
        <p:nvGraphicFramePr>
          <p:cNvPr id="2" name="graph1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ROAS（チャネル別）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data2（横の report_charts.xlsx が正）</a:t>
            </a:r>
          </a:p>
        </p:txBody>
      </p:sp>
      <p:graphicFrame>
        <p:nvGraphicFramePr>
          <p:cNvPr id="2" name="graph2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週次セッション（W38 の広告経由だけ強調）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data3（横の report_charts.xlsx が正）</a:t>
            </a:r>
          </a:p>
        </p:txBody>
      </p:sp>
      <p:graphicFrame>
        <p:nvGraphicFramePr>
          <p:cNvPr id="2" name="graph3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流入元の構成比（2026/09）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data4（横の report_charts.xlsx が正）</a:t>
            </a:r>
          </a:p>
        </p:txBody>
      </p:sp>
      <p:graphicFrame>
        <p:nvGraphicFramePr>
          <p:cNvPr id="2" name="graph4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セッションと CVR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data5（横の report_charts.xlsx が正）</a:t>
            </a:r>
          </a:p>
        </p:txBody>
      </p:sp>
      <p:graphicFrame>
        <p:nvGraphicFramePr>
          <p:cNvPr id="2" name="graph5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流入経路の前年との差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data7（横の report_charts.xlsx が正）</a:t>
            </a:r>
          </a:p>
        </p:txBody>
      </p:sp>
      <p:graphicFrame>
        <p:nvGraphicFramePr>
          <p:cNvPr id="2" name="graph7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セッションの増減内訳（Excel 純正のウォーターフォール）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data8（横の report_charts.xlsx が正）</a:t>
            </a:r>
          </a:p>
        </p:txBody>
      </p:sp>
      <p:graphicFrame>
        <p:nvGraphicFramePr>
          <p:cNvPr id="2" name="graph8"/>
          <p:cNvGraphicFramePr/>
          <p:nvPr/>
        </p:nvGraphicFramePr>
        <p:xfrm>
          <a:off x="457200" y="1828800"/>
          <a:ext cx="8229600" cy="2857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セッションの増減内訳（8月→9月）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data6（横の report_charts.xlsx が正）</a:t>
            </a:r>
          </a:p>
        </p:txBody>
      </p:sp>
      <p:graphicFrame>
        <p:nvGraphicFramePr>
          <p:cNvPr id="2" name="graph6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