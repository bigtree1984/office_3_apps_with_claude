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fntdata" ContentType="application/x-fontdata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5143500"/>
  <p:notesSz cx="6858000" cy="9144000"/>
  <p:defaultTextStyle>
    <a:defPPr>
      <a:defRPr lang="ja-JP"/>
    </a:defPPr>
    <a:lvl1pPr>
      <a:defRPr sz="1400">
        <a:solidFill>
          <a:schemeClr val="tx1"/>
        </a:solidFill>
        <a:latin typeface="+mn-lt"/>
        <a:ea typeface="+mn-ea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E5B4C3A-2D1F-4A8B-9C7D-0E1F2A3B4C5D}">
  <a:tblStyle styleId="{6E5B4C3A-2D1F-4A8B-9C7D-0E1F2A3B4C5D}" styleName="Bigtree Lab 表">
    <a:wholeTb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ap="flat" cmpd="sng" algn="ctr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  <a:tcTxStyle b="off">
        <a:fontRef idx="minor">
          <a:schemeClr val="tx1"/>
        </a:fontRef>
        <a:schemeClr val="tx1"/>
      </a:tcTxStyle>
    </a:wholeTbl>
    <a:band2H>
      <a:tcStyle>
        <a:tcBdr/>
        <a:fill>
          <a:solidFill>
            <a:schemeClr val="tx1">
              <a:alpha val="8000"/>
            </a:schemeClr>
          </a:solidFill>
        </a:fill>
      </a:tcStyle>
    </a:band2H>
    <a:firstRow>
      <a:tcTxStyle b="on">
        <a:fontRef idx="minor">
          <a:schemeClr val="bg1"/>
        </a:fontRef>
        <a:schemeClr val="bg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12700" cap="flat" cmpd="sng" algn="ctr">
              <a:solidFill>
                <a:schemeClr val="accent1"/>
              </a:solidFill>
            </a:ln>
          </a:bottom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  <a:firstCol>
      <a:tcTxStyle b="on">
        <a:fontRef idx="minor">
          <a:schemeClr val="tx1"/>
        </a:fontRef>
        <a:schemeClr val="tx1"/>
      </a:tcTxStyle>
      <a:tcStyle>
        <a:tcBdr/>
        <a:fill>
          <a:noFill/>
        </a:fill>
      </a:tcStyle>
    </a:firstCo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01_表紙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eyVisual" descr="メタセコイアを見上げた写真（キービジュアル）"/>
          <p:cNvPicPr>
            <a:picLocks noChangeAspect="1"/>
          </p:cNvPicPr>
          <p:nvPr userDrawn="1"/>
        </p:nvPicPr>
        <p:blipFill>
          <a:blip r:embed="rId2"/>
          <a:srcRect l="34640" t="0" r="23192" b="0"/>
          <a:stretch>
            <a:fillRect/>
          </a:stretch>
        </p:blipFill>
        <p:spPr>
          <a:xfrm>
            <a:off x="5348478" y="0"/>
            <a:ext cx="3795522" cy="5143500"/>
          </a:xfrm>
          <a:custGeom>
            <a:avLst/>
            <a:gdLst/>
            <a:ahLst/>
            <a:cxnLst/>
            <a:rect l="0" t="0" r="r" b="b"/>
            <a:pathLst>
              <a:path w="3795522" h="5143500">
                <a:moveTo>
                  <a:pt x="500494" y="-310343"/>
                </a:moveTo>
                <a:cubicBezTo>
                  <a:pt x="492538" y="-292316"/>
                  <a:pt x="329305" y="-79914"/>
                  <a:pt x="178041" y="147943"/>
                </a:cubicBezTo>
                <a:cubicBezTo>
                  <a:pt x="122511" y="231591"/>
                  <a:pt x="56299" y="442310"/>
                  <a:pt x="29477" y="594475"/>
                </a:cubicBezTo>
                <a:cubicBezTo>
                  <a:pt x="0" y="761695"/>
                  <a:pt x="18066" y="963308"/>
                  <a:pt x="21863" y="1088263"/>
                </a:cubicBezTo>
                <a:cubicBezTo>
                  <a:pt x="25273" y="1200411"/>
                  <a:pt x="89052" y="1334973"/>
                  <a:pt x="179902" y="1474750"/>
                </a:cubicBezTo>
                <a:cubicBezTo>
                  <a:pt x="221844" y="1539272"/>
                  <a:pt x="214008" y="1601972"/>
                  <a:pt x="221920" y="1713649"/>
                </a:cubicBezTo>
                <a:cubicBezTo>
                  <a:pt x="233255" y="1873720"/>
                  <a:pt x="305308" y="1965186"/>
                  <a:pt x="353835" y="2039201"/>
                </a:cubicBezTo>
                <a:cubicBezTo>
                  <a:pt x="463156" y="2205939"/>
                  <a:pt x="537394" y="2248853"/>
                  <a:pt x="563213" y="2310352"/>
                </a:cubicBezTo>
                <a:cubicBezTo>
                  <a:pt x="594322" y="2384457"/>
                  <a:pt x="579634" y="2523973"/>
                  <a:pt x="645916" y="2781542"/>
                </a:cubicBezTo>
                <a:cubicBezTo>
                  <a:pt x="683273" y="2926696"/>
                  <a:pt x="775322" y="3024384"/>
                  <a:pt x="838270" y="3071597"/>
                </a:cubicBezTo>
                <a:cubicBezTo>
                  <a:pt x="864432" y="3091218"/>
                  <a:pt x="872846" y="3138062"/>
                  <a:pt x="871474" y="3196558"/>
                </a:cubicBezTo>
                <a:cubicBezTo>
                  <a:pt x="869455" y="3282842"/>
                  <a:pt x="751110" y="3321120"/>
                  <a:pt x="680961" y="3340386"/>
                </a:cubicBezTo>
                <a:cubicBezTo>
                  <a:pt x="624097" y="3356007"/>
                  <a:pt x="580828" y="3417316"/>
                  <a:pt x="541007" y="3470663"/>
                </a:cubicBezTo>
                <a:cubicBezTo>
                  <a:pt x="439617" y="3606483"/>
                  <a:pt x="539864" y="3976783"/>
                  <a:pt x="571100" y="4069036"/>
                </a:cubicBezTo>
                <a:cubicBezTo>
                  <a:pt x="606660" y="4174039"/>
                  <a:pt x="617677" y="4246645"/>
                  <a:pt x="629685" y="4302087"/>
                </a:cubicBezTo>
                <a:cubicBezTo>
                  <a:pt x="641191" y="4355211"/>
                  <a:pt x="714731" y="4367905"/>
                  <a:pt x="760000" y="4405332"/>
                </a:cubicBezTo>
                <a:cubicBezTo>
                  <a:pt x="783222" y="4424528"/>
                  <a:pt x="787667" y="4458468"/>
                  <a:pt x="790778" y="4566444"/>
                </a:cubicBezTo>
                <a:cubicBezTo>
                  <a:pt x="798316" y="4828184"/>
                  <a:pt x="788105" y="5019624"/>
                  <a:pt x="773278" y="5074387"/>
                </a:cubicBezTo>
                <a:cubicBezTo>
                  <a:pt x="725348" y="5251419"/>
                  <a:pt x="673710" y="5305902"/>
                  <a:pt x="627082" y="5348986"/>
                </a:cubicBezTo>
                <a:cubicBezTo>
                  <a:pt x="602107" y="5367255"/>
                  <a:pt x="575653" y="5379231"/>
                  <a:pt x="549123" y="5378939"/>
                </a:cubicBezTo>
                <a:cubicBezTo>
                  <a:pt x="536226" y="5375415"/>
                  <a:pt x="524491" y="5365058"/>
                  <a:pt x="512401" y="5354378"/>
                </a:cubicBezTo>
                <a:lnTo>
                  <a:pt x="512401" y="5354320"/>
                </a:lnTo>
                <a:lnTo>
                  <a:pt x="3795522" y="5354320"/>
                </a:lnTo>
                <a:lnTo>
                  <a:pt x="3795522" y="-310346"/>
                </a:lnTo>
                <a:lnTo>
                  <a:pt x="500494" y="-310346"/>
                </a:lnTo>
                <a:close/>
              </a:path>
            </a:pathLst>
          </a:custGeom>
        </p:spPr>
      </p:pic>
      <p:sp>
        <p:nvSpPr>
          <p:cNvPr id="3" name="Logo" descr="Bigtree Lab ロゴ"/>
          <p:cNvSpPr/>
          <p:nvPr userDrawn="1"/>
        </p:nvSpPr>
        <p:spPr>
          <a:xfrm>
            <a:off x="457200" y="457200"/>
            <a:ext cx="347028" cy="457200"/>
          </a:xfrm>
          <a:custGeom>
            <a:avLst/>
            <a:gdLst/>
            <a:ahLst/>
            <a:cxnLst/>
            <a:rect l="0" t="0" r="r" b="b"/>
            <a:pathLst>
              <a:path w="347028" h="457200">
                <a:moveTo>
                  <a:pt x="8333" y="32378"/>
                </a:moveTo>
                <a:lnTo>
                  <a:pt x="8333" y="115676"/>
                </a:lnTo>
                <a:lnTo>
                  <a:pt x="49982" y="139724"/>
                </a:lnTo>
                <a:lnTo>
                  <a:pt x="49982" y="115676"/>
                </a:lnTo>
                <a:lnTo>
                  <a:pt x="49982" y="74027"/>
                </a:lnTo>
                <a:lnTo>
                  <a:pt x="194263" y="157325"/>
                </a:lnTo>
                <a:lnTo>
                  <a:pt x="122118" y="198974"/>
                </a:lnTo>
                <a:lnTo>
                  <a:pt x="124951" y="198974"/>
                </a:lnTo>
                <a:lnTo>
                  <a:pt x="269232" y="282273"/>
                </a:lnTo>
                <a:lnTo>
                  <a:pt x="197087" y="323922"/>
                </a:lnTo>
                <a:lnTo>
                  <a:pt x="266558" y="323922"/>
                </a:lnTo>
                <a:lnTo>
                  <a:pt x="338694" y="282273"/>
                </a:lnTo>
                <a:lnTo>
                  <a:pt x="194421" y="198974"/>
                </a:lnTo>
                <a:lnTo>
                  <a:pt x="266558" y="157325"/>
                </a:lnTo>
                <a:lnTo>
                  <a:pt x="266400" y="157325"/>
                </a:lnTo>
                <a:lnTo>
                  <a:pt x="122118" y="74027"/>
                </a:lnTo>
                <a:lnTo>
                  <a:pt x="49982" y="32378"/>
                </a:lnTo>
                <a:lnTo>
                  <a:pt x="8333" y="8329"/>
                </a:lnTo>
                <a:close/>
                <a:moveTo>
                  <a:pt x="91631" y="323922"/>
                </a:moveTo>
                <a:lnTo>
                  <a:pt x="133280" y="323922"/>
                </a:lnTo>
                <a:lnTo>
                  <a:pt x="144442" y="323922"/>
                </a:lnTo>
                <a:lnTo>
                  <a:pt x="216579" y="282273"/>
                </a:lnTo>
                <a:lnTo>
                  <a:pt x="133280" y="282273"/>
                </a:lnTo>
                <a:lnTo>
                  <a:pt x="133280" y="240624"/>
                </a:lnTo>
                <a:lnTo>
                  <a:pt x="91631" y="216575"/>
                </a:lnTo>
                <a:close/>
                <a:moveTo>
                  <a:pt x="49982" y="181373"/>
                </a:moveTo>
                <a:lnTo>
                  <a:pt x="8333" y="157325"/>
                </a:lnTo>
                <a:lnTo>
                  <a:pt x="8333" y="365571"/>
                </a:lnTo>
                <a:lnTo>
                  <a:pt x="8333" y="407220"/>
                </a:lnTo>
                <a:lnTo>
                  <a:pt x="8333" y="448870"/>
                </a:lnTo>
                <a:lnTo>
                  <a:pt x="150881" y="448870"/>
                </a:lnTo>
                <a:lnTo>
                  <a:pt x="174930" y="407220"/>
                </a:lnTo>
                <a:lnTo>
                  <a:pt x="49982" y="407220"/>
                </a:lnTo>
                <a:lnTo>
                  <a:pt x="49982" y="365571"/>
                </a:lnTo>
                <a:close/>
                <a:moveTo>
                  <a:pt x="192531" y="448870"/>
                </a:moveTo>
                <a:lnTo>
                  <a:pt x="216579" y="407220"/>
                </a:lnTo>
                <a:lnTo>
                  <a:pt x="191589" y="407220"/>
                </a:lnTo>
                <a:lnTo>
                  <a:pt x="167541" y="44887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4" name="Classification"/>
          <p:cNvSpPr>
            <a:spLocks noGrp="1"/>
          </p:cNvSpPr>
          <p:nvPr>
            <p:ph type="body" idx="15" sz="quarter" hasCustomPrompt="1"/>
          </p:nvPr>
        </p:nvSpPr>
        <p:spPr>
          <a:xfrm>
            <a:off x="457200" y="1409700"/>
            <a:ext cx="1409700" cy="273050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tx2"/>
            </a:solidFill>
          </a:ln>
        </p:spPr>
        <p:txBody>
          <a:bodyPr wrap="none" lIns="101600" tIns="25400" rIns="101600" bIns="25400" anchor="ctr">
            <a:spAutoFit/>
          </a:bodyPr>
          <a:lstStyle>
            <a:lvl1pPr marL="0" indent="0" algn="l">
              <a:lnSpc>
                <a:spcPts val="1540"/>
              </a:lnSpc>
              <a:spcBef>
                <a:spcPts val="0"/>
              </a:spcBef>
              <a:buNone/>
              <a:defRPr sz="11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公開用 ｜ ドラフト</a:t>
            </a:r>
          </a:p>
        </p:txBody>
      </p:sp>
      <p:sp>
        <p:nvSpPr>
          <p:cNvPr id="5" name="Recipient"/>
          <p:cNvSpPr>
            <a:spLocks noGrp="1"/>
          </p:cNvSpPr>
          <p:nvPr>
            <p:ph type="body" idx="13" sz="quarter" hasCustomPrompt="1"/>
          </p:nvPr>
        </p:nvSpPr>
        <p:spPr>
          <a:xfrm>
            <a:off x="457200" y="1841500"/>
            <a:ext cx="4445000" cy="2476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196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だいきの試作室　読者のみなさまへ</a:t>
            </a:r>
          </a:p>
        </p:txBody>
      </p:sp>
      <p:sp>
        <p:nvSpPr>
          <p:cNvPr id="6" name="Title"/>
          <p:cNvSpPr>
            <a:spLocks noGrp="1"/>
          </p:cNvSpPr>
          <p:nvPr>
            <p:ph type="ctrTitle" hasCustomPrompt="1"/>
          </p:nvPr>
        </p:nvSpPr>
        <p:spPr>
          <a:xfrm>
            <a:off x="457200" y="2235200"/>
            <a:ext cx="4445000" cy="95250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374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note トラフィック</a:t>
            </a:r>
          </a:p>
          <a:p>
            <a:r>
              <a:rPr lang="ja-JP"/>
              <a:t>レポート</a:t>
            </a:r>
          </a:p>
        </p:txBody>
      </p:sp>
      <p:sp>
        <p:nvSpPr>
          <p:cNvPr id="7" name="Decor_Line"/>
          <p:cNvSpPr/>
          <p:nvPr userDrawn="1"/>
        </p:nvSpPr>
        <p:spPr>
          <a:xfrm>
            <a:off x="457200" y="3340100"/>
            <a:ext cx="609600" cy="38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8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457200" y="3568700"/>
            <a:ext cx="4445000" cy="2984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234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2026年9月の読まれ方と次の一手</a:t>
            </a:r>
          </a:p>
        </p:txBody>
      </p:sp>
      <p:sp>
        <p:nvSpPr>
          <p:cNvPr id="9" name="Meta"/>
          <p:cNvSpPr>
            <a:spLocks noGrp="1"/>
          </p:cNvSpPr>
          <p:nvPr>
            <p:ph type="body" idx="14" sz="quarter" hasCustomPrompt="1"/>
          </p:nvPr>
        </p:nvSpPr>
        <p:spPr>
          <a:xfrm>
            <a:off x="457200" y="4381500"/>
            <a:ext cx="3556000" cy="1968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1540"/>
              </a:lnSpc>
              <a:spcBef>
                <a:spcPts val="0"/>
              </a:spcBef>
              <a:buNone/>
              <a:defRPr sz="11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2026-09-18 ｜ Bigtree Lab ｜ だいき君</a:t>
            </a:r>
          </a:p>
        </p:txBody>
      </p:sp>
      <p:sp>
        <p:nvSpPr>
          <p:cNvPr id="10" name="Copyright"/>
          <p:cNvSpPr txBox="1"/>
          <p:nvPr userDrawn="1"/>
        </p:nvSpPr>
        <p:spPr>
          <a:xfrm>
            <a:off x="457200" y="4699000"/>
            <a:ext cx="25400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en-US"/>
              <a:t>© 2026 Bigtree Lab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720" userDrawn="1">
          <p15:clr>
            <a:srgbClr val="FBAE40"/>
          </p15:clr>
        </p15:guide>
        <p15:guide id="2" orient="horz" pos="297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02_扉_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 descr="Bigtree Lab ロゴ"/>
          <p:cNvSpPr/>
          <p:nvPr userDrawn="1"/>
        </p:nvSpPr>
        <p:spPr>
          <a:xfrm>
            <a:off x="5411216" y="514350"/>
            <a:ext cx="3123184" cy="4114800"/>
          </a:xfrm>
          <a:custGeom>
            <a:avLst/>
            <a:gdLst/>
            <a:ahLst/>
            <a:cxnLst/>
            <a:rect l="0" t="0" r="r" b="b"/>
            <a:pathLst>
              <a:path w="3123184" h="4114800">
                <a:moveTo>
                  <a:pt x="74968" y="291406"/>
                </a:moveTo>
                <a:lnTo>
                  <a:pt x="74968" y="1041090"/>
                </a:lnTo>
                <a:lnTo>
                  <a:pt x="449810" y="1257524"/>
                </a:lnTo>
                <a:lnTo>
                  <a:pt x="449810" y="1041090"/>
                </a:lnTo>
                <a:lnTo>
                  <a:pt x="449810" y="666248"/>
                </a:lnTo>
                <a:lnTo>
                  <a:pt x="1748338" y="1415932"/>
                </a:lnTo>
                <a:lnTo>
                  <a:pt x="1099036" y="1790774"/>
                </a:lnTo>
                <a:lnTo>
                  <a:pt x="1124526" y="1790774"/>
                </a:lnTo>
                <a:lnTo>
                  <a:pt x="2423054" y="2540458"/>
                </a:lnTo>
                <a:lnTo>
                  <a:pt x="1773752" y="2915301"/>
                </a:lnTo>
                <a:lnTo>
                  <a:pt x="2398989" y="2915301"/>
                </a:lnTo>
                <a:lnTo>
                  <a:pt x="3048215" y="2540458"/>
                </a:lnTo>
                <a:lnTo>
                  <a:pt x="1749762" y="1790774"/>
                </a:lnTo>
                <a:lnTo>
                  <a:pt x="2398989" y="1415932"/>
                </a:lnTo>
                <a:lnTo>
                  <a:pt x="2397564" y="1415932"/>
                </a:lnTo>
                <a:lnTo>
                  <a:pt x="1099036" y="666248"/>
                </a:lnTo>
                <a:lnTo>
                  <a:pt x="449810" y="291406"/>
                </a:lnTo>
                <a:lnTo>
                  <a:pt x="74968" y="74972"/>
                </a:lnTo>
                <a:close/>
                <a:moveTo>
                  <a:pt x="824652" y="2915301"/>
                </a:moveTo>
                <a:lnTo>
                  <a:pt x="1199494" y="2915301"/>
                </a:lnTo>
                <a:lnTo>
                  <a:pt x="1299952" y="2915301"/>
                </a:lnTo>
                <a:lnTo>
                  <a:pt x="1949178" y="2540458"/>
                </a:lnTo>
                <a:lnTo>
                  <a:pt x="1199494" y="2540458"/>
                </a:lnTo>
                <a:lnTo>
                  <a:pt x="1199494" y="2165616"/>
                </a:lnTo>
                <a:lnTo>
                  <a:pt x="824652" y="1949183"/>
                </a:lnTo>
                <a:close/>
                <a:moveTo>
                  <a:pt x="449810" y="1632366"/>
                </a:moveTo>
                <a:lnTo>
                  <a:pt x="74968" y="1415932"/>
                </a:lnTo>
                <a:lnTo>
                  <a:pt x="74968" y="3290143"/>
                </a:lnTo>
                <a:lnTo>
                  <a:pt x="74968" y="3664985"/>
                </a:lnTo>
                <a:lnTo>
                  <a:pt x="74968" y="4039827"/>
                </a:lnTo>
                <a:lnTo>
                  <a:pt x="1357902" y="4039827"/>
                </a:lnTo>
                <a:lnTo>
                  <a:pt x="1574336" y="3664985"/>
                </a:lnTo>
                <a:lnTo>
                  <a:pt x="449810" y="3664985"/>
                </a:lnTo>
                <a:lnTo>
                  <a:pt x="449810" y="3290143"/>
                </a:lnTo>
                <a:close/>
                <a:moveTo>
                  <a:pt x="1732744" y="4039827"/>
                </a:moveTo>
                <a:lnTo>
                  <a:pt x="1949178" y="3664985"/>
                </a:lnTo>
                <a:lnTo>
                  <a:pt x="1724273" y="3664985"/>
                </a:lnTo>
                <a:lnTo>
                  <a:pt x="1507839" y="4039827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>
            <a:noFill/>
          </a:ln>
        </p:spPr>
      </p:sp>
      <p:sp>
        <p:nvSpPr>
          <p:cNvPr id="3" name="SectionNumber"/>
          <p:cNvSpPr>
            <a:spLocks noGrp="1"/>
          </p:cNvSpPr>
          <p:nvPr>
            <p:ph type="body" idx="13" sz="quarter" hasCustomPrompt="1"/>
          </p:nvPr>
        </p:nvSpPr>
        <p:spPr>
          <a:xfrm>
            <a:off x="914400" y="1905000"/>
            <a:ext cx="1905000" cy="2984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2340"/>
              </a:lnSpc>
              <a:spcBef>
                <a:spcPts val="0"/>
              </a:spcBef>
              <a:buNone/>
              <a:defRPr sz="1800" b="1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01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914400" y="2222500"/>
            <a:ext cx="5715000" cy="3746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2970"/>
              </a:lnSpc>
              <a:spcBef>
                <a:spcPts val="0"/>
              </a:spcBef>
              <a:buNone/>
              <a:defRPr sz="2700" b="1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今月の読まれ方</a:t>
            </a:r>
          </a:p>
        </p:txBody>
      </p:sp>
      <p:sp>
        <p:nvSpPr>
          <p:cNvPr id="5" name="Decor_Line"/>
          <p:cNvSpPr/>
          <p:nvPr userDrawn="1"/>
        </p:nvSpPr>
        <p:spPr>
          <a:xfrm>
            <a:off x="914400" y="2794000"/>
            <a:ext cx="609600" cy="38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6" name="Copyright"/>
          <p:cNvSpPr txBox="1"/>
          <p:nvPr userDrawn="1"/>
        </p:nvSpPr>
        <p:spPr>
          <a:xfrm>
            <a:off x="457200" y="4775200"/>
            <a:ext cx="25400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en-US"/>
              <a:t>© 2026 Bigtree Lab</a:t>
            </a:r>
          </a:p>
        </p:txBody>
      </p:sp>
      <p:sp>
        <p:nvSpPr>
          <p:cNvPr id="7" name="SlideNumber"/>
          <p:cNvSpPr>
            <a:spLocks noGrp="1"/>
          </p:cNvSpPr>
          <p:nvPr>
            <p:ph type="sldNum" idx="12" sz="quarter"/>
          </p:nvPr>
        </p:nvSpPr>
        <p:spPr>
          <a:xfrm>
            <a:off x="8051800" y="4775200"/>
            <a:ext cx="635000" cy="139700"/>
          </a:xfrm>
        </p:spPr>
        <p:txBody>
          <a:bodyPr wrap="none" lIns="0" tIns="0" rIns="0" bIns="0" anchor="ctr">
            <a:noAutofit/>
          </a:bodyPr>
          <a:lstStyle>
            <a:lvl1pPr marL="0" indent="0" algn="r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76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  <p15:guide id="3" orient="horz" pos="297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03_扉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 descr="Bigtree Lab ロゴ"/>
          <p:cNvSpPr/>
          <p:nvPr userDrawn="1"/>
        </p:nvSpPr>
        <p:spPr>
          <a:xfrm>
            <a:off x="5411216" y="514350"/>
            <a:ext cx="3123184" cy="4114800"/>
          </a:xfrm>
          <a:custGeom>
            <a:avLst/>
            <a:gdLst/>
            <a:ahLst/>
            <a:cxnLst/>
            <a:rect l="0" t="0" r="r" b="b"/>
            <a:pathLst>
              <a:path w="3123184" h="4114800">
                <a:moveTo>
                  <a:pt x="74968" y="291406"/>
                </a:moveTo>
                <a:lnTo>
                  <a:pt x="74968" y="1041090"/>
                </a:lnTo>
                <a:lnTo>
                  <a:pt x="449810" y="1257524"/>
                </a:lnTo>
                <a:lnTo>
                  <a:pt x="449810" y="1041090"/>
                </a:lnTo>
                <a:lnTo>
                  <a:pt x="449810" y="666248"/>
                </a:lnTo>
                <a:lnTo>
                  <a:pt x="1748338" y="1415932"/>
                </a:lnTo>
                <a:lnTo>
                  <a:pt x="1099036" y="1790774"/>
                </a:lnTo>
                <a:lnTo>
                  <a:pt x="1124526" y="1790774"/>
                </a:lnTo>
                <a:lnTo>
                  <a:pt x="2423054" y="2540458"/>
                </a:lnTo>
                <a:lnTo>
                  <a:pt x="1773752" y="2915301"/>
                </a:lnTo>
                <a:lnTo>
                  <a:pt x="2398989" y="2915301"/>
                </a:lnTo>
                <a:lnTo>
                  <a:pt x="3048215" y="2540458"/>
                </a:lnTo>
                <a:lnTo>
                  <a:pt x="1749762" y="1790774"/>
                </a:lnTo>
                <a:lnTo>
                  <a:pt x="2398989" y="1415932"/>
                </a:lnTo>
                <a:lnTo>
                  <a:pt x="2397564" y="1415932"/>
                </a:lnTo>
                <a:lnTo>
                  <a:pt x="1099036" y="666248"/>
                </a:lnTo>
                <a:lnTo>
                  <a:pt x="449810" y="291406"/>
                </a:lnTo>
                <a:lnTo>
                  <a:pt x="74968" y="74972"/>
                </a:lnTo>
                <a:close/>
                <a:moveTo>
                  <a:pt x="824652" y="2915301"/>
                </a:moveTo>
                <a:lnTo>
                  <a:pt x="1199494" y="2915301"/>
                </a:lnTo>
                <a:lnTo>
                  <a:pt x="1299952" y="2915301"/>
                </a:lnTo>
                <a:lnTo>
                  <a:pt x="1949178" y="2540458"/>
                </a:lnTo>
                <a:lnTo>
                  <a:pt x="1199494" y="2540458"/>
                </a:lnTo>
                <a:lnTo>
                  <a:pt x="1199494" y="2165616"/>
                </a:lnTo>
                <a:lnTo>
                  <a:pt x="824652" y="1949183"/>
                </a:lnTo>
                <a:close/>
                <a:moveTo>
                  <a:pt x="449810" y="1632366"/>
                </a:moveTo>
                <a:lnTo>
                  <a:pt x="74968" y="1415932"/>
                </a:lnTo>
                <a:lnTo>
                  <a:pt x="74968" y="3290143"/>
                </a:lnTo>
                <a:lnTo>
                  <a:pt x="74968" y="3664985"/>
                </a:lnTo>
                <a:lnTo>
                  <a:pt x="74968" y="4039827"/>
                </a:lnTo>
                <a:lnTo>
                  <a:pt x="1357902" y="4039827"/>
                </a:lnTo>
                <a:lnTo>
                  <a:pt x="1574336" y="3664985"/>
                </a:lnTo>
                <a:lnTo>
                  <a:pt x="449810" y="3664985"/>
                </a:lnTo>
                <a:lnTo>
                  <a:pt x="449810" y="3290143"/>
                </a:lnTo>
                <a:close/>
                <a:moveTo>
                  <a:pt x="1732744" y="4039827"/>
                </a:moveTo>
                <a:lnTo>
                  <a:pt x="1949178" y="3664985"/>
                </a:lnTo>
                <a:lnTo>
                  <a:pt x="1724273" y="3664985"/>
                </a:lnTo>
                <a:lnTo>
                  <a:pt x="1507839" y="4039827"/>
                </a:lnTo>
                <a:close/>
              </a:path>
            </a:pathLst>
          </a:custGeom>
          <a:solidFill>
            <a:schemeClr val="bg1">
              <a:alpha val="12000"/>
            </a:schemeClr>
          </a:solidFill>
          <a:ln>
            <a:noFill/>
          </a:ln>
        </p:spPr>
      </p:sp>
      <p:sp>
        <p:nvSpPr>
          <p:cNvPr id="3" name="SectionNumber"/>
          <p:cNvSpPr>
            <a:spLocks noGrp="1"/>
          </p:cNvSpPr>
          <p:nvPr>
            <p:ph type="body" idx="13" sz="quarter" hasCustomPrompt="1"/>
          </p:nvPr>
        </p:nvSpPr>
        <p:spPr>
          <a:xfrm>
            <a:off x="914400" y="1905000"/>
            <a:ext cx="1905000" cy="2984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2340"/>
              </a:lnSpc>
              <a:spcBef>
                <a:spcPts val="0"/>
              </a:spcBef>
              <a:buNone/>
              <a:defRPr sz="1800" b="1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01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914400" y="2222500"/>
            <a:ext cx="5715000" cy="3746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2970"/>
              </a:lnSpc>
              <a:spcBef>
                <a:spcPts val="0"/>
              </a:spcBef>
              <a:buNone/>
              <a:defRPr sz="2700" b="1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今月の読まれ方</a:t>
            </a:r>
          </a:p>
        </p:txBody>
      </p:sp>
      <p:sp>
        <p:nvSpPr>
          <p:cNvPr id="5" name="Decor_Line"/>
          <p:cNvSpPr/>
          <p:nvPr userDrawn="1"/>
        </p:nvSpPr>
        <p:spPr>
          <a:xfrm>
            <a:off x="914400" y="2794000"/>
            <a:ext cx="6096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6" name="Copyright"/>
          <p:cNvSpPr txBox="1"/>
          <p:nvPr userDrawn="1"/>
        </p:nvSpPr>
        <p:spPr>
          <a:xfrm>
            <a:off x="457200" y="4775200"/>
            <a:ext cx="25400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en-US"/>
              <a:t>© 2026 Bigtree Lab</a:t>
            </a:r>
          </a:p>
        </p:txBody>
      </p:sp>
      <p:sp>
        <p:nvSpPr>
          <p:cNvPr id="7" name="SlideNumber"/>
          <p:cNvSpPr>
            <a:spLocks noGrp="1"/>
          </p:cNvSpPr>
          <p:nvPr>
            <p:ph type="sldNum" idx="12" sz="quarter"/>
          </p:nvPr>
        </p:nvSpPr>
        <p:spPr>
          <a:xfrm>
            <a:off x="8051800" y="4775200"/>
            <a:ext cx="635000" cy="139700"/>
          </a:xfrm>
        </p:spPr>
        <p:txBody>
          <a:bodyPr wrap="none" lIns="0" tIns="0" rIns="0" bIns="0" anchor="ctr">
            <a:noAutofit/>
          </a:bodyPr>
          <a:lstStyle>
            <a:lvl1pPr marL="0" indent="0" algn="r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76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  <p15:guide id="3" orient="horz" pos="297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04_構造_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 descr="Bigtree Lab ロゴ"/>
          <p:cNvSpPr/>
          <p:nvPr userDrawn="1"/>
        </p:nvSpPr>
        <p:spPr>
          <a:xfrm>
            <a:off x="5411216" y="514350"/>
            <a:ext cx="3123184" cy="4114800"/>
          </a:xfrm>
          <a:custGeom>
            <a:avLst/>
            <a:gdLst/>
            <a:ahLst/>
            <a:cxnLst/>
            <a:rect l="0" t="0" r="r" b="b"/>
            <a:pathLst>
              <a:path w="3123184" h="4114800">
                <a:moveTo>
                  <a:pt x="74968" y="291406"/>
                </a:moveTo>
                <a:lnTo>
                  <a:pt x="74968" y="1041090"/>
                </a:lnTo>
                <a:lnTo>
                  <a:pt x="449810" y="1257524"/>
                </a:lnTo>
                <a:lnTo>
                  <a:pt x="449810" y="1041090"/>
                </a:lnTo>
                <a:lnTo>
                  <a:pt x="449810" y="666248"/>
                </a:lnTo>
                <a:lnTo>
                  <a:pt x="1748338" y="1415932"/>
                </a:lnTo>
                <a:lnTo>
                  <a:pt x="1099036" y="1790774"/>
                </a:lnTo>
                <a:lnTo>
                  <a:pt x="1124526" y="1790774"/>
                </a:lnTo>
                <a:lnTo>
                  <a:pt x="2423054" y="2540458"/>
                </a:lnTo>
                <a:lnTo>
                  <a:pt x="1773752" y="2915301"/>
                </a:lnTo>
                <a:lnTo>
                  <a:pt x="2398989" y="2915301"/>
                </a:lnTo>
                <a:lnTo>
                  <a:pt x="3048215" y="2540458"/>
                </a:lnTo>
                <a:lnTo>
                  <a:pt x="1749762" y="1790774"/>
                </a:lnTo>
                <a:lnTo>
                  <a:pt x="2398989" y="1415932"/>
                </a:lnTo>
                <a:lnTo>
                  <a:pt x="2397564" y="1415932"/>
                </a:lnTo>
                <a:lnTo>
                  <a:pt x="1099036" y="666248"/>
                </a:lnTo>
                <a:lnTo>
                  <a:pt x="449810" y="291406"/>
                </a:lnTo>
                <a:lnTo>
                  <a:pt x="74968" y="74972"/>
                </a:lnTo>
                <a:close/>
                <a:moveTo>
                  <a:pt x="824652" y="2915301"/>
                </a:moveTo>
                <a:lnTo>
                  <a:pt x="1199494" y="2915301"/>
                </a:lnTo>
                <a:lnTo>
                  <a:pt x="1299952" y="2915301"/>
                </a:lnTo>
                <a:lnTo>
                  <a:pt x="1949178" y="2540458"/>
                </a:lnTo>
                <a:lnTo>
                  <a:pt x="1199494" y="2540458"/>
                </a:lnTo>
                <a:lnTo>
                  <a:pt x="1199494" y="2165616"/>
                </a:lnTo>
                <a:lnTo>
                  <a:pt x="824652" y="1949183"/>
                </a:lnTo>
                <a:close/>
                <a:moveTo>
                  <a:pt x="449810" y="1632366"/>
                </a:moveTo>
                <a:lnTo>
                  <a:pt x="74968" y="1415932"/>
                </a:lnTo>
                <a:lnTo>
                  <a:pt x="74968" y="3290143"/>
                </a:lnTo>
                <a:lnTo>
                  <a:pt x="74968" y="3664985"/>
                </a:lnTo>
                <a:lnTo>
                  <a:pt x="74968" y="4039827"/>
                </a:lnTo>
                <a:lnTo>
                  <a:pt x="1357902" y="4039827"/>
                </a:lnTo>
                <a:lnTo>
                  <a:pt x="1574336" y="3664985"/>
                </a:lnTo>
                <a:lnTo>
                  <a:pt x="449810" y="3664985"/>
                </a:lnTo>
                <a:lnTo>
                  <a:pt x="449810" y="3290143"/>
                </a:lnTo>
                <a:close/>
                <a:moveTo>
                  <a:pt x="1732744" y="4039827"/>
                </a:moveTo>
                <a:lnTo>
                  <a:pt x="1949178" y="3664985"/>
                </a:lnTo>
                <a:lnTo>
                  <a:pt x="1724273" y="3664985"/>
                </a:lnTo>
                <a:lnTo>
                  <a:pt x="1507839" y="4039827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>
            <a:noFill/>
          </a:ln>
        </p:spPr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457200" y="355600"/>
            <a:ext cx="7620000" cy="3365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2640"/>
              </a:lnSpc>
              <a:spcBef>
                <a:spcPts val="0"/>
              </a:spcBef>
              <a:buNone/>
              <a:defRPr sz="2200" b="1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目次</a:t>
            </a:r>
          </a:p>
        </p:txBody>
      </p:sp>
      <p:sp>
        <p:nvSpPr>
          <p:cNvPr id="4" name="Copyright"/>
          <p:cNvSpPr txBox="1"/>
          <p:nvPr userDrawn="1"/>
        </p:nvSpPr>
        <p:spPr>
          <a:xfrm>
            <a:off x="457200" y="4775200"/>
            <a:ext cx="25400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en-US"/>
              <a:t>© 2026 Bigtree Lab</a:t>
            </a:r>
          </a:p>
        </p:txBody>
      </p:sp>
      <p:sp>
        <p:nvSpPr>
          <p:cNvPr id="5" name="SlideNumber"/>
          <p:cNvSpPr>
            <a:spLocks noGrp="1"/>
          </p:cNvSpPr>
          <p:nvPr>
            <p:ph type="sldNum" idx="12" sz="quarter"/>
          </p:nvPr>
        </p:nvSpPr>
        <p:spPr>
          <a:xfrm>
            <a:off x="8051800" y="4775200"/>
            <a:ext cx="635000" cy="139700"/>
          </a:xfrm>
        </p:spPr>
        <p:txBody>
          <a:bodyPr wrap="none" lIns="0" tIns="0" rIns="0" bIns="0" anchor="ctr">
            <a:noAutofit/>
          </a:bodyPr>
          <a:lstStyle>
            <a:lvl1pPr marL="0" indent="0" algn="r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2" userDrawn="1">
          <p15:clr>
            <a:srgbClr val="FBAE40"/>
          </p15:clr>
        </p15:guide>
        <p15:guide id="2" orient="horz" pos="297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05_構造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 descr="Bigtree Lab ロゴ"/>
          <p:cNvSpPr/>
          <p:nvPr userDrawn="1"/>
        </p:nvSpPr>
        <p:spPr>
          <a:xfrm>
            <a:off x="5411216" y="514350"/>
            <a:ext cx="3123184" cy="4114800"/>
          </a:xfrm>
          <a:custGeom>
            <a:avLst/>
            <a:gdLst/>
            <a:ahLst/>
            <a:cxnLst/>
            <a:rect l="0" t="0" r="r" b="b"/>
            <a:pathLst>
              <a:path w="3123184" h="4114800">
                <a:moveTo>
                  <a:pt x="74968" y="291406"/>
                </a:moveTo>
                <a:lnTo>
                  <a:pt x="74968" y="1041090"/>
                </a:lnTo>
                <a:lnTo>
                  <a:pt x="449810" y="1257524"/>
                </a:lnTo>
                <a:lnTo>
                  <a:pt x="449810" y="1041090"/>
                </a:lnTo>
                <a:lnTo>
                  <a:pt x="449810" y="666248"/>
                </a:lnTo>
                <a:lnTo>
                  <a:pt x="1748338" y="1415932"/>
                </a:lnTo>
                <a:lnTo>
                  <a:pt x="1099036" y="1790774"/>
                </a:lnTo>
                <a:lnTo>
                  <a:pt x="1124526" y="1790774"/>
                </a:lnTo>
                <a:lnTo>
                  <a:pt x="2423054" y="2540458"/>
                </a:lnTo>
                <a:lnTo>
                  <a:pt x="1773752" y="2915301"/>
                </a:lnTo>
                <a:lnTo>
                  <a:pt x="2398989" y="2915301"/>
                </a:lnTo>
                <a:lnTo>
                  <a:pt x="3048215" y="2540458"/>
                </a:lnTo>
                <a:lnTo>
                  <a:pt x="1749762" y="1790774"/>
                </a:lnTo>
                <a:lnTo>
                  <a:pt x="2398989" y="1415932"/>
                </a:lnTo>
                <a:lnTo>
                  <a:pt x="2397564" y="1415932"/>
                </a:lnTo>
                <a:lnTo>
                  <a:pt x="1099036" y="666248"/>
                </a:lnTo>
                <a:lnTo>
                  <a:pt x="449810" y="291406"/>
                </a:lnTo>
                <a:lnTo>
                  <a:pt x="74968" y="74972"/>
                </a:lnTo>
                <a:close/>
                <a:moveTo>
                  <a:pt x="824652" y="2915301"/>
                </a:moveTo>
                <a:lnTo>
                  <a:pt x="1199494" y="2915301"/>
                </a:lnTo>
                <a:lnTo>
                  <a:pt x="1299952" y="2915301"/>
                </a:lnTo>
                <a:lnTo>
                  <a:pt x="1949178" y="2540458"/>
                </a:lnTo>
                <a:lnTo>
                  <a:pt x="1199494" y="2540458"/>
                </a:lnTo>
                <a:lnTo>
                  <a:pt x="1199494" y="2165616"/>
                </a:lnTo>
                <a:lnTo>
                  <a:pt x="824652" y="1949183"/>
                </a:lnTo>
                <a:close/>
                <a:moveTo>
                  <a:pt x="449810" y="1632366"/>
                </a:moveTo>
                <a:lnTo>
                  <a:pt x="74968" y="1415932"/>
                </a:lnTo>
                <a:lnTo>
                  <a:pt x="74968" y="3290143"/>
                </a:lnTo>
                <a:lnTo>
                  <a:pt x="74968" y="3664985"/>
                </a:lnTo>
                <a:lnTo>
                  <a:pt x="74968" y="4039827"/>
                </a:lnTo>
                <a:lnTo>
                  <a:pt x="1357902" y="4039827"/>
                </a:lnTo>
                <a:lnTo>
                  <a:pt x="1574336" y="3664985"/>
                </a:lnTo>
                <a:lnTo>
                  <a:pt x="449810" y="3664985"/>
                </a:lnTo>
                <a:lnTo>
                  <a:pt x="449810" y="3290143"/>
                </a:lnTo>
                <a:close/>
                <a:moveTo>
                  <a:pt x="1732744" y="4039827"/>
                </a:moveTo>
                <a:lnTo>
                  <a:pt x="1949178" y="3664985"/>
                </a:lnTo>
                <a:lnTo>
                  <a:pt x="1724273" y="3664985"/>
                </a:lnTo>
                <a:lnTo>
                  <a:pt x="1507839" y="4039827"/>
                </a:lnTo>
                <a:close/>
              </a:path>
            </a:pathLst>
          </a:custGeom>
          <a:solidFill>
            <a:schemeClr val="bg1">
              <a:alpha val="12000"/>
            </a:schemeClr>
          </a:solidFill>
          <a:ln>
            <a:noFill/>
          </a:ln>
        </p:spPr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457200" y="355600"/>
            <a:ext cx="7620000" cy="3365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264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写真ギャラリー</a:t>
            </a:r>
          </a:p>
        </p:txBody>
      </p:sp>
      <p:sp>
        <p:nvSpPr>
          <p:cNvPr id="4" name="Copyright"/>
          <p:cNvSpPr txBox="1"/>
          <p:nvPr userDrawn="1"/>
        </p:nvSpPr>
        <p:spPr>
          <a:xfrm>
            <a:off x="457200" y="4775200"/>
            <a:ext cx="25400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en-US"/>
              <a:t>© 2026 Bigtree Lab</a:t>
            </a:r>
          </a:p>
        </p:txBody>
      </p:sp>
      <p:sp>
        <p:nvSpPr>
          <p:cNvPr id="5" name="SlideNumber"/>
          <p:cNvSpPr>
            <a:spLocks noGrp="1"/>
          </p:cNvSpPr>
          <p:nvPr>
            <p:ph type="sldNum" idx="12" sz="quarter"/>
          </p:nvPr>
        </p:nvSpPr>
        <p:spPr>
          <a:xfrm>
            <a:off x="8051800" y="4775200"/>
            <a:ext cx="635000" cy="139700"/>
          </a:xfrm>
        </p:spPr>
        <p:txBody>
          <a:bodyPr wrap="none" lIns="0" tIns="0" rIns="0" bIns="0" anchor="ctr">
            <a:noAutofit/>
          </a:bodyPr>
          <a:lstStyle>
            <a:lvl1pPr marL="0" indent="0" algn="r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2" userDrawn="1">
          <p15:clr>
            <a:srgbClr val="FBAE40"/>
          </p15:clr>
        </p15:guide>
        <p15:guide id="2" orient="horz" pos="29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06_本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57200" y="355600"/>
            <a:ext cx="7620000" cy="3365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2640"/>
              </a:lnSpc>
              <a:spcBef>
                <a:spcPts val="0"/>
              </a:spcBef>
              <a:buNone/>
              <a:defRPr sz="2200" b="1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PV は前月比 128%、スキは 1.6 倍に伸びた</a:t>
            </a:r>
          </a:p>
        </p:txBody>
      </p:sp>
      <p:sp>
        <p:nvSpPr>
          <p:cNvPr id="3" name="Decor_Line"/>
          <p:cNvSpPr/>
          <p:nvPr userDrawn="1"/>
        </p:nvSpPr>
        <p:spPr>
          <a:xfrm>
            <a:off x="457200" y="812800"/>
            <a:ext cx="8229600" cy="1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4" name="Lead"/>
          <p:cNvSpPr>
            <a:spLocks noGrp="1"/>
          </p:cNvSpPr>
          <p:nvPr>
            <p:ph type="body" idx="13" sz="quarter" hasCustomPrompt="1"/>
          </p:nvPr>
        </p:nvSpPr>
        <p:spPr>
          <a:xfrm>
            <a:off x="457200" y="965200"/>
            <a:ext cx="8229600" cy="2984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2340"/>
              </a:lnSpc>
              <a:spcBef>
                <a:spcPts val="0"/>
              </a:spcBef>
              <a:buNone/>
              <a:defRPr sz="1800" b="1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連載 #3 が検索から読まれ続け、全体を押し上げている</a:t>
            </a:r>
          </a:p>
        </p:txBody>
      </p:sp>
      <p:sp>
        <p:nvSpPr>
          <p:cNvPr id="5" name="Content"/>
          <p:cNvSpPr>
            <a:spLocks noGrp="1"/>
          </p:cNvSpPr>
          <p:nvPr>
            <p:ph idx="1" hasCustomPrompt="1"/>
          </p:nvPr>
        </p:nvSpPr>
        <p:spPr>
          <a:xfrm>
            <a:off x="457200" y="1371600"/>
            <a:ext cx="8229600" cy="3251200"/>
          </a:xfrm>
        </p:spPr>
        <p:txBody>
          <a:bodyPr wrap="square" lIns="0" tIns="0" rIns="0" bIns="0" anchor="t">
            <a:noAutofit/>
          </a:bodyPr>
          <a:lstStyle/>
          <a:p>
            <a:r>
              <a:rPr lang="ja-JP"/>
              <a:t>本文（Claude が Organism・グラフ・表を配置する）</a:t>
            </a:r>
          </a:p>
        </p:txBody>
      </p:sp>
      <p:sp>
        <p:nvSpPr>
          <p:cNvPr id="6" name="Logo_Small" descr="Bigtree Lab ロゴ"/>
          <p:cNvSpPr/>
          <p:nvPr userDrawn="1"/>
        </p:nvSpPr>
        <p:spPr>
          <a:xfrm>
            <a:off x="8483600" y="406400"/>
            <a:ext cx="192786" cy="254000"/>
          </a:xfrm>
          <a:custGeom>
            <a:avLst/>
            <a:gdLst/>
            <a:ahLst/>
            <a:cxnLst/>
            <a:rect l="0" t="0" r="r" b="b"/>
            <a:pathLst>
              <a:path w="192786" h="254000">
                <a:moveTo>
                  <a:pt x="4627" y="17989"/>
                </a:moveTo>
                <a:lnTo>
                  <a:pt x="4627" y="64265"/>
                </a:lnTo>
                <a:lnTo>
                  <a:pt x="27765" y="77625"/>
                </a:lnTo>
                <a:lnTo>
                  <a:pt x="27765" y="64265"/>
                </a:lnTo>
                <a:lnTo>
                  <a:pt x="27765" y="41127"/>
                </a:lnTo>
                <a:lnTo>
                  <a:pt x="107920" y="87403"/>
                </a:lnTo>
                <a:lnTo>
                  <a:pt x="67840" y="110541"/>
                </a:lnTo>
                <a:lnTo>
                  <a:pt x="69414" y="110541"/>
                </a:lnTo>
                <a:lnTo>
                  <a:pt x="149568" y="156817"/>
                </a:lnTo>
                <a:lnTo>
                  <a:pt x="109489" y="179955"/>
                </a:lnTo>
                <a:lnTo>
                  <a:pt x="148083" y="179955"/>
                </a:lnTo>
                <a:lnTo>
                  <a:pt x="188158" y="156817"/>
                </a:lnTo>
                <a:lnTo>
                  <a:pt x="108008" y="110541"/>
                </a:lnTo>
                <a:lnTo>
                  <a:pt x="148083" y="87403"/>
                </a:lnTo>
                <a:lnTo>
                  <a:pt x="147995" y="87403"/>
                </a:lnTo>
                <a:lnTo>
                  <a:pt x="67840" y="41127"/>
                </a:lnTo>
                <a:lnTo>
                  <a:pt x="27765" y="17989"/>
                </a:lnTo>
                <a:lnTo>
                  <a:pt x="4627" y="4629"/>
                </a:lnTo>
                <a:close/>
                <a:moveTo>
                  <a:pt x="50903" y="179955"/>
                </a:moveTo>
                <a:lnTo>
                  <a:pt x="74041" y="179955"/>
                </a:lnTo>
                <a:lnTo>
                  <a:pt x="80242" y="179955"/>
                </a:lnTo>
                <a:lnTo>
                  <a:pt x="120317" y="156817"/>
                </a:lnTo>
                <a:lnTo>
                  <a:pt x="74041" y="156817"/>
                </a:lnTo>
                <a:lnTo>
                  <a:pt x="74041" y="133679"/>
                </a:lnTo>
                <a:lnTo>
                  <a:pt x="50903" y="120320"/>
                </a:lnTo>
                <a:close/>
                <a:moveTo>
                  <a:pt x="27765" y="100763"/>
                </a:moveTo>
                <a:lnTo>
                  <a:pt x="4627" y="87403"/>
                </a:lnTo>
                <a:lnTo>
                  <a:pt x="4627" y="203094"/>
                </a:lnTo>
                <a:lnTo>
                  <a:pt x="4627" y="226232"/>
                </a:lnTo>
                <a:lnTo>
                  <a:pt x="4627" y="249370"/>
                </a:lnTo>
                <a:lnTo>
                  <a:pt x="83819" y="249370"/>
                </a:lnTo>
                <a:lnTo>
                  <a:pt x="97179" y="226232"/>
                </a:lnTo>
                <a:lnTo>
                  <a:pt x="27765" y="226232"/>
                </a:lnTo>
                <a:lnTo>
                  <a:pt x="27765" y="203094"/>
                </a:lnTo>
                <a:close/>
                <a:moveTo>
                  <a:pt x="106957" y="249370"/>
                </a:moveTo>
                <a:lnTo>
                  <a:pt x="120317" y="226232"/>
                </a:lnTo>
                <a:lnTo>
                  <a:pt x="106434" y="226232"/>
                </a:lnTo>
                <a:lnTo>
                  <a:pt x="93075" y="24937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7" name="Copyright"/>
          <p:cNvSpPr txBox="1"/>
          <p:nvPr userDrawn="1"/>
        </p:nvSpPr>
        <p:spPr>
          <a:xfrm>
            <a:off x="457200" y="4775200"/>
            <a:ext cx="25400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en-US"/>
              <a:t>© 2026 Bigtree Lab</a:t>
            </a:r>
          </a:p>
        </p:txBody>
      </p:sp>
      <p:sp>
        <p:nvSpPr>
          <p:cNvPr id="8" name="SlideNumber"/>
          <p:cNvSpPr>
            <a:spLocks noGrp="1"/>
          </p:cNvSpPr>
          <p:nvPr>
            <p:ph type="sldNum" idx="12" sz="quarter"/>
          </p:nvPr>
        </p:nvSpPr>
        <p:spPr>
          <a:xfrm>
            <a:off x="8051800" y="4775200"/>
            <a:ext cx="635000" cy="139700"/>
          </a:xfrm>
        </p:spPr>
        <p:txBody>
          <a:bodyPr wrap="none" lIns="0" tIns="0" rIns="0" bIns="0" anchor="ctr">
            <a:noAutofit/>
          </a:bodyPr>
          <a:lstStyle>
            <a:lvl1pPr marL="0" indent="0" algn="r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512" userDrawn="1">
          <p15:clr>
            <a:srgbClr val="FBAE40"/>
          </p15:clr>
        </p15:guide>
        <p15:guide id="3" orient="horz" pos="864" userDrawn="1">
          <p15:clr>
            <a:srgbClr val="FBAE40"/>
          </p15:clr>
        </p15:guide>
        <p15:guide id="4" orient="horz" pos="2912" userDrawn="1">
          <p15:clr>
            <a:srgbClr val="FBAE40"/>
          </p15:clr>
        </p15:guide>
        <p15:guide id="5" orient="horz" pos="297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07_本文_リードな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57200" y="355600"/>
            <a:ext cx="7620000" cy="3365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2640"/>
              </a:lnSpc>
              <a:spcBef>
                <a:spcPts val="0"/>
              </a:spcBef>
              <a:buNone/>
              <a:defRPr sz="2200" b="1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記事別 PV・スキ一覧（2026年9月）</a:t>
            </a:r>
          </a:p>
        </p:txBody>
      </p:sp>
      <p:sp>
        <p:nvSpPr>
          <p:cNvPr id="3" name="Decor_Line"/>
          <p:cNvSpPr/>
          <p:nvPr userDrawn="1"/>
        </p:nvSpPr>
        <p:spPr>
          <a:xfrm>
            <a:off x="457200" y="812800"/>
            <a:ext cx="8229600" cy="1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457200" y="965200"/>
            <a:ext cx="8229600" cy="3657600"/>
          </a:xfrm>
        </p:spPr>
        <p:txBody>
          <a:bodyPr wrap="square" lIns="0" tIns="0" rIns="0" bIns="0" anchor="t">
            <a:noAutofit/>
          </a:bodyPr>
          <a:lstStyle/>
          <a:p>
            <a:r>
              <a:rPr lang="ja-JP"/>
              <a:t>本文（Claude が Organism・グラフ・表を配置する）</a:t>
            </a:r>
          </a:p>
        </p:txBody>
      </p:sp>
      <p:sp>
        <p:nvSpPr>
          <p:cNvPr id="5" name="Logo_Small" descr="Bigtree Lab ロゴ"/>
          <p:cNvSpPr/>
          <p:nvPr userDrawn="1"/>
        </p:nvSpPr>
        <p:spPr>
          <a:xfrm>
            <a:off x="8483600" y="406400"/>
            <a:ext cx="192786" cy="254000"/>
          </a:xfrm>
          <a:custGeom>
            <a:avLst/>
            <a:gdLst/>
            <a:ahLst/>
            <a:cxnLst/>
            <a:rect l="0" t="0" r="r" b="b"/>
            <a:pathLst>
              <a:path w="192786" h="254000">
                <a:moveTo>
                  <a:pt x="4627" y="17989"/>
                </a:moveTo>
                <a:lnTo>
                  <a:pt x="4627" y="64265"/>
                </a:lnTo>
                <a:lnTo>
                  <a:pt x="27765" y="77625"/>
                </a:lnTo>
                <a:lnTo>
                  <a:pt x="27765" y="64265"/>
                </a:lnTo>
                <a:lnTo>
                  <a:pt x="27765" y="41127"/>
                </a:lnTo>
                <a:lnTo>
                  <a:pt x="107920" y="87403"/>
                </a:lnTo>
                <a:lnTo>
                  <a:pt x="67840" y="110541"/>
                </a:lnTo>
                <a:lnTo>
                  <a:pt x="69414" y="110541"/>
                </a:lnTo>
                <a:lnTo>
                  <a:pt x="149568" y="156817"/>
                </a:lnTo>
                <a:lnTo>
                  <a:pt x="109489" y="179955"/>
                </a:lnTo>
                <a:lnTo>
                  <a:pt x="148083" y="179955"/>
                </a:lnTo>
                <a:lnTo>
                  <a:pt x="188158" y="156817"/>
                </a:lnTo>
                <a:lnTo>
                  <a:pt x="108008" y="110541"/>
                </a:lnTo>
                <a:lnTo>
                  <a:pt x="148083" y="87403"/>
                </a:lnTo>
                <a:lnTo>
                  <a:pt x="147995" y="87403"/>
                </a:lnTo>
                <a:lnTo>
                  <a:pt x="67840" y="41127"/>
                </a:lnTo>
                <a:lnTo>
                  <a:pt x="27765" y="17989"/>
                </a:lnTo>
                <a:lnTo>
                  <a:pt x="4627" y="4629"/>
                </a:lnTo>
                <a:close/>
                <a:moveTo>
                  <a:pt x="50903" y="179955"/>
                </a:moveTo>
                <a:lnTo>
                  <a:pt x="74041" y="179955"/>
                </a:lnTo>
                <a:lnTo>
                  <a:pt x="80242" y="179955"/>
                </a:lnTo>
                <a:lnTo>
                  <a:pt x="120317" y="156817"/>
                </a:lnTo>
                <a:lnTo>
                  <a:pt x="74041" y="156817"/>
                </a:lnTo>
                <a:lnTo>
                  <a:pt x="74041" y="133679"/>
                </a:lnTo>
                <a:lnTo>
                  <a:pt x="50903" y="120320"/>
                </a:lnTo>
                <a:close/>
                <a:moveTo>
                  <a:pt x="27765" y="100763"/>
                </a:moveTo>
                <a:lnTo>
                  <a:pt x="4627" y="87403"/>
                </a:lnTo>
                <a:lnTo>
                  <a:pt x="4627" y="203094"/>
                </a:lnTo>
                <a:lnTo>
                  <a:pt x="4627" y="226232"/>
                </a:lnTo>
                <a:lnTo>
                  <a:pt x="4627" y="249370"/>
                </a:lnTo>
                <a:lnTo>
                  <a:pt x="83819" y="249370"/>
                </a:lnTo>
                <a:lnTo>
                  <a:pt x="97179" y="226232"/>
                </a:lnTo>
                <a:lnTo>
                  <a:pt x="27765" y="226232"/>
                </a:lnTo>
                <a:lnTo>
                  <a:pt x="27765" y="203094"/>
                </a:lnTo>
                <a:close/>
                <a:moveTo>
                  <a:pt x="106957" y="249370"/>
                </a:moveTo>
                <a:lnTo>
                  <a:pt x="120317" y="226232"/>
                </a:lnTo>
                <a:lnTo>
                  <a:pt x="106434" y="226232"/>
                </a:lnTo>
                <a:lnTo>
                  <a:pt x="93075" y="24937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6" name="Copyright"/>
          <p:cNvSpPr txBox="1"/>
          <p:nvPr userDrawn="1"/>
        </p:nvSpPr>
        <p:spPr>
          <a:xfrm>
            <a:off x="457200" y="4775200"/>
            <a:ext cx="25400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en-US"/>
              <a:t>© 2026 Bigtree Lab</a:t>
            </a:r>
          </a:p>
        </p:txBody>
      </p:sp>
      <p:sp>
        <p:nvSpPr>
          <p:cNvPr id="7" name="SlideNumber"/>
          <p:cNvSpPr>
            <a:spLocks noGrp="1"/>
          </p:cNvSpPr>
          <p:nvPr>
            <p:ph type="sldNum" idx="12" sz="quarter"/>
          </p:nvPr>
        </p:nvSpPr>
        <p:spPr>
          <a:xfrm>
            <a:off x="8051800" y="4775200"/>
            <a:ext cx="635000" cy="139700"/>
          </a:xfrm>
        </p:spPr>
        <p:txBody>
          <a:bodyPr wrap="none" lIns="0" tIns="0" rIns="0" bIns="0" anchor="ctr">
            <a:noAutofit/>
          </a:bodyPr>
          <a:lstStyle>
            <a:lvl1pPr marL="0" indent="0" algn="r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512" userDrawn="1">
          <p15:clr>
            <a:srgbClr val="FBAE40"/>
          </p15:clr>
        </p15:guide>
        <p15:guide id="3" orient="horz" pos="608" userDrawn="1">
          <p15:clr>
            <a:srgbClr val="FBAE40"/>
          </p15:clr>
        </p15:guide>
        <p15:guide id="4" orient="horz" pos="2912" userDrawn="1">
          <p15:clr>
            <a:srgbClr val="FBAE40"/>
          </p15:clr>
        </p15:guide>
        <p15:guide id="5" orient="horz" pos="297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355600"/>
            <a:ext cx="7620000" cy="3365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2640"/>
              </a:lnSpc>
              <a:spcBef>
                <a:spcPts val="0"/>
              </a:spcBef>
              <a:buNone/>
              <a:defRPr sz="2200" b="1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マスター タイトル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229600" cy="325120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196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マスター テキスト</a:t>
            </a:r>
          </a:p>
        </p:txBody>
      </p:sp>
      <p:sp>
        <p:nvSpPr>
          <p:cNvPr id="4" name="SlideNumber"/>
          <p:cNvSpPr>
            <a:spLocks noGrp="1"/>
          </p:cNvSpPr>
          <p:nvPr>
            <p:ph type="sldNum" idx="12" sz="quarter"/>
          </p:nvPr>
        </p:nvSpPr>
        <p:spPr>
          <a:xfrm>
            <a:off x="8051800" y="4775200"/>
            <a:ext cx="635000" cy="139700"/>
          </a:xfrm>
        </p:spPr>
        <p:txBody>
          <a:bodyPr wrap="none" lIns="0" tIns="0" rIns="0" bIns="0" anchor="ctr">
            <a:noAutofit/>
          </a:bodyPr>
          <a:lstStyle>
            <a:lvl1pPr marL="0" indent="0" algn="r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ja-JP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>
        <a:lnSpc>
          <a:spcPct val="120000"/>
        </a:lnSpc>
        <a:defRPr sz="2200" b="1">
          <a:solidFill>
            <a:schemeClr val="tx1"/>
          </a:solidFill>
          <a:latin typeface="+mj-lt"/>
          <a:ea typeface="+mj-ea"/>
        </a:defRPr>
      </a:lvl1pPr>
    </p:titleStyle>
    <p:bodyStyle>
      <a:lvl1pPr marL="0" indent="0">
        <a:lnSpc>
          <a:spcPct val="140000"/>
        </a:lnSpc>
        <a:spcBef>
          <a:spcPts val="600"/>
        </a:spcBef>
        <a:buNone/>
        <a:defRPr sz="1400">
          <a:solidFill>
            <a:schemeClr val="tx1"/>
          </a:solidFill>
          <a:latin typeface="+mn-lt"/>
          <a:ea typeface="+mn-ea"/>
        </a:defRPr>
      </a:lvl1pPr>
      <a:lvl2pPr marL="228600" indent="-127000">
        <a:lnSpc>
          <a:spcPct val="140000"/>
        </a:lnSpc>
        <a:spcBef>
          <a:spcPts val="300"/>
        </a:spcBef>
        <a:buFont typeface="Noto Sans JP"/>
        <a:buChar char="•"/>
        <a:defRPr sz="1400">
          <a:solidFill>
            <a:schemeClr val="tx1"/>
          </a:solidFill>
          <a:latin typeface="+mn-lt"/>
          <a:ea typeface="+mn-ea"/>
        </a:defRPr>
      </a:lvl2pPr>
      <a:lvl3pPr marL="406400" indent="-127000">
        <a:lnSpc>
          <a:spcPct val="140000"/>
        </a:lnSpc>
        <a:spcBef>
          <a:spcPts val="300"/>
        </a:spcBef>
        <a:buFont typeface="Noto Sans JP"/>
        <a:buChar char="◦"/>
        <a:defRPr sz="1200">
          <a:solidFill>
            <a:schemeClr val="tx1"/>
          </a:solidFill>
          <a:latin typeface="+mn-lt"/>
          <a:ea typeface="+mn-ea"/>
        </a:defRPr>
      </a:lvl3pPr>
    </p:bodyStyle>
    <p:otherStyle>
      <a:defPPr>
        <a:defRPr lang="ja-JP"/>
      </a:defPPr>
    </p:otherStyle>
  </p:txStyles>
  <p:extLst>
    <p:ext uri="{27BBF7A9-308A-43DC-89C8-2F10F3537804}">
      <p15:sldGuideLst xmlns:p15="http://schemas.microsoft.com/office/powerpoint/2012/main">
        <p15:guide id="1" pos="288" userDrawn="1">
          <p15:clr>
            <a:srgbClr val="E46962"/>
          </p15:clr>
        </p15:guide>
        <p15:guide id="2" pos="5472" userDrawn="1">
          <p15:clr>
            <a:srgbClr val="E46962"/>
          </p15:clr>
        </p15:guide>
        <p15:guide id="3" orient="horz" pos="192" userDrawn="1">
          <p15:clr>
            <a:srgbClr val="E46962"/>
          </p15:clr>
        </p15:guide>
        <p15:guide id="4" orient="horz" pos="3104" userDrawn="1">
          <p15:clr>
            <a:srgbClr val="E46962"/>
          </p15:clr>
        </p15:guide>
      </p15:sldGuideLst>
    </p:ext>
  </p:ext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assification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lang="ja-JP"/>
              <a:t>公開用 ｜ ドラフト</a:t>
            </a:r>
          </a:p>
        </p:txBody>
      </p:sp>
      <p:sp>
        <p:nvSpPr>
          <p:cNvPr id="3" name="Recipient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だいきの試作室　読者のみなさまへ</a:t>
            </a:r>
          </a:p>
        </p:txBody>
      </p:sp>
      <p:sp>
        <p:nvSpPr>
          <p:cNvPr id="4" name="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/>
              <a:t>note トラフィック</a:t>
            </a:r>
          </a:p>
          <a:p>
            <a:r>
              <a:rPr lang="ja-JP"/>
              <a:t>レポート</a:t>
            </a:r>
          </a:p>
        </p:txBody>
      </p:sp>
      <p:sp>
        <p:nvSpPr>
          <p:cNvPr id="5" name="Subtitle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/>
              <a:t>2026年9月の読まれ方と次の一手</a:t>
            </a:r>
          </a:p>
        </p:txBody>
      </p:sp>
      <p:sp>
        <p:nvSpPr>
          <p:cNvPr id="6" name="Meta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lang="ja-JP"/>
              <a:t>2026-09-18 ｜ Bigtree Lab ｜ だいき君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Number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今月の読まれ方</a:t>
            </a:r>
          </a:p>
        </p:txBody>
      </p:sp>
      <p:sp>
        <p:nvSpPr>
          <p:cNvPr id="4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Number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今月の読まれ方</a:t>
            </a:r>
          </a:p>
        </p:txBody>
      </p:sp>
      <p:sp>
        <p:nvSpPr>
          <p:cNvPr id="4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目次</a:t>
            </a:r>
          </a:p>
        </p:txBody>
      </p:sp>
      <p:sp>
        <p:nvSpPr>
          <p:cNvPr id="3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写真ギャラリー</a:t>
            </a:r>
          </a:p>
        </p:txBody>
      </p:sp>
      <p:sp>
        <p:nvSpPr>
          <p:cNvPr id="3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PV は前月比 128%、スキは 1.6 倍に伸びた</a:t>
            </a:r>
          </a:p>
        </p:txBody>
      </p:sp>
      <p:sp>
        <p:nvSpPr>
          <p:cNvPr id="3" name="Lead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連載 #3 が検索から読まれ続け、全体を押し上げている</a:t>
            </a:r>
          </a:p>
        </p:txBody>
      </p:sp>
      <p:sp>
        <p:nvSpPr>
          <p:cNvPr id="4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/>
              <a:t>連載 #3「AIエージェント時代のnote執筆」が検索経由で安定して読まれている</a:t>
            </a:r>
          </a:p>
          <a:p>
            <a:pPr lvl="1"/>
            <a:r>
              <a:rPr lang="ja-JP"/>
              <a:t>検索流入は前月比 142%。「note 自動投稿」「Claude Code note」が上位</a:t>
            </a:r>
          </a:p>
          <a:p>
            <a:pPr lvl="0"/>
            <a:r>
              <a:rPr lang="ja-JP"/>
              <a:t>スキ率（スキ ÷ PV）は 4.8% → 6.1% に改善</a:t>
            </a:r>
          </a:p>
          <a:p>
            <a:pPr lvl="0"/>
            <a:r>
              <a:rPr lang="ja-JP"/>
              <a:t>次の一手：連載 #4 は Office テンプレート編。9月中に公開する</a:t>
            </a:r>
          </a:p>
        </p:txBody>
      </p:sp>
      <p:sp>
        <p:nvSpPr>
          <p:cNvPr id="5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記事別 PV・スキ一覧（2026年9月）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/>
              <a:t>#1 はじめに：AI と一緒に note を書く ─ PV 2,140 ／ スキ 96</a:t>
            </a:r>
          </a:p>
          <a:p>
            <a:pPr lvl="0"/>
            <a:r>
              <a:rPr lang="ja-JP"/>
              <a:t>#2 挿絵は HTML で作る ─ PV 1,820 ／ スキ 121</a:t>
            </a:r>
          </a:p>
          <a:p>
            <a:pPr lvl="0"/>
            <a:r>
              <a:rPr lang="ja-JP"/>
              <a:t>#3 眠っていた才能 ─ PV 3,560 ／ スキ 214</a:t>
            </a:r>
          </a:p>
          <a:p>
            <a:pPr lvl="1"/>
            <a:r>
              <a:rPr lang="ja-JP"/>
              <a:t>検索流入が全体の 58%</a:t>
            </a:r>
          </a:p>
        </p:txBody>
      </p:sp>
      <p:sp>
        <p:nvSpPr>
          <p:cNvPr id="4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gtree Lab">
  <a:themeElements>
    <a:clrScheme name="Bigtree Lab">
      <a:dk1>
        <a:srgbClr val="1F4437"/>
      </a:dk1>
      <a:lt1>
        <a:srgbClr val="FFFFFF"/>
      </a:lt1>
      <a:dk2>
        <a:srgbClr val="66776F"/>
      </a:dk2>
      <a:lt2>
        <a:srgbClr val="F7F4EE"/>
      </a:lt2>
      <a:accent1>
        <a:srgbClr val="2F6B55"/>
      </a:accent1>
      <a:accent2>
        <a:srgbClr val="FFCB68"/>
      </a:accent2>
      <a:accent3>
        <a:srgbClr val="66776F"/>
      </a:accent3>
      <a:accent4>
        <a:srgbClr val="94A09A"/>
      </a:accent4>
      <a:accent5>
        <a:srgbClr val="C2C9C5"/>
      </a:accent5>
      <a:accent6>
        <a:srgbClr val="E2773A"/>
      </a:accent6>
      <a:hlink>
        <a:srgbClr val="2F6B55"/>
      </a:hlink>
      <a:folHlink>
        <a:srgbClr val="66776F"/>
      </a:folHlink>
    </a:clrScheme>
    <a:fontScheme name="Noto Sans JP">
      <a:majorFont>
        <a:latin typeface="Noto Sans JP"/>
        <a:ea typeface="Noto Sans JP"/>
        <a:cs typeface=""/>
      </a:majorFont>
      <a:minorFont>
        <a:latin typeface="Noto Sans JP"/>
        <a:ea typeface="Noto Sans JP"/>
        <a:cs typeface=""/>
      </a:minorFont>
    </a:fontScheme>
    <a:fmtScheme name="Bigtree 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>
            <a:outerShdw blurRad="152400" dist="50800" dir="2700000" algn="tl" rotWithShape="0">
              <a:srgbClr val="1F4437">
                <a:alpha val="18000"/>
              </a:srgbClr>
            </a:outerShdw>
          </a:effectLst>
        </a:effectStyle>
        <a:effectStyle>
          <a:effectLst>
            <a:outerShdw blurRad="152400" dist="50800" dir="2700000" algn="tl" rotWithShape="0">
              <a:srgbClr val="1F4437">
                <a:alpha val="18000"/>
              </a:srgbClr>
            </a:outerShdw>
          </a:effectLst>
        </a:effectStyle>
        <a:effectStyle>
          <a:effectLst>
            <a:outerShdw blurRad="152400" dist="50800" dir="2700000" algn="tl" rotWithShape="0">
              <a:srgbClr val="1F4437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Claude Code</Application>
</Properties>
</file>

<file path=docProps/core.xml><?xml version="1.0" encoding="utf-8"?>
<cp:coreProperties xmlns:cp="http://schemas.openxmlformats.org/package/2006/metadata/core-properties" xmlns:dc="http://purl.org/dc/elements/1.1/">
  <dc:title>Bigtree Lab template</dc:title>
  <dc:creator>Claude Code</dc:creator>
</cp:coreProperties>
</file>