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fntdata" ContentType="application/x-fontdata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401" r:id="rIdOrg1"/>
    <p:sldId id="402" r:id="rIdOrg2"/>
    <p:sldId id="403" r:id="rIdOrg3"/>
    <p:sldId id="404" r:id="rIdOrg4"/>
    <p:sldId id="405" r:id="rIdOrg5"/>
    <p:sldId id="406" r:id="rIdOrg6"/>
    <p:sldId id="407" r:id="rIdOrg7"/>
    <p:sldId id="408" r:id="rIdOrg8"/>
    <p:sldId id="409" r:id="rIdOrg9"/>
    <p:sldId id="410" r:id="rIdOrg10"/>
    <p:sldId id="411" r:id="rIdOrg11"/>
    <p:sldId id="412" r:id="rIdOrg12"/>
    <p:sldId id="413" r:id="rIdOrg13"/>
    <p:sldId id="414" r:id="rIdOrg14"/>
    <p:sldId id="415" r:id="rIdOrg15"/>
    <p:sldId id="416" r:id="rIdOrg16"/>
    <p:sldId id="417" r:id="rIdOrg17"/>
    <p:sldId id="451" r:id="rIdStruct1"/>
    <p:sldId id="452" r:id="rIdStruct2"/>
    <p:sldId id="501" r:id="rIdTbl1"/>
    <p:sldId id="502" r:id="rIdTbl2"/>
    <p:sldId id="503" r:id="rIdTbl3"/>
  </p:sldIdLst>
  <p:sldSz cx="9144000" cy="5143500"/>
  <p:notesSz cx="6858000" cy="9144000"/>
  <p:defaultTextStyle>
    <a:defPPr>
      <a:defRPr lang="ja-JP"/>
    </a:defPPr>
    <a:lvl1pPr>
      <a:defRPr sz="1400">
        <a:solidFill>
          <a:schemeClr val="tx1"/>
        </a:solidFill>
        <a:latin typeface="+mn-lt"/>
        <a:ea typeface="+mn-ea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E5B4C3A-2D1F-4A8B-9C7D-0E1F2A3B4C5D}">
  <a:tblStyle styleId="{6E5B4C3A-2D1F-4A8B-9C7D-0E1F2A3B4C5D}" styleName="Bigtree Lab 表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ap="flat" cmpd="sng" algn="ctr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  <a:tcTxStyle b="off">
        <a:fontRef idx="minor">
          <a:schemeClr val="tx1"/>
        </a:fontRef>
        <a:schemeClr val="tx1"/>
      </a:tcTxStyle>
    </a:wholeTbl>
    <a:band2H>
      <a:tcStyle>
        <a:tcBdr/>
        <a:fill>
          <a:solidFill>
            <a:schemeClr val="tx1">
              <a:alpha val="8000"/>
            </a:schemeClr>
          </a:solidFill>
        </a:fill>
      </a:tcStyle>
    </a:band2H>
    <a:firstRow>
      <a:tcTxStyle b="on">
        <a:fontRef idx="minor">
          <a:schemeClr val="bg1"/>
        </a:fontRef>
        <a:schemeClr val="bg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ap="flat" cmpd="sng" algn="ctr">
              <a:solidFill>
                <a:schemeClr val="accent1"/>
              </a:solidFill>
            </a:ln>
          </a:bottom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  <a:firstCol>
      <a:tcTxStyle b="on">
        <a:fontRef idx="minor">
          <a:schemeClr val="tx1"/>
        </a:fontRef>
        <a:schemeClr val="tx1"/>
      </a:tcTxStyle>
      <a:tcStyle>
        <a:tcBdr/>
        <a:fill>
          <a:noFill/>
        </a:fill>
      </a:tcStyle>
    </a:firstCo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Org1" Type="http://schemas.openxmlformats.org/officeDocument/2006/relationships/slide" Target="slides/slide8.xml"/><Relationship Id="rIdOrg2" Type="http://schemas.openxmlformats.org/officeDocument/2006/relationships/slide" Target="slides/slide9.xml"/><Relationship Id="rIdOrg3" Type="http://schemas.openxmlformats.org/officeDocument/2006/relationships/slide" Target="slides/slide10.xml"/><Relationship Id="rIdOrg4" Type="http://schemas.openxmlformats.org/officeDocument/2006/relationships/slide" Target="slides/slide11.xml"/><Relationship Id="rIdOrg5" Type="http://schemas.openxmlformats.org/officeDocument/2006/relationships/slide" Target="slides/slide12.xml"/><Relationship Id="rIdOrg6" Type="http://schemas.openxmlformats.org/officeDocument/2006/relationships/slide" Target="slides/slide13.xml"/><Relationship Id="rIdOrg7" Type="http://schemas.openxmlformats.org/officeDocument/2006/relationships/slide" Target="slides/slide14.xml"/><Relationship Id="rIdOrg8" Type="http://schemas.openxmlformats.org/officeDocument/2006/relationships/slide" Target="slides/slide15.xml"/><Relationship Id="rIdOrg9" Type="http://schemas.openxmlformats.org/officeDocument/2006/relationships/slide" Target="slides/slide16.xml"/><Relationship Id="rIdOrg10" Type="http://schemas.openxmlformats.org/officeDocument/2006/relationships/slide" Target="slides/slide17.xml"/><Relationship Id="rIdOrg11" Type="http://schemas.openxmlformats.org/officeDocument/2006/relationships/slide" Target="slides/slide18.xml"/><Relationship Id="rIdOrg12" Type="http://schemas.openxmlformats.org/officeDocument/2006/relationships/slide" Target="slides/slide19.xml"/><Relationship Id="rIdOrg13" Type="http://schemas.openxmlformats.org/officeDocument/2006/relationships/slide" Target="slides/slide20.xml"/><Relationship Id="rIdOrg14" Type="http://schemas.openxmlformats.org/officeDocument/2006/relationships/slide" Target="slides/slide21.xml"/><Relationship Id="rIdOrg15" Type="http://schemas.openxmlformats.org/officeDocument/2006/relationships/slide" Target="slides/slide22.xml"/><Relationship Id="rIdOrg16" Type="http://schemas.openxmlformats.org/officeDocument/2006/relationships/slide" Target="slides/slide23.xml"/><Relationship Id="rIdOrg17" Type="http://schemas.openxmlformats.org/officeDocument/2006/relationships/slide" Target="slides/slide24.xml"/><Relationship Id="rIdStruct1" Type="http://schemas.openxmlformats.org/officeDocument/2006/relationships/slide" Target="slides/slide25.xml"/><Relationship Id="rIdStruct2" Type="http://schemas.openxmlformats.org/officeDocument/2006/relationships/slide" Target="slides/slide26.xml"/><Relationship Id="rIdTbl1" Type="http://schemas.openxmlformats.org/officeDocument/2006/relationships/slide" Target="slides/slide27.xml"/><Relationship Id="rIdTbl2" Type="http://schemas.openxmlformats.org/officeDocument/2006/relationships/slide" Target="slides/slide28.xml"/><Relationship Id="rIdTbl3" Type="http://schemas.openxmlformats.org/officeDocument/2006/relationships/slide" Target="slides/slide29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1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Visual" descr="メタセコイアを見上げた写真（キービジュアル）"/>
          <p:cNvPicPr>
            <a:picLocks noChangeAspect="1"/>
          </p:cNvPicPr>
          <p:nvPr userDrawn="1"/>
        </p:nvPicPr>
        <p:blipFill>
          <a:blip r:embed="rId2"/>
          <a:srcRect l="34640" t="0" r="23192" b="0"/>
          <a:stretch>
            <a:fillRect/>
          </a:stretch>
        </p:blipFill>
        <p:spPr>
          <a:xfrm>
            <a:off x="5348478" y="0"/>
            <a:ext cx="3795522" cy="5143500"/>
          </a:xfrm>
          <a:custGeom>
            <a:avLst/>
            <a:gdLst/>
            <a:ahLst/>
            <a:cxnLst/>
            <a:rect l="0" t="0" r="r" b="b"/>
            <a:pathLst>
              <a:path w="3795522" h="5143500">
                <a:moveTo>
                  <a:pt x="500494" y="-310343"/>
                </a:moveTo>
                <a:cubicBezTo>
                  <a:pt x="492538" y="-292316"/>
                  <a:pt x="329305" y="-79914"/>
                  <a:pt x="178041" y="147943"/>
                </a:cubicBezTo>
                <a:cubicBezTo>
                  <a:pt x="122511" y="231591"/>
                  <a:pt x="56299" y="442310"/>
                  <a:pt x="29477" y="594475"/>
                </a:cubicBezTo>
                <a:cubicBezTo>
                  <a:pt x="0" y="761695"/>
                  <a:pt x="18066" y="963308"/>
                  <a:pt x="21863" y="1088263"/>
                </a:cubicBezTo>
                <a:cubicBezTo>
                  <a:pt x="25273" y="1200411"/>
                  <a:pt x="89052" y="1334973"/>
                  <a:pt x="179902" y="1474750"/>
                </a:cubicBezTo>
                <a:cubicBezTo>
                  <a:pt x="221844" y="1539272"/>
                  <a:pt x="214008" y="1601972"/>
                  <a:pt x="221920" y="1713649"/>
                </a:cubicBezTo>
                <a:cubicBezTo>
                  <a:pt x="233255" y="1873720"/>
                  <a:pt x="305308" y="1965186"/>
                  <a:pt x="353835" y="2039201"/>
                </a:cubicBezTo>
                <a:cubicBezTo>
                  <a:pt x="463156" y="2205939"/>
                  <a:pt x="537394" y="2248853"/>
                  <a:pt x="563213" y="2310352"/>
                </a:cubicBezTo>
                <a:cubicBezTo>
                  <a:pt x="594322" y="2384457"/>
                  <a:pt x="579634" y="2523973"/>
                  <a:pt x="645916" y="2781542"/>
                </a:cubicBezTo>
                <a:cubicBezTo>
                  <a:pt x="683273" y="2926696"/>
                  <a:pt x="775322" y="3024384"/>
                  <a:pt x="838270" y="3071597"/>
                </a:cubicBezTo>
                <a:cubicBezTo>
                  <a:pt x="864432" y="3091218"/>
                  <a:pt x="872846" y="3138062"/>
                  <a:pt x="871474" y="3196558"/>
                </a:cubicBezTo>
                <a:cubicBezTo>
                  <a:pt x="869455" y="3282842"/>
                  <a:pt x="751110" y="3321120"/>
                  <a:pt x="680961" y="3340386"/>
                </a:cubicBezTo>
                <a:cubicBezTo>
                  <a:pt x="624097" y="3356007"/>
                  <a:pt x="580828" y="3417316"/>
                  <a:pt x="541007" y="3470663"/>
                </a:cubicBezTo>
                <a:cubicBezTo>
                  <a:pt x="439617" y="3606483"/>
                  <a:pt x="539864" y="3976783"/>
                  <a:pt x="571100" y="4069036"/>
                </a:cubicBezTo>
                <a:cubicBezTo>
                  <a:pt x="606660" y="4174039"/>
                  <a:pt x="617677" y="4246645"/>
                  <a:pt x="629685" y="4302087"/>
                </a:cubicBezTo>
                <a:cubicBezTo>
                  <a:pt x="641191" y="4355211"/>
                  <a:pt x="714731" y="4367905"/>
                  <a:pt x="760000" y="4405332"/>
                </a:cubicBezTo>
                <a:cubicBezTo>
                  <a:pt x="783222" y="4424528"/>
                  <a:pt x="787667" y="4458468"/>
                  <a:pt x="790778" y="4566444"/>
                </a:cubicBezTo>
                <a:cubicBezTo>
                  <a:pt x="798316" y="4828184"/>
                  <a:pt x="788105" y="5019624"/>
                  <a:pt x="773278" y="5074387"/>
                </a:cubicBezTo>
                <a:cubicBezTo>
                  <a:pt x="725348" y="5251419"/>
                  <a:pt x="673710" y="5305902"/>
                  <a:pt x="627082" y="5348986"/>
                </a:cubicBezTo>
                <a:cubicBezTo>
                  <a:pt x="602107" y="5367255"/>
                  <a:pt x="575653" y="5379231"/>
                  <a:pt x="549123" y="5378939"/>
                </a:cubicBezTo>
                <a:cubicBezTo>
                  <a:pt x="536226" y="5375415"/>
                  <a:pt x="524491" y="5365058"/>
                  <a:pt x="512401" y="5354378"/>
                </a:cubicBezTo>
                <a:lnTo>
                  <a:pt x="512401" y="5354320"/>
                </a:lnTo>
                <a:lnTo>
                  <a:pt x="3795522" y="5354320"/>
                </a:lnTo>
                <a:lnTo>
                  <a:pt x="3795522" y="-310346"/>
                </a:lnTo>
                <a:lnTo>
                  <a:pt x="500494" y="-310346"/>
                </a:lnTo>
                <a:close/>
              </a:path>
            </a:pathLst>
          </a:custGeom>
        </p:spPr>
      </p:pic>
      <p:sp>
        <p:nvSpPr>
          <p:cNvPr id="3" name="Logo" descr="Bigtree Lab ロゴ"/>
          <p:cNvSpPr/>
          <p:nvPr userDrawn="1"/>
        </p:nvSpPr>
        <p:spPr>
          <a:xfrm>
            <a:off x="457200" y="457200"/>
            <a:ext cx="347028" cy="457200"/>
          </a:xfrm>
          <a:custGeom>
            <a:avLst/>
            <a:gdLst/>
            <a:ahLst/>
            <a:cxnLst/>
            <a:rect l="0" t="0" r="r" b="b"/>
            <a:pathLst>
              <a:path w="347028" h="457200">
                <a:moveTo>
                  <a:pt x="8333" y="32378"/>
                </a:moveTo>
                <a:lnTo>
                  <a:pt x="8333" y="115676"/>
                </a:lnTo>
                <a:lnTo>
                  <a:pt x="49982" y="139724"/>
                </a:lnTo>
                <a:lnTo>
                  <a:pt x="49982" y="115676"/>
                </a:lnTo>
                <a:lnTo>
                  <a:pt x="49982" y="74027"/>
                </a:lnTo>
                <a:lnTo>
                  <a:pt x="194263" y="157325"/>
                </a:lnTo>
                <a:lnTo>
                  <a:pt x="122118" y="198974"/>
                </a:lnTo>
                <a:lnTo>
                  <a:pt x="124951" y="198974"/>
                </a:lnTo>
                <a:lnTo>
                  <a:pt x="269232" y="282273"/>
                </a:lnTo>
                <a:lnTo>
                  <a:pt x="197087" y="323922"/>
                </a:lnTo>
                <a:lnTo>
                  <a:pt x="266558" y="323922"/>
                </a:lnTo>
                <a:lnTo>
                  <a:pt x="338694" y="282273"/>
                </a:lnTo>
                <a:lnTo>
                  <a:pt x="194421" y="198974"/>
                </a:lnTo>
                <a:lnTo>
                  <a:pt x="266558" y="157325"/>
                </a:lnTo>
                <a:lnTo>
                  <a:pt x="266400" y="157325"/>
                </a:lnTo>
                <a:lnTo>
                  <a:pt x="122118" y="74027"/>
                </a:lnTo>
                <a:lnTo>
                  <a:pt x="49982" y="32378"/>
                </a:lnTo>
                <a:lnTo>
                  <a:pt x="8333" y="8329"/>
                </a:lnTo>
                <a:close/>
                <a:moveTo>
                  <a:pt x="91631" y="323922"/>
                </a:moveTo>
                <a:lnTo>
                  <a:pt x="133280" y="323922"/>
                </a:lnTo>
                <a:lnTo>
                  <a:pt x="144442" y="323922"/>
                </a:lnTo>
                <a:lnTo>
                  <a:pt x="216579" y="282273"/>
                </a:lnTo>
                <a:lnTo>
                  <a:pt x="133280" y="282273"/>
                </a:lnTo>
                <a:lnTo>
                  <a:pt x="133280" y="240624"/>
                </a:lnTo>
                <a:lnTo>
                  <a:pt x="91631" y="216575"/>
                </a:lnTo>
                <a:close/>
                <a:moveTo>
                  <a:pt x="49982" y="181373"/>
                </a:moveTo>
                <a:lnTo>
                  <a:pt x="8333" y="157325"/>
                </a:lnTo>
                <a:lnTo>
                  <a:pt x="8333" y="365571"/>
                </a:lnTo>
                <a:lnTo>
                  <a:pt x="8333" y="407220"/>
                </a:lnTo>
                <a:lnTo>
                  <a:pt x="8333" y="448870"/>
                </a:lnTo>
                <a:lnTo>
                  <a:pt x="150881" y="448870"/>
                </a:lnTo>
                <a:lnTo>
                  <a:pt x="174930" y="407220"/>
                </a:lnTo>
                <a:lnTo>
                  <a:pt x="49982" y="407220"/>
                </a:lnTo>
                <a:lnTo>
                  <a:pt x="49982" y="365571"/>
                </a:lnTo>
                <a:close/>
                <a:moveTo>
                  <a:pt x="192531" y="448870"/>
                </a:moveTo>
                <a:lnTo>
                  <a:pt x="216579" y="407220"/>
                </a:lnTo>
                <a:lnTo>
                  <a:pt x="191589" y="407220"/>
                </a:lnTo>
                <a:lnTo>
                  <a:pt x="167541" y="4488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" name="Classification"/>
          <p:cNvSpPr>
            <a:spLocks noGrp="1"/>
          </p:cNvSpPr>
          <p:nvPr>
            <p:ph type="body" idx="15" sz="quarter" hasCustomPrompt="1"/>
          </p:nvPr>
        </p:nvSpPr>
        <p:spPr>
          <a:xfrm>
            <a:off x="457200" y="1409700"/>
            <a:ext cx="1409700" cy="27305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</p:spPr>
        <p:txBody>
          <a:bodyPr wrap="none" lIns="101600" tIns="25400" rIns="101600" bIns="25400" anchor="ctr">
            <a:spAutoFit/>
          </a:bodyPr>
          <a:lstStyle>
            <a:lvl1pPr marL="0" indent="0" algn="l">
              <a:lnSpc>
                <a:spcPts val="1540"/>
              </a:lnSpc>
              <a:spcBef>
                <a:spcPts val="0"/>
              </a:spcBef>
              <a:buNone/>
              <a:defRPr sz="11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公開用 ｜ ドラフト</a:t>
            </a:r>
          </a:p>
        </p:txBody>
      </p:sp>
      <p:sp>
        <p:nvSpPr>
          <p:cNvPr id="5" name="Recipient"/>
          <p:cNvSpPr>
            <a:spLocks noGrp="1"/>
          </p:cNvSpPr>
          <p:nvPr>
            <p:ph type="body" idx="13" sz="quarter" hasCustomPrompt="1"/>
          </p:nvPr>
        </p:nvSpPr>
        <p:spPr>
          <a:xfrm>
            <a:off x="457200" y="1841500"/>
            <a:ext cx="4445000" cy="247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96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だいきの試作室　読者のみなさまへ</a:t>
            </a:r>
          </a:p>
        </p:txBody>
      </p:sp>
      <p:sp>
        <p:nvSpPr>
          <p:cNvPr id="6" name="Title"/>
          <p:cNvSpPr>
            <a:spLocks noGrp="1"/>
          </p:cNvSpPr>
          <p:nvPr>
            <p:ph type="ctrTitle" hasCustomPrompt="1"/>
          </p:nvPr>
        </p:nvSpPr>
        <p:spPr>
          <a:xfrm>
            <a:off x="457200" y="2235200"/>
            <a:ext cx="4445000" cy="9525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374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note トラフィック</a:t>
            </a:r>
          </a:p>
          <a:p>
            <a:r>
              <a:rPr lang="ja-JP"/>
              <a:t>レポート</a:t>
            </a:r>
          </a:p>
        </p:txBody>
      </p:sp>
      <p:sp>
        <p:nvSpPr>
          <p:cNvPr id="7" name="Decor_Line"/>
          <p:cNvSpPr/>
          <p:nvPr userDrawn="1"/>
        </p:nvSpPr>
        <p:spPr>
          <a:xfrm>
            <a:off x="457200" y="3340100"/>
            <a:ext cx="6096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57200" y="3568700"/>
            <a:ext cx="444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2026年9月の読まれ方と次の一手</a:t>
            </a:r>
          </a:p>
        </p:txBody>
      </p:sp>
      <p:sp>
        <p:nvSpPr>
          <p:cNvPr id="9" name="Meta"/>
          <p:cNvSpPr>
            <a:spLocks noGrp="1"/>
          </p:cNvSpPr>
          <p:nvPr>
            <p:ph type="body" idx="14" sz="quarter" hasCustomPrompt="1"/>
          </p:nvPr>
        </p:nvSpPr>
        <p:spPr>
          <a:xfrm>
            <a:off x="457200" y="4381500"/>
            <a:ext cx="3556000" cy="1968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540"/>
              </a:lnSpc>
              <a:spcBef>
                <a:spcPts val="0"/>
              </a:spcBef>
              <a:buNone/>
              <a:defRPr sz="11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2026-09-18 ｜ Bigtree Lab ｜ だいき君</a:t>
            </a:r>
          </a:p>
        </p:txBody>
      </p:sp>
      <p:sp>
        <p:nvSpPr>
          <p:cNvPr id="10" name="Copyright"/>
          <p:cNvSpPr txBox="1"/>
          <p:nvPr userDrawn="1"/>
        </p:nvSpPr>
        <p:spPr>
          <a:xfrm>
            <a:off x="457200" y="46990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20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2_扉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</p:sp>
      <p:sp>
        <p:nvSpPr>
          <p:cNvPr id="3" name="SectionNumber"/>
          <p:cNvSpPr>
            <a:spLocks noGrp="1"/>
          </p:cNvSpPr>
          <p:nvPr>
            <p:ph type="body" idx="13" sz="quarter" hasCustomPrompt="1"/>
          </p:nvPr>
        </p:nvSpPr>
        <p:spPr>
          <a:xfrm>
            <a:off x="914400" y="1905000"/>
            <a:ext cx="190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14400" y="2222500"/>
            <a:ext cx="5715000" cy="374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970"/>
              </a:lnSpc>
              <a:spcBef>
                <a:spcPts val="0"/>
              </a:spcBef>
              <a:buNone/>
              <a:defRPr sz="27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今月の読まれ方</a:t>
            </a:r>
          </a:p>
        </p:txBody>
      </p:sp>
      <p:sp>
        <p:nvSpPr>
          <p:cNvPr id="5" name="Decor_Line"/>
          <p:cNvSpPr/>
          <p:nvPr userDrawn="1"/>
        </p:nvSpPr>
        <p:spPr>
          <a:xfrm>
            <a:off x="914400" y="2794000"/>
            <a:ext cx="6096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3_扉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</p:sp>
      <p:sp>
        <p:nvSpPr>
          <p:cNvPr id="3" name="SectionNumber"/>
          <p:cNvSpPr>
            <a:spLocks noGrp="1"/>
          </p:cNvSpPr>
          <p:nvPr>
            <p:ph type="body" idx="13" sz="quarter" hasCustomPrompt="1"/>
          </p:nvPr>
        </p:nvSpPr>
        <p:spPr>
          <a:xfrm>
            <a:off x="914400" y="1905000"/>
            <a:ext cx="190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14400" y="2222500"/>
            <a:ext cx="5715000" cy="374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970"/>
              </a:lnSpc>
              <a:spcBef>
                <a:spcPts val="0"/>
              </a:spcBef>
              <a:buNone/>
              <a:defRPr sz="27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今月の読まれ方</a:t>
            </a:r>
          </a:p>
        </p:txBody>
      </p:sp>
      <p:sp>
        <p:nvSpPr>
          <p:cNvPr id="5" name="Decor_Line"/>
          <p:cNvSpPr/>
          <p:nvPr userDrawn="1"/>
        </p:nvSpPr>
        <p:spPr>
          <a:xfrm>
            <a:off x="914400" y="2794000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4_構造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目次</a:t>
            </a:r>
          </a:p>
        </p:txBody>
      </p:sp>
      <p:sp>
        <p:nvSpPr>
          <p:cNvPr id="4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2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5_構造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写真ギャラリー</a:t>
            </a:r>
          </a:p>
        </p:txBody>
      </p:sp>
      <p:sp>
        <p:nvSpPr>
          <p:cNvPr id="4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2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6_本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PV は前月比 128%、スキは 1.6 倍に伸びた</a:t>
            </a:r>
          </a:p>
        </p:txBody>
      </p:sp>
      <p:sp>
        <p:nvSpPr>
          <p:cNvPr id="3" name="Decor_Line"/>
          <p:cNvSpPr/>
          <p:nvPr userDrawn="1"/>
        </p:nvSpPr>
        <p:spPr>
          <a:xfrm>
            <a:off x="457200" y="812800"/>
            <a:ext cx="82296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" name="Lead"/>
          <p:cNvSpPr>
            <a:spLocks noGrp="1"/>
          </p:cNvSpPr>
          <p:nvPr>
            <p:ph type="body" idx="13" sz="quarter" hasCustomPrompt="1"/>
          </p:nvPr>
        </p:nvSpPr>
        <p:spPr>
          <a:xfrm>
            <a:off x="457200" y="965200"/>
            <a:ext cx="82296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連載 #3 が検索から読まれ続け、全体を押し上げている</a:t>
            </a:r>
          </a:p>
        </p:txBody>
      </p:sp>
      <p:sp>
        <p:nvSpPr>
          <p:cNvPr id="5" name="Content"/>
          <p:cNvSpPr>
            <a:spLocks noGrp="1"/>
          </p:cNvSpPr>
          <p:nvPr>
            <p:ph idx="1" hasCustomPrompt="1"/>
          </p:nvPr>
        </p:nvSpPr>
        <p:spPr>
          <a:xfrm>
            <a:off x="457200" y="1371600"/>
            <a:ext cx="8229600" cy="3251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ja-JP"/>
              <a:t>本文（Claude が Organism・グラフ・表を配置する）</a:t>
            </a:r>
          </a:p>
        </p:txBody>
      </p:sp>
      <p:sp>
        <p:nvSpPr>
          <p:cNvPr id="6" name="Logo_Small" descr="Bigtree Lab ロゴ"/>
          <p:cNvSpPr/>
          <p:nvPr userDrawn="1"/>
        </p:nvSpPr>
        <p:spPr>
          <a:xfrm>
            <a:off x="8483600" y="406400"/>
            <a:ext cx="192786" cy="254000"/>
          </a:xfrm>
          <a:custGeom>
            <a:avLst/>
            <a:gdLst/>
            <a:ahLst/>
            <a:cxnLst/>
            <a:rect l="0" t="0" r="r" b="b"/>
            <a:pathLst>
              <a:path w="192786" h="254000">
                <a:moveTo>
                  <a:pt x="4627" y="17989"/>
                </a:moveTo>
                <a:lnTo>
                  <a:pt x="4627" y="64265"/>
                </a:lnTo>
                <a:lnTo>
                  <a:pt x="27765" y="77625"/>
                </a:lnTo>
                <a:lnTo>
                  <a:pt x="27765" y="64265"/>
                </a:lnTo>
                <a:lnTo>
                  <a:pt x="27765" y="41127"/>
                </a:lnTo>
                <a:lnTo>
                  <a:pt x="107920" y="87403"/>
                </a:lnTo>
                <a:lnTo>
                  <a:pt x="67840" y="110541"/>
                </a:lnTo>
                <a:lnTo>
                  <a:pt x="69414" y="110541"/>
                </a:lnTo>
                <a:lnTo>
                  <a:pt x="149568" y="156817"/>
                </a:lnTo>
                <a:lnTo>
                  <a:pt x="109489" y="179955"/>
                </a:lnTo>
                <a:lnTo>
                  <a:pt x="148083" y="179955"/>
                </a:lnTo>
                <a:lnTo>
                  <a:pt x="188158" y="156817"/>
                </a:lnTo>
                <a:lnTo>
                  <a:pt x="108008" y="110541"/>
                </a:lnTo>
                <a:lnTo>
                  <a:pt x="148083" y="87403"/>
                </a:lnTo>
                <a:lnTo>
                  <a:pt x="147995" y="87403"/>
                </a:lnTo>
                <a:lnTo>
                  <a:pt x="67840" y="41127"/>
                </a:lnTo>
                <a:lnTo>
                  <a:pt x="27765" y="17989"/>
                </a:lnTo>
                <a:lnTo>
                  <a:pt x="4627" y="4629"/>
                </a:lnTo>
                <a:close/>
                <a:moveTo>
                  <a:pt x="50903" y="179955"/>
                </a:moveTo>
                <a:lnTo>
                  <a:pt x="74041" y="179955"/>
                </a:lnTo>
                <a:lnTo>
                  <a:pt x="80242" y="179955"/>
                </a:lnTo>
                <a:lnTo>
                  <a:pt x="120317" y="156817"/>
                </a:lnTo>
                <a:lnTo>
                  <a:pt x="74041" y="156817"/>
                </a:lnTo>
                <a:lnTo>
                  <a:pt x="74041" y="133679"/>
                </a:lnTo>
                <a:lnTo>
                  <a:pt x="50903" y="120320"/>
                </a:lnTo>
                <a:close/>
                <a:moveTo>
                  <a:pt x="27765" y="100763"/>
                </a:moveTo>
                <a:lnTo>
                  <a:pt x="4627" y="87403"/>
                </a:lnTo>
                <a:lnTo>
                  <a:pt x="4627" y="203094"/>
                </a:lnTo>
                <a:lnTo>
                  <a:pt x="4627" y="226232"/>
                </a:lnTo>
                <a:lnTo>
                  <a:pt x="4627" y="249370"/>
                </a:lnTo>
                <a:lnTo>
                  <a:pt x="83819" y="249370"/>
                </a:lnTo>
                <a:lnTo>
                  <a:pt x="97179" y="226232"/>
                </a:lnTo>
                <a:lnTo>
                  <a:pt x="27765" y="226232"/>
                </a:lnTo>
                <a:lnTo>
                  <a:pt x="27765" y="203094"/>
                </a:lnTo>
                <a:close/>
                <a:moveTo>
                  <a:pt x="106957" y="249370"/>
                </a:moveTo>
                <a:lnTo>
                  <a:pt x="120317" y="226232"/>
                </a:lnTo>
                <a:lnTo>
                  <a:pt x="106434" y="226232"/>
                </a:lnTo>
                <a:lnTo>
                  <a:pt x="93075" y="2493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7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8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512" userDrawn="1">
          <p15:clr>
            <a:srgbClr val="FBAE40"/>
          </p15:clr>
        </p15:guide>
        <p15:guide id="3" orient="horz" pos="864" userDrawn="1">
          <p15:clr>
            <a:srgbClr val="FBAE40"/>
          </p15:clr>
        </p15:guide>
        <p15:guide id="4" orient="horz" pos="2912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7_本文_リードな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記事別 PV・スキ一覧（2026年9月）</a:t>
            </a:r>
          </a:p>
        </p:txBody>
      </p:sp>
      <p:sp>
        <p:nvSpPr>
          <p:cNvPr id="3" name="Decor_Line"/>
          <p:cNvSpPr/>
          <p:nvPr userDrawn="1"/>
        </p:nvSpPr>
        <p:spPr>
          <a:xfrm>
            <a:off x="457200" y="812800"/>
            <a:ext cx="82296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457200" y="965200"/>
            <a:ext cx="8229600" cy="3657600"/>
          </a:xfrm>
        </p:spPr>
        <p:txBody>
          <a:bodyPr wrap="square" lIns="0" tIns="0" rIns="0" bIns="0" anchor="t">
            <a:noAutofit/>
          </a:bodyPr>
          <a:lstStyle/>
          <a:p>
            <a:r>
              <a:rPr lang="ja-JP"/>
              <a:t>本文（Claude が Organism・グラフ・表を配置する）</a:t>
            </a:r>
          </a:p>
        </p:txBody>
      </p:sp>
      <p:sp>
        <p:nvSpPr>
          <p:cNvPr id="5" name="Logo_Small" descr="Bigtree Lab ロゴ"/>
          <p:cNvSpPr/>
          <p:nvPr userDrawn="1"/>
        </p:nvSpPr>
        <p:spPr>
          <a:xfrm>
            <a:off x="8483600" y="406400"/>
            <a:ext cx="192786" cy="254000"/>
          </a:xfrm>
          <a:custGeom>
            <a:avLst/>
            <a:gdLst/>
            <a:ahLst/>
            <a:cxnLst/>
            <a:rect l="0" t="0" r="r" b="b"/>
            <a:pathLst>
              <a:path w="192786" h="254000">
                <a:moveTo>
                  <a:pt x="4627" y="17989"/>
                </a:moveTo>
                <a:lnTo>
                  <a:pt x="4627" y="64265"/>
                </a:lnTo>
                <a:lnTo>
                  <a:pt x="27765" y="77625"/>
                </a:lnTo>
                <a:lnTo>
                  <a:pt x="27765" y="64265"/>
                </a:lnTo>
                <a:lnTo>
                  <a:pt x="27765" y="41127"/>
                </a:lnTo>
                <a:lnTo>
                  <a:pt x="107920" y="87403"/>
                </a:lnTo>
                <a:lnTo>
                  <a:pt x="67840" y="110541"/>
                </a:lnTo>
                <a:lnTo>
                  <a:pt x="69414" y="110541"/>
                </a:lnTo>
                <a:lnTo>
                  <a:pt x="149568" y="156817"/>
                </a:lnTo>
                <a:lnTo>
                  <a:pt x="109489" y="179955"/>
                </a:lnTo>
                <a:lnTo>
                  <a:pt x="148083" y="179955"/>
                </a:lnTo>
                <a:lnTo>
                  <a:pt x="188158" y="156817"/>
                </a:lnTo>
                <a:lnTo>
                  <a:pt x="108008" y="110541"/>
                </a:lnTo>
                <a:lnTo>
                  <a:pt x="148083" y="87403"/>
                </a:lnTo>
                <a:lnTo>
                  <a:pt x="147995" y="87403"/>
                </a:lnTo>
                <a:lnTo>
                  <a:pt x="67840" y="41127"/>
                </a:lnTo>
                <a:lnTo>
                  <a:pt x="27765" y="17989"/>
                </a:lnTo>
                <a:lnTo>
                  <a:pt x="4627" y="4629"/>
                </a:lnTo>
                <a:close/>
                <a:moveTo>
                  <a:pt x="50903" y="179955"/>
                </a:moveTo>
                <a:lnTo>
                  <a:pt x="74041" y="179955"/>
                </a:lnTo>
                <a:lnTo>
                  <a:pt x="80242" y="179955"/>
                </a:lnTo>
                <a:lnTo>
                  <a:pt x="120317" y="156817"/>
                </a:lnTo>
                <a:lnTo>
                  <a:pt x="74041" y="156817"/>
                </a:lnTo>
                <a:lnTo>
                  <a:pt x="74041" y="133679"/>
                </a:lnTo>
                <a:lnTo>
                  <a:pt x="50903" y="120320"/>
                </a:lnTo>
                <a:close/>
                <a:moveTo>
                  <a:pt x="27765" y="100763"/>
                </a:moveTo>
                <a:lnTo>
                  <a:pt x="4627" y="87403"/>
                </a:lnTo>
                <a:lnTo>
                  <a:pt x="4627" y="203094"/>
                </a:lnTo>
                <a:lnTo>
                  <a:pt x="4627" y="226232"/>
                </a:lnTo>
                <a:lnTo>
                  <a:pt x="4627" y="249370"/>
                </a:lnTo>
                <a:lnTo>
                  <a:pt x="83819" y="249370"/>
                </a:lnTo>
                <a:lnTo>
                  <a:pt x="97179" y="226232"/>
                </a:lnTo>
                <a:lnTo>
                  <a:pt x="27765" y="226232"/>
                </a:lnTo>
                <a:lnTo>
                  <a:pt x="27765" y="203094"/>
                </a:lnTo>
                <a:close/>
                <a:moveTo>
                  <a:pt x="106957" y="249370"/>
                </a:moveTo>
                <a:lnTo>
                  <a:pt x="120317" y="226232"/>
                </a:lnTo>
                <a:lnTo>
                  <a:pt x="106434" y="226232"/>
                </a:lnTo>
                <a:lnTo>
                  <a:pt x="93075" y="2493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512" userDrawn="1">
          <p15:clr>
            <a:srgbClr val="FBAE40"/>
          </p15:clr>
        </p15:guide>
        <p15:guide id="3" orient="horz" pos="608" userDrawn="1">
          <p15:clr>
            <a:srgbClr val="FBAE40"/>
          </p15:clr>
        </p15:guide>
        <p15:guide id="4" orient="horz" pos="2912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マスター タイトル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32512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96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マスター テキスト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lnSpc>
          <a:spcPct val="120000"/>
        </a:lnSpc>
        <a:defRPr sz="2200" b="1">
          <a:solidFill>
            <a:schemeClr val="tx1"/>
          </a:solidFill>
          <a:latin typeface="+mj-lt"/>
          <a:ea typeface="+mj-ea"/>
        </a:defRPr>
      </a:lvl1pPr>
    </p:titleStyle>
    <p:bodyStyle>
      <a:lvl1pPr marL="0" indent="0">
        <a:lnSpc>
          <a:spcPct val="140000"/>
        </a:lnSpc>
        <a:spcBef>
          <a:spcPts val="600"/>
        </a:spcBef>
        <a:buNone/>
        <a:defRPr sz="1400">
          <a:solidFill>
            <a:schemeClr val="tx1"/>
          </a:solidFill>
          <a:latin typeface="+mn-lt"/>
          <a:ea typeface="+mn-ea"/>
        </a:defRPr>
      </a:lvl1pPr>
      <a:lvl2pPr marL="228600" indent="-127000">
        <a:lnSpc>
          <a:spcPct val="140000"/>
        </a:lnSpc>
        <a:spcBef>
          <a:spcPts val="300"/>
        </a:spcBef>
        <a:buFont typeface="Noto Sans JP"/>
        <a:buChar char="•"/>
        <a:defRPr sz="1400">
          <a:solidFill>
            <a:schemeClr val="tx1"/>
          </a:solidFill>
          <a:latin typeface="+mn-lt"/>
          <a:ea typeface="+mn-ea"/>
        </a:defRPr>
      </a:lvl2pPr>
      <a:lvl3pPr marL="406400" indent="-127000">
        <a:lnSpc>
          <a:spcPct val="140000"/>
        </a:lnSpc>
        <a:spcBef>
          <a:spcPts val="300"/>
        </a:spcBef>
        <a:buFont typeface="Noto Sans JP"/>
        <a:buChar char="◦"/>
        <a:defRPr sz="1200">
          <a:solidFill>
            <a:schemeClr val="tx1"/>
          </a:solidFill>
          <a:latin typeface="+mn-lt"/>
          <a:ea typeface="+mn-ea"/>
        </a:defRPr>
      </a:lvl3pPr>
    </p:bodyStyle>
    <p:otherStyle>
      <a:defPPr>
        <a:defRPr lang="ja-JP"/>
      </a:defPPr>
    </p:otherStyle>
  </p:txStyles>
  <p:extLst>
    <p:ext uri="{27BBF7A9-308A-43DC-89C8-2F10F3537804}">
      <p15:sldGuideLst xmlns:p15="http://schemas.microsoft.com/office/powerpoint/2012/main">
        <p15:guide id="1" pos="288" userDrawn="1">
          <p15:clr>
            <a:srgbClr val="E46962"/>
          </p15:clr>
        </p15:guide>
        <p15:guide id="2" pos="5472" userDrawn="1">
          <p15:clr>
            <a:srgbClr val="E46962"/>
          </p15:clr>
        </p15:guide>
        <p15:guide id="3" orient="horz" pos="192" userDrawn="1">
          <p15:clr>
            <a:srgbClr val="E46962"/>
          </p15:clr>
        </p15:guide>
        <p15:guide id="4" orient="horz" pos="3104" userDrawn="1">
          <p15:clr>
            <a:srgbClr val="E46962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ssification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/>
              <a:t>公開用 ｜ ドラフト</a:t>
            </a:r>
          </a:p>
        </p:txBody>
      </p:sp>
      <p:sp>
        <p:nvSpPr>
          <p:cNvPr id="3" name="Recipient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だいきの試作室　読者のみなさまへ</a:t>
            </a:r>
          </a:p>
        </p:txBody>
      </p:sp>
      <p:sp>
        <p:nvSpPr>
          <p:cNvPr id="4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/>
              <a:t>note トラフィック</a:t>
            </a:r>
          </a:p>
          <a:p>
            <a:r>
              <a:rPr lang="ja-JP"/>
              <a:t>レポート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/>
              <a:t>2026年9月の読まれ方と次の一手</a:t>
            </a:r>
          </a:p>
        </p:txBody>
      </p:sp>
      <p:sp>
        <p:nvSpPr>
          <p:cNvPr id="6" name="Meta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ja-JP"/>
              <a:t>2026-09-18 ｜ Bigtree Lab ｜ だいき君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ber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今月の読まれ方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ber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今月の読まれ方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目次</a:t>
            </a:r>
          </a:p>
        </p:txBody>
      </p:sp>
      <p:sp>
        <p:nvSpPr>
          <p:cNvPr id="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写真ギャラリー</a:t>
            </a:r>
          </a:p>
        </p:txBody>
      </p:sp>
      <p:sp>
        <p:nvSpPr>
          <p:cNvPr id="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PV は前月比 128%、スキは 1.6 倍に伸びた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連載 #3 が検索から読まれ続け、全体を押し上げている</a:t>
            </a:r>
          </a:p>
        </p:txBody>
      </p:sp>
      <p:sp>
        <p:nvSpPr>
          <p:cNvPr id="4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連載 #3「AIエージェント時代のnote執筆」が検索経由で安定して読まれている</a:t>
            </a:r>
          </a:p>
          <a:p>
            <a:pPr lvl="1"/>
            <a:r>
              <a:rPr lang="ja-JP"/>
              <a:t>検索流入は前月比 142%。「note 自動投稿」「Claude Code note」が上位</a:t>
            </a:r>
          </a:p>
          <a:p>
            <a:pPr lvl="0"/>
            <a:r>
              <a:rPr lang="ja-JP"/>
              <a:t>スキ率（スキ ÷ PV）は 4.8% → 6.1% に改善</a:t>
            </a:r>
          </a:p>
          <a:p>
            <a:pPr lvl="0"/>
            <a:r>
              <a:rPr lang="ja-JP"/>
              <a:t>次の一手：連載 #4 は Office テンプレート編。9月中に公開する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記事別 PV・スキ一覧（2026年9月）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#1 はじめに：AI と一緒に note を書く ─ PV 2,140 ／ スキ 96</a:t>
            </a:r>
          </a:p>
          <a:p>
            <a:pPr lvl="0"/>
            <a:r>
              <a:rPr lang="ja-JP"/>
              <a:t>#2 挿絵は HTML で作る ─ PV 1,820 ／ スキ 121</a:t>
            </a:r>
          </a:p>
          <a:p>
            <a:pPr lvl="0"/>
            <a:r>
              <a:rPr lang="ja-JP"/>
              <a:t>#3 眠っていた才能 ─ PV 3,560 ／ スキ 214</a:t>
            </a:r>
          </a:p>
          <a:p>
            <a:pPr lvl="1"/>
            <a:r>
              <a:rPr lang="ja-JP"/>
              <a:t>検索流入が全体の 58%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今月の到達点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PV は伸びたが、フォロワーはまだ動いていない</a:t>
            </a:r>
          </a:p>
        </p:txBody>
      </p:sp>
      <p:grpSp>
        <p:nvGrpSpPr>
          <p:cNvPr id="15" name="organism/O-B22 ビッグナンバー"/>
          <p:cNvGrpSpPr/>
          <p:nvPr/>
        </p:nvGrpSpPr>
        <p:grpSpPr>
          <a:xfrm>
            <a:off x="457200" y="2362200"/>
            <a:ext cx="8229600" cy="1270000"/>
            <a:chOff x="457200" y="2362200"/>
            <a:chExt cx="8229600" cy="1270000"/>
          </a:xfrm>
        </p:grpSpPr>
        <p:sp>
          <p:nvSpPr>
            <p:cNvPr id="4" name="Label_1"/>
            <p:cNvSpPr txBox="1"/>
            <p:nvPr/>
          </p:nvSpPr>
          <p:spPr>
            <a:xfrm>
              <a:off x="457200" y="23622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月間 PV</a:t>
              </a:r>
            </a:p>
          </p:txBody>
        </p:sp>
        <p:sp>
          <p:nvSpPr>
            <p:cNvPr id="5" name="Number_1"/>
            <p:cNvSpPr txBox="1"/>
            <p:nvPr/>
          </p:nvSpPr>
          <p:spPr>
            <a:xfrm>
              <a:off x="457200" y="2565400"/>
              <a:ext cx="2540000" cy="476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3740"/>
                </a:lnSpc>
                <a:spcBef>
                  <a:spcPts val="0"/>
                </a:spcBef>
                <a:buNone/>
                <a:defRPr sz="34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12.4K</a:t>
              </a:r>
            </a:p>
          </p:txBody>
        </p:sp>
        <p:sp>
          <p:nvSpPr>
            <p:cNvPr id="6" name="Sub_1"/>
            <p:cNvSpPr txBox="1"/>
            <p:nvPr/>
          </p:nvSpPr>
          <p:spPr>
            <a:xfrm>
              <a:off x="457200" y="3225800"/>
              <a:ext cx="2540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128%</a:t>
              </a:r>
            </a:p>
          </p:txBody>
        </p:sp>
        <p:sp>
          <p:nvSpPr>
            <p:cNvPr id="7" name="Rule_1"/>
            <p:cNvSpPr/>
            <p:nvPr/>
          </p:nvSpPr>
          <p:spPr>
            <a:xfrm>
              <a:off x="3149600" y="2413000"/>
              <a:ext cx="6350" cy="101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Label_2"/>
            <p:cNvSpPr txBox="1"/>
            <p:nvPr/>
          </p:nvSpPr>
          <p:spPr>
            <a:xfrm>
              <a:off x="3302000" y="23622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</a:t>
              </a:r>
            </a:p>
          </p:txBody>
        </p:sp>
        <p:sp>
          <p:nvSpPr>
            <p:cNvPr id="9" name="Number_2"/>
            <p:cNvSpPr txBox="1"/>
            <p:nvPr/>
          </p:nvSpPr>
          <p:spPr>
            <a:xfrm>
              <a:off x="3302000" y="2565400"/>
              <a:ext cx="2540000" cy="476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3740"/>
                </a:lnSpc>
                <a:spcBef>
                  <a:spcPts val="0"/>
                </a:spcBef>
                <a:buNone/>
                <a:defRPr sz="34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486</a:t>
              </a:r>
            </a:p>
          </p:txBody>
        </p:sp>
        <p:sp>
          <p:nvSpPr>
            <p:cNvPr id="10" name="Sub_2"/>
            <p:cNvSpPr txBox="1"/>
            <p:nvPr/>
          </p:nvSpPr>
          <p:spPr>
            <a:xfrm>
              <a:off x="3302000" y="3225800"/>
              <a:ext cx="2540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116%</a:t>
              </a:r>
            </a:p>
          </p:txBody>
        </p:sp>
        <p:sp>
          <p:nvSpPr>
            <p:cNvPr id="11" name="Rule_2"/>
            <p:cNvSpPr/>
            <p:nvPr/>
          </p:nvSpPr>
          <p:spPr>
            <a:xfrm>
              <a:off x="5994400" y="2413000"/>
              <a:ext cx="6350" cy="101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Label_3"/>
            <p:cNvSpPr txBox="1"/>
            <p:nvPr/>
          </p:nvSpPr>
          <p:spPr>
            <a:xfrm>
              <a:off x="6146800" y="23622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フォロワー</a:t>
              </a:r>
            </a:p>
          </p:txBody>
        </p:sp>
        <p:sp>
          <p:nvSpPr>
            <p:cNvPr id="13" name="Number_3"/>
            <p:cNvSpPr txBox="1"/>
            <p:nvPr/>
          </p:nvSpPr>
          <p:spPr>
            <a:xfrm>
              <a:off x="6146800" y="2565400"/>
              <a:ext cx="2540000" cy="476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3740"/>
                </a:lnSpc>
                <a:spcBef>
                  <a:spcPts val="0"/>
                </a:spcBef>
                <a:buNone/>
                <a:defRPr sz="34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1,204</a:t>
              </a:r>
            </a:p>
          </p:txBody>
        </p:sp>
        <p:sp>
          <p:nvSpPr>
            <p:cNvPr id="14" name="Sub_3"/>
            <p:cNvSpPr txBox="1"/>
            <p:nvPr/>
          </p:nvSpPr>
          <p:spPr>
            <a:xfrm>
              <a:off x="6146800" y="3225800"/>
              <a:ext cx="2540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104%</a:t>
              </a:r>
            </a:p>
          </p:txBody>
        </p:sp>
      </p:grpSp>
      <p:sp>
        <p:nvSpPr>
          <p:cNvPr id="16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今月の主要指標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スキ率が 6.1% に改善（+1.3pt）</a:t>
            </a:r>
          </a:p>
        </p:txBody>
      </p:sp>
      <p:grpSp>
        <p:nvGrpSpPr>
          <p:cNvPr id="24" name="organism/O-B11 KPIハイライト"/>
          <p:cNvGrpSpPr/>
          <p:nvPr/>
        </p:nvGrpSpPr>
        <p:grpSpPr>
          <a:xfrm>
            <a:off x="457200" y="2044700"/>
            <a:ext cx="8229600" cy="1905000"/>
            <a:chOff x="457200" y="2044700"/>
            <a:chExt cx="8229600" cy="1905000"/>
          </a:xfrm>
        </p:grpSpPr>
        <p:sp>
          <p:nvSpPr>
            <p:cNvPr id="4" name="Card_1"/>
            <p:cNvSpPr/>
            <p:nvPr/>
          </p:nvSpPr>
          <p:spPr>
            <a:xfrm>
              <a:off x="457200" y="2044700"/>
              <a:ext cx="190500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Label_1"/>
            <p:cNvSpPr txBox="1"/>
            <p:nvPr/>
          </p:nvSpPr>
          <p:spPr>
            <a:xfrm>
              <a:off x="635000" y="2273300"/>
              <a:ext cx="1549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</a:t>
              </a:r>
            </a:p>
          </p:txBody>
        </p:sp>
        <p:sp>
          <p:nvSpPr>
            <p:cNvPr id="6" name="Value_1"/>
            <p:cNvSpPr txBox="1"/>
            <p:nvPr/>
          </p:nvSpPr>
          <p:spPr>
            <a:xfrm>
              <a:off x="635000" y="2552700"/>
              <a:ext cx="15494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12.5K</a:t>
              </a:r>
            </a:p>
          </p:txBody>
        </p:sp>
        <p:sp>
          <p:nvSpPr>
            <p:cNvPr id="7" name="Rule_1"/>
            <p:cNvSpPr/>
            <p:nvPr/>
          </p:nvSpPr>
          <p:spPr>
            <a:xfrm>
              <a:off x="635000" y="3162300"/>
              <a:ext cx="304800" cy="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Sub_1"/>
            <p:cNvSpPr txBox="1"/>
            <p:nvPr/>
          </p:nvSpPr>
          <p:spPr>
            <a:xfrm>
              <a:off x="635000" y="3340100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128%</a:t>
              </a:r>
            </a:p>
          </p:txBody>
        </p:sp>
        <p:sp>
          <p:nvSpPr>
            <p:cNvPr id="9" name="Card_2"/>
            <p:cNvSpPr/>
            <p:nvPr/>
          </p:nvSpPr>
          <p:spPr>
            <a:xfrm>
              <a:off x="2565400" y="2044700"/>
              <a:ext cx="190500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Label_2"/>
            <p:cNvSpPr txBox="1"/>
            <p:nvPr/>
          </p:nvSpPr>
          <p:spPr>
            <a:xfrm>
              <a:off x="2743200" y="2273300"/>
              <a:ext cx="1549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</a:t>
              </a:r>
            </a:p>
          </p:txBody>
        </p:sp>
        <p:sp>
          <p:nvSpPr>
            <p:cNvPr id="11" name="Value_2"/>
            <p:cNvSpPr txBox="1"/>
            <p:nvPr/>
          </p:nvSpPr>
          <p:spPr>
            <a:xfrm>
              <a:off x="2743200" y="2552700"/>
              <a:ext cx="15494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431</a:t>
              </a:r>
            </a:p>
          </p:txBody>
        </p:sp>
        <p:sp>
          <p:nvSpPr>
            <p:cNvPr id="12" name="Rule_2"/>
            <p:cNvSpPr/>
            <p:nvPr/>
          </p:nvSpPr>
          <p:spPr>
            <a:xfrm>
              <a:off x="2743200" y="3162300"/>
              <a:ext cx="304800" cy="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Sub_2"/>
            <p:cNvSpPr txBox="1"/>
            <p:nvPr/>
          </p:nvSpPr>
          <p:spPr>
            <a:xfrm>
              <a:off x="2743200" y="3340100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162%</a:t>
              </a:r>
            </a:p>
          </p:txBody>
        </p:sp>
        <p:sp>
          <p:nvSpPr>
            <p:cNvPr id="14" name="Card_3"/>
            <p:cNvSpPr/>
            <p:nvPr/>
          </p:nvSpPr>
          <p:spPr>
            <a:xfrm>
              <a:off x="4673600" y="2044700"/>
              <a:ext cx="190500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5" name="Label_3"/>
            <p:cNvSpPr txBox="1"/>
            <p:nvPr/>
          </p:nvSpPr>
          <p:spPr>
            <a:xfrm>
              <a:off x="4851400" y="2273300"/>
              <a:ext cx="1549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スキ率</a:t>
              </a:r>
            </a:p>
          </p:txBody>
        </p:sp>
        <p:sp>
          <p:nvSpPr>
            <p:cNvPr id="16" name="Value_3"/>
            <p:cNvSpPr txBox="1"/>
            <p:nvPr/>
          </p:nvSpPr>
          <p:spPr>
            <a:xfrm>
              <a:off x="4851400" y="2552700"/>
              <a:ext cx="15494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6.1%</a:t>
              </a:r>
            </a:p>
          </p:txBody>
        </p:sp>
        <p:sp>
          <p:nvSpPr>
            <p:cNvPr id="17" name="Rule_3"/>
            <p:cNvSpPr/>
            <p:nvPr/>
          </p:nvSpPr>
          <p:spPr>
            <a:xfrm>
              <a:off x="4851400" y="3162300"/>
              <a:ext cx="304800" cy="25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Sub_3"/>
            <p:cNvSpPr txBox="1"/>
            <p:nvPr/>
          </p:nvSpPr>
          <p:spPr>
            <a:xfrm>
              <a:off x="4851400" y="3340100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+1.3pt</a:t>
              </a:r>
            </a:p>
          </p:txBody>
        </p:sp>
        <p:sp>
          <p:nvSpPr>
            <p:cNvPr id="19" name="Card_4"/>
            <p:cNvSpPr/>
            <p:nvPr/>
          </p:nvSpPr>
          <p:spPr>
            <a:xfrm>
              <a:off x="6781800" y="2044700"/>
              <a:ext cx="190500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0" name="Label_4"/>
            <p:cNvSpPr txBox="1"/>
            <p:nvPr/>
          </p:nvSpPr>
          <p:spPr>
            <a:xfrm>
              <a:off x="6959600" y="2273300"/>
              <a:ext cx="1549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フォロワー</a:t>
              </a:r>
            </a:p>
          </p:txBody>
        </p:sp>
        <p:sp>
          <p:nvSpPr>
            <p:cNvPr id="21" name="Value_4"/>
            <p:cNvSpPr txBox="1"/>
            <p:nvPr/>
          </p:nvSpPr>
          <p:spPr>
            <a:xfrm>
              <a:off x="6959600" y="2552700"/>
              <a:ext cx="15494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1,204</a:t>
              </a:r>
            </a:p>
          </p:txBody>
        </p:sp>
        <p:sp>
          <p:nvSpPr>
            <p:cNvPr id="22" name="Rule_4"/>
            <p:cNvSpPr/>
            <p:nvPr/>
          </p:nvSpPr>
          <p:spPr>
            <a:xfrm>
              <a:off x="6959600" y="3162300"/>
              <a:ext cx="304800" cy="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Sub_4"/>
            <p:cNvSpPr txBox="1"/>
            <p:nvPr/>
          </p:nvSpPr>
          <p:spPr>
            <a:xfrm>
              <a:off x="6959600" y="3340100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+86</a:t>
              </a:r>
            </a:p>
          </p:txBody>
        </p:sp>
      </p:grpSp>
      <p:sp>
        <p:nvSpPr>
          <p:cNvPr id="2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スキ数の分解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PV より、スキ率の改善が効いている</a:t>
            </a:r>
          </a:p>
        </p:txBody>
      </p:sp>
      <p:grpSp>
        <p:nvGrpSpPr>
          <p:cNvPr id="18" name="organism/O-B7 乗算式フロー"/>
          <p:cNvGrpSpPr/>
          <p:nvPr/>
        </p:nvGrpSpPr>
        <p:grpSpPr>
          <a:xfrm>
            <a:off x="457200" y="2044700"/>
            <a:ext cx="8229600" cy="1905000"/>
            <a:chOff x="457200" y="2044700"/>
            <a:chExt cx="8229600" cy="1905000"/>
          </a:xfrm>
        </p:grpSpPr>
        <p:sp>
          <p:nvSpPr>
            <p:cNvPr id="4" name="Card_1"/>
            <p:cNvSpPr/>
            <p:nvPr/>
          </p:nvSpPr>
          <p:spPr>
            <a:xfrm>
              <a:off x="457200" y="2298700"/>
              <a:ext cx="2286000" cy="1397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Name_1"/>
            <p:cNvSpPr txBox="1"/>
            <p:nvPr/>
          </p:nvSpPr>
          <p:spPr>
            <a:xfrm>
              <a:off x="457200" y="2501900"/>
              <a:ext cx="2286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</a:t>
              </a:r>
            </a:p>
          </p:txBody>
        </p:sp>
        <p:sp>
          <p:nvSpPr>
            <p:cNvPr id="6" name="Value_1"/>
            <p:cNvSpPr txBox="1"/>
            <p:nvPr/>
          </p:nvSpPr>
          <p:spPr>
            <a:xfrm>
              <a:off x="457200" y="2743200"/>
              <a:ext cx="22860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12.5K</a:t>
              </a:r>
            </a:p>
          </p:txBody>
        </p:sp>
        <p:sp>
          <p:nvSpPr>
            <p:cNvPr id="7" name="Sub_1"/>
            <p:cNvSpPr txBox="1"/>
            <p:nvPr/>
          </p:nvSpPr>
          <p:spPr>
            <a:xfrm>
              <a:off x="457200" y="3289300"/>
              <a:ext cx="228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読まれた回数</a:t>
              </a:r>
            </a:p>
          </p:txBody>
        </p:sp>
        <p:sp>
          <p:nvSpPr>
            <p:cNvPr id="8" name="Op_1"/>
            <p:cNvSpPr txBox="1"/>
            <p:nvPr/>
          </p:nvSpPr>
          <p:spPr>
            <a:xfrm>
              <a:off x="2743200" y="2806700"/>
              <a:ext cx="6858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×</a:t>
              </a:r>
            </a:p>
          </p:txBody>
        </p:sp>
        <p:sp>
          <p:nvSpPr>
            <p:cNvPr id="9" name="Card_2"/>
            <p:cNvSpPr/>
            <p:nvPr/>
          </p:nvSpPr>
          <p:spPr>
            <a:xfrm>
              <a:off x="3429000" y="2298700"/>
              <a:ext cx="2286000" cy="1397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Name_2"/>
            <p:cNvSpPr txBox="1"/>
            <p:nvPr/>
          </p:nvSpPr>
          <p:spPr>
            <a:xfrm>
              <a:off x="3429000" y="2501900"/>
              <a:ext cx="2286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スキ率</a:t>
              </a:r>
            </a:p>
          </p:txBody>
        </p:sp>
        <p:sp>
          <p:nvSpPr>
            <p:cNvPr id="11" name="Value_2"/>
            <p:cNvSpPr txBox="1"/>
            <p:nvPr/>
          </p:nvSpPr>
          <p:spPr>
            <a:xfrm>
              <a:off x="3429000" y="2743200"/>
              <a:ext cx="22860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6.1%</a:t>
              </a:r>
            </a:p>
          </p:txBody>
        </p:sp>
        <p:sp>
          <p:nvSpPr>
            <p:cNvPr id="12" name="Sub_2"/>
            <p:cNvSpPr txBox="1"/>
            <p:nvPr/>
          </p:nvSpPr>
          <p:spPr>
            <a:xfrm>
              <a:off x="3429000" y="3289300"/>
              <a:ext cx="228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読者の反応</a:t>
              </a:r>
            </a:p>
          </p:txBody>
        </p:sp>
        <p:sp>
          <p:nvSpPr>
            <p:cNvPr id="13" name="Op_2"/>
            <p:cNvSpPr txBox="1"/>
            <p:nvPr/>
          </p:nvSpPr>
          <p:spPr>
            <a:xfrm>
              <a:off x="5715000" y="2806700"/>
              <a:ext cx="6858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=</a:t>
              </a:r>
            </a:p>
          </p:txBody>
        </p:sp>
        <p:sp>
          <p:nvSpPr>
            <p:cNvPr id="14" name="Card_3"/>
            <p:cNvSpPr/>
            <p:nvPr/>
          </p:nvSpPr>
          <p:spPr>
            <a:xfrm>
              <a:off x="6400800" y="2298700"/>
              <a:ext cx="2286000" cy="1397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5" name="Name_3"/>
            <p:cNvSpPr txBox="1"/>
            <p:nvPr/>
          </p:nvSpPr>
          <p:spPr>
            <a:xfrm>
              <a:off x="6400800" y="2501900"/>
              <a:ext cx="2286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</a:t>
              </a:r>
            </a:p>
          </p:txBody>
        </p:sp>
        <p:sp>
          <p:nvSpPr>
            <p:cNvPr id="16" name="Value_3"/>
            <p:cNvSpPr txBox="1"/>
            <p:nvPr/>
          </p:nvSpPr>
          <p:spPr>
            <a:xfrm>
              <a:off x="6400800" y="2743200"/>
              <a:ext cx="22860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431</a:t>
              </a:r>
            </a:p>
          </p:txBody>
        </p:sp>
        <p:sp>
          <p:nvSpPr>
            <p:cNvPr id="17" name="Sub_3"/>
            <p:cNvSpPr txBox="1"/>
            <p:nvPr/>
          </p:nvSpPr>
          <p:spPr>
            <a:xfrm>
              <a:off x="6400800" y="3289300"/>
              <a:ext cx="228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積み上がる評価</a:t>
              </a:r>
            </a:p>
          </p:txBody>
        </p:sp>
      </p:grpSp>
      <p:sp>
        <p:nvSpPr>
          <p:cNvPr id="19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note 執筆を支える4つの層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下の層が安定しているほど、上の層に時間を使える</a:t>
            </a:r>
          </a:p>
        </p:txBody>
      </p:sp>
      <p:grpSp>
        <p:nvGrpSpPr>
          <p:cNvPr id="32" name="organism/O-B15 ピラミッド／レイヤー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Layer_1"/>
            <p:cNvSpPr/>
            <p:nvPr/>
          </p:nvSpPr>
          <p:spPr>
            <a:xfrm>
              <a:off x="1219200" y="1727200"/>
              <a:ext cx="2540000" cy="609600"/>
            </a:xfrm>
            <a:custGeom>
              <a:avLst/>
              <a:gdLst/>
              <a:ahLst/>
              <a:cxnLst/>
              <a:rect l="0" t="0" r="r" b="b"/>
              <a:pathLst>
                <a:path w="2540000" h="609600">
                  <a:moveTo>
                    <a:pt x="254000" y="0"/>
                  </a:moveTo>
                  <a:lnTo>
                    <a:pt x="2286000" y="0"/>
                  </a:lnTo>
                  <a:lnTo>
                    <a:pt x="2540000" y="609600"/>
                  </a:lnTo>
                  <a:lnTo>
                    <a:pt x="0" y="6096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chemeClr val="accent1">
                <a:alpha val="35000"/>
              </a:schemeClr>
            </a:solidFill>
            <a:ln>
              <a:noFill/>
            </a:ln>
          </p:spPr>
        </p:sp>
        <p:sp>
          <p:nvSpPr>
            <p:cNvPr id="5" name="LayerName_1"/>
            <p:cNvSpPr txBox="1"/>
            <p:nvPr/>
          </p:nvSpPr>
          <p:spPr>
            <a:xfrm>
              <a:off x="1219200" y="1816100"/>
              <a:ext cx="2540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読者に届く価値</a:t>
              </a:r>
            </a:p>
          </p:txBody>
        </p:sp>
        <p:sp>
          <p:nvSpPr>
            <p:cNvPr id="6" name="LayerSub_1"/>
            <p:cNvSpPr txBox="1"/>
            <p:nvPr/>
          </p:nvSpPr>
          <p:spPr>
            <a:xfrm>
              <a:off x="1219200" y="20955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気づき・再現できる手順</a:t>
              </a:r>
            </a:p>
          </p:txBody>
        </p:sp>
        <p:sp>
          <p:nvSpPr>
            <p:cNvPr id="7" name="Dot_1"/>
            <p:cNvSpPr/>
            <p:nvPr/>
          </p:nvSpPr>
          <p:spPr>
            <a:xfrm>
              <a:off x="3689350" y="2000250"/>
              <a:ext cx="63500" cy="63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8" name="Leader_1"/>
            <p:cNvSpPr/>
            <p:nvPr/>
          </p:nvSpPr>
          <p:spPr>
            <a:xfrm>
              <a:off x="3721100" y="2025650"/>
              <a:ext cx="1308100" cy="1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9" name="Note_1"/>
            <p:cNvSpPr/>
            <p:nvPr/>
          </p:nvSpPr>
          <p:spPr>
            <a:xfrm>
              <a:off x="5029200" y="1778000"/>
              <a:ext cx="3657600" cy="50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NoteText_1"/>
            <p:cNvSpPr txBox="1"/>
            <p:nvPr/>
          </p:nvSpPr>
          <p:spPr>
            <a:xfrm>
              <a:off x="5156200" y="1841500"/>
              <a:ext cx="340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読まれた先に残るもの。PV より、スキと保存を指標に見る</a:t>
              </a:r>
            </a:p>
          </p:txBody>
        </p:sp>
        <p:sp>
          <p:nvSpPr>
            <p:cNvPr id="11" name="Layer_2"/>
            <p:cNvSpPr/>
            <p:nvPr/>
          </p:nvSpPr>
          <p:spPr>
            <a:xfrm>
              <a:off x="965200" y="2362200"/>
              <a:ext cx="3048000" cy="609600"/>
            </a:xfrm>
            <a:custGeom>
              <a:avLst/>
              <a:gdLst/>
              <a:ahLst/>
              <a:cxnLst/>
              <a:rect l="0" t="0" r="r" b="b"/>
              <a:pathLst>
                <a:path w="3048000" h="609600">
                  <a:moveTo>
                    <a:pt x="254000" y="0"/>
                  </a:moveTo>
                  <a:lnTo>
                    <a:pt x="2794000" y="0"/>
                  </a:lnTo>
                  <a:lnTo>
                    <a:pt x="3048000" y="609600"/>
                  </a:lnTo>
                  <a:lnTo>
                    <a:pt x="0" y="6096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12" name="LayerName_2"/>
            <p:cNvSpPr txBox="1"/>
            <p:nvPr/>
          </p:nvSpPr>
          <p:spPr>
            <a:xfrm>
              <a:off x="965200" y="2451100"/>
              <a:ext cx="3048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記事</a:t>
              </a:r>
            </a:p>
          </p:txBody>
        </p:sp>
        <p:sp>
          <p:nvSpPr>
            <p:cNvPr id="13" name="LayerSub_2"/>
            <p:cNvSpPr txBox="1"/>
            <p:nvPr/>
          </p:nvSpPr>
          <p:spPr>
            <a:xfrm>
              <a:off x="965200" y="2730500"/>
              <a:ext cx="3048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週2本、一次情報を中心に</a:t>
              </a:r>
            </a:p>
          </p:txBody>
        </p:sp>
        <p:sp>
          <p:nvSpPr>
            <p:cNvPr id="14" name="Dot_2"/>
            <p:cNvSpPr/>
            <p:nvPr/>
          </p:nvSpPr>
          <p:spPr>
            <a:xfrm>
              <a:off x="3943350" y="2635250"/>
              <a:ext cx="63500" cy="63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15" name="Leader_2"/>
            <p:cNvSpPr/>
            <p:nvPr/>
          </p:nvSpPr>
          <p:spPr>
            <a:xfrm>
              <a:off x="3975100" y="2660650"/>
              <a:ext cx="1054100" cy="1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16" name="Note_2"/>
            <p:cNvSpPr/>
            <p:nvPr/>
          </p:nvSpPr>
          <p:spPr>
            <a:xfrm>
              <a:off x="5029200" y="2413000"/>
              <a:ext cx="3657600" cy="50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7" name="NoteText_2"/>
            <p:cNvSpPr txBox="1"/>
            <p:nvPr/>
          </p:nvSpPr>
          <p:spPr>
            <a:xfrm>
              <a:off x="5156200" y="2476500"/>
              <a:ext cx="340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連載「AIエージェント時代のnote執筆」。見出しだけで話が通る構成</a:t>
              </a:r>
            </a:p>
          </p:txBody>
        </p:sp>
        <p:sp>
          <p:nvSpPr>
            <p:cNvPr id="18" name="Layer_3"/>
            <p:cNvSpPr/>
            <p:nvPr/>
          </p:nvSpPr>
          <p:spPr>
            <a:xfrm>
              <a:off x="711200" y="2997200"/>
              <a:ext cx="3556000" cy="609600"/>
            </a:xfrm>
            <a:custGeom>
              <a:avLst/>
              <a:gdLst/>
              <a:ahLst/>
              <a:cxnLst/>
              <a:rect l="0" t="0" r="r" b="b"/>
              <a:pathLst>
                <a:path w="3556000" h="609600">
                  <a:moveTo>
                    <a:pt x="254000" y="0"/>
                  </a:moveTo>
                  <a:lnTo>
                    <a:pt x="3302000" y="0"/>
                  </a:lnTo>
                  <a:lnTo>
                    <a:pt x="3556000" y="609600"/>
                  </a:lnTo>
                  <a:lnTo>
                    <a:pt x="0" y="6096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</p:sp>
        <p:sp>
          <p:nvSpPr>
            <p:cNvPr id="19" name="LayerName_3"/>
            <p:cNvSpPr txBox="1"/>
            <p:nvPr/>
          </p:nvSpPr>
          <p:spPr>
            <a:xfrm>
              <a:off x="711200" y="30861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挿絵・図解</a:t>
              </a:r>
            </a:p>
          </p:txBody>
        </p:sp>
        <p:sp>
          <p:nvSpPr>
            <p:cNvPr id="20" name="LayerSub_3"/>
            <p:cNvSpPr txBox="1"/>
            <p:nvPr/>
          </p:nvSpPr>
          <p:spPr>
            <a:xfrm>
              <a:off x="711200" y="33655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HTML で量産、トークンで統一</a:t>
              </a:r>
            </a:p>
          </p:txBody>
        </p:sp>
        <p:sp>
          <p:nvSpPr>
            <p:cNvPr id="21" name="Dot_3"/>
            <p:cNvSpPr/>
            <p:nvPr/>
          </p:nvSpPr>
          <p:spPr>
            <a:xfrm>
              <a:off x="4197350" y="3270250"/>
              <a:ext cx="63500" cy="63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22" name="Leader_3"/>
            <p:cNvSpPr/>
            <p:nvPr/>
          </p:nvSpPr>
          <p:spPr>
            <a:xfrm>
              <a:off x="4229100" y="3295650"/>
              <a:ext cx="800100" cy="1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23" name="Note_3"/>
            <p:cNvSpPr/>
            <p:nvPr/>
          </p:nvSpPr>
          <p:spPr>
            <a:xfrm>
              <a:off x="5029200" y="3048000"/>
              <a:ext cx="3657600" cy="50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4" name="NoteText_3"/>
            <p:cNvSpPr txBox="1"/>
            <p:nvPr/>
          </p:nvSpPr>
          <p:spPr>
            <a:xfrm>
              <a:off x="5156200" y="3111500"/>
              <a:ext cx="340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挿絵は HTML が正。PNG に書き出して貼る。作り直しが速い</a:t>
              </a:r>
            </a:p>
          </p:txBody>
        </p:sp>
        <p:sp>
          <p:nvSpPr>
            <p:cNvPr id="25" name="Layer_4"/>
            <p:cNvSpPr/>
            <p:nvPr/>
          </p:nvSpPr>
          <p:spPr>
            <a:xfrm>
              <a:off x="457200" y="3632200"/>
              <a:ext cx="4064000" cy="609600"/>
            </a:xfrm>
            <a:custGeom>
              <a:avLst/>
              <a:gdLst/>
              <a:ahLst/>
              <a:cxnLst/>
              <a:rect l="0" t="0" r="r" b="b"/>
              <a:pathLst>
                <a:path w="4064000" h="609600">
                  <a:moveTo>
                    <a:pt x="254000" y="0"/>
                  </a:moveTo>
                  <a:lnTo>
                    <a:pt x="3810000" y="0"/>
                  </a:lnTo>
                  <a:lnTo>
                    <a:pt x="4064000" y="609600"/>
                  </a:lnTo>
                  <a:lnTo>
                    <a:pt x="0" y="6096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LayerName_4"/>
            <p:cNvSpPr txBox="1"/>
            <p:nvPr/>
          </p:nvSpPr>
          <p:spPr>
            <a:xfrm>
              <a:off x="457200" y="3721100"/>
              <a:ext cx="4064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デザインシステム</a:t>
              </a:r>
            </a:p>
          </p:txBody>
        </p:sp>
        <p:sp>
          <p:nvSpPr>
            <p:cNvPr id="27" name="LayerSub_4"/>
            <p:cNvSpPr txBox="1"/>
            <p:nvPr/>
          </p:nvSpPr>
          <p:spPr>
            <a:xfrm>
              <a:off x="457200" y="4000500"/>
              <a:ext cx="406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Figma が正。色・文字・余白</a:t>
              </a:r>
            </a:p>
          </p:txBody>
        </p:sp>
        <p:sp>
          <p:nvSpPr>
            <p:cNvPr id="28" name="Dot_4"/>
            <p:cNvSpPr/>
            <p:nvPr/>
          </p:nvSpPr>
          <p:spPr>
            <a:xfrm>
              <a:off x="4451350" y="3905250"/>
              <a:ext cx="63500" cy="63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29" name="Leader_4"/>
            <p:cNvSpPr/>
            <p:nvPr/>
          </p:nvSpPr>
          <p:spPr>
            <a:xfrm>
              <a:off x="4483100" y="3930650"/>
              <a:ext cx="546100" cy="1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30" name="Note_4"/>
            <p:cNvSpPr/>
            <p:nvPr/>
          </p:nvSpPr>
          <p:spPr>
            <a:xfrm>
              <a:off x="5029200" y="3683000"/>
              <a:ext cx="3657600" cy="50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31" name="NoteText_4"/>
            <p:cNvSpPr txBox="1"/>
            <p:nvPr/>
          </p:nvSpPr>
          <p:spPr>
            <a:xfrm>
              <a:off x="5156200" y="3746500"/>
              <a:ext cx="340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ブログと Office で共通。下の層がないと、上は毎回ぶれる</a:t>
              </a:r>
            </a:p>
          </p:txBody>
        </p:sp>
      </p:grpSp>
      <p:sp>
        <p:nvSpPr>
          <p:cNvPr id="3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3つの層の関係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毎回変わるのは、いちばん内側だけ</a:t>
            </a:r>
          </a:p>
        </p:txBody>
      </p:sp>
      <p:grpSp>
        <p:nvGrpSpPr>
          <p:cNvPr id="16" name="organism/O-B18 包含（入れ子）"/>
          <p:cNvGrpSpPr/>
          <p:nvPr/>
        </p:nvGrpSpPr>
        <p:grpSpPr>
          <a:xfrm>
            <a:off x="457200" y="1663700"/>
            <a:ext cx="8229600" cy="2667000"/>
            <a:chOff x="457200" y="1663700"/>
            <a:chExt cx="8229600" cy="2667000"/>
          </a:xfrm>
        </p:grpSpPr>
        <p:sp>
          <p:nvSpPr>
            <p:cNvPr id="4" name="Ring_デザインシステム"/>
            <p:cNvSpPr/>
            <p:nvPr/>
          </p:nvSpPr>
          <p:spPr>
            <a:xfrm>
              <a:off x="1854200" y="1727200"/>
              <a:ext cx="2540000" cy="2540000"/>
            </a:xfrm>
            <a:prstGeom prst="ellipse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</p:sp>
        <p:sp>
          <p:nvSpPr>
            <p:cNvPr id="5" name="Ring_テンプレート"/>
            <p:cNvSpPr/>
            <p:nvPr/>
          </p:nvSpPr>
          <p:spPr>
            <a:xfrm>
              <a:off x="2171700" y="2044700"/>
              <a:ext cx="1905000" cy="1905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</p:sp>
        <p:sp>
          <p:nvSpPr>
            <p:cNvPr id="6" name="Ring_資料1本"/>
            <p:cNvSpPr/>
            <p:nvPr/>
          </p:nvSpPr>
          <p:spPr>
            <a:xfrm>
              <a:off x="2520950" y="2393950"/>
              <a:ext cx="1206500" cy="120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NoteTitle_デザインシステム"/>
            <p:cNvSpPr txBox="1"/>
            <p:nvPr/>
          </p:nvSpPr>
          <p:spPr>
            <a:xfrm>
              <a:off x="5283200" y="1917700"/>
              <a:ext cx="34036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デザインシステム</a:t>
              </a:r>
            </a:p>
          </p:txBody>
        </p:sp>
        <p:sp>
          <p:nvSpPr>
            <p:cNvPr id="8" name="NoteBody_デザインシステム"/>
            <p:cNvSpPr txBox="1"/>
            <p:nvPr/>
          </p:nvSpPr>
          <p:spPr>
            <a:xfrm>
              <a:off x="5283200" y="2247900"/>
              <a:ext cx="340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色・文字・レイアウトの決まりごと。Figma が正</a:t>
              </a:r>
            </a:p>
          </p:txBody>
        </p:sp>
        <p:sp>
          <p:nvSpPr>
            <p:cNvPr id="9" name="NoteTitle_テンプレート"/>
            <p:cNvSpPr txBox="1"/>
            <p:nvPr/>
          </p:nvSpPr>
          <p:spPr>
            <a:xfrm>
              <a:off x="5283200" y="2679700"/>
              <a:ext cx="34036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テンプレート</a:t>
              </a:r>
            </a:p>
          </p:txBody>
        </p:sp>
        <p:sp>
          <p:nvSpPr>
            <p:cNvPr id="10" name="NoteBody_テンプレート"/>
            <p:cNvSpPr txBox="1"/>
            <p:nvPr/>
          </p:nvSpPr>
          <p:spPr>
            <a:xfrm>
              <a:off x="5283200" y="3009900"/>
              <a:ext cx="340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POTX / DOTX。決まりごとを焼き込んだ器</a:t>
              </a:r>
            </a:p>
          </p:txBody>
        </p:sp>
        <p:sp>
          <p:nvSpPr>
            <p:cNvPr id="11" name="NoteTitle_資料1本"/>
            <p:cNvSpPr txBox="1"/>
            <p:nvPr/>
          </p:nvSpPr>
          <p:spPr>
            <a:xfrm>
              <a:off x="5283200" y="3441700"/>
              <a:ext cx="34036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資料1本</a:t>
              </a:r>
            </a:p>
          </p:txBody>
        </p:sp>
        <p:sp>
          <p:nvSpPr>
            <p:cNvPr id="12" name="NoteBody_資料1本"/>
            <p:cNvSpPr txBox="1"/>
            <p:nvPr/>
          </p:nvSpPr>
          <p:spPr>
            <a:xfrm>
              <a:off x="5283200" y="3771900"/>
              <a:ext cx="340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器に中身を入れたもの。毎回ここだけが変わる</a:t>
              </a:r>
            </a:p>
          </p:txBody>
        </p:sp>
        <p:sp>
          <p:nvSpPr>
            <p:cNvPr id="13" name="Label_3"/>
            <p:cNvSpPr txBox="1"/>
            <p:nvPr/>
          </p:nvSpPr>
          <p:spPr>
            <a:xfrm>
              <a:off x="1854200" y="1816100"/>
              <a:ext cx="2540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デザインシステム</a:t>
              </a:r>
            </a:p>
          </p:txBody>
        </p:sp>
        <p:sp>
          <p:nvSpPr>
            <p:cNvPr id="14" name="Label_2"/>
            <p:cNvSpPr txBox="1"/>
            <p:nvPr/>
          </p:nvSpPr>
          <p:spPr>
            <a:xfrm>
              <a:off x="2171700" y="2171700"/>
              <a:ext cx="1905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テンプレート</a:t>
              </a:r>
            </a:p>
          </p:txBody>
        </p:sp>
        <p:sp>
          <p:nvSpPr>
            <p:cNvPr id="15" name="Label_1"/>
            <p:cNvSpPr txBox="1"/>
            <p:nvPr/>
          </p:nvSpPr>
          <p:spPr>
            <a:xfrm>
              <a:off x="2520950" y="2895600"/>
              <a:ext cx="12065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資料1本</a:t>
              </a:r>
            </a:p>
          </p:txBody>
        </p:sp>
      </p:grpSp>
      <p:sp>
        <p:nvSpPr>
          <p:cNvPr id="17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1本の記事ができるまで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準備に時間をかけるほど、下書きは速くなる</a:t>
            </a:r>
          </a:p>
        </p:txBody>
      </p:sp>
      <p:grpSp>
        <p:nvGrpSpPr>
          <p:cNvPr id="39" name="organism/O-B5 プロセスフロー（グルーピング）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Band_準備"/>
            <p:cNvSpPr/>
            <p:nvPr/>
          </p:nvSpPr>
          <p:spPr>
            <a:xfrm>
              <a:off x="457200" y="1854200"/>
              <a:ext cx="3139440" cy="304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5" name="BandLabel_準備"/>
            <p:cNvSpPr txBox="1"/>
            <p:nvPr/>
          </p:nvSpPr>
          <p:spPr>
            <a:xfrm>
              <a:off x="457200" y="1879600"/>
              <a:ext cx="313944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準備フェーズ</a:t>
              </a:r>
            </a:p>
          </p:txBody>
        </p:sp>
        <p:sp>
          <p:nvSpPr>
            <p:cNvPr id="6" name="Band_制作"/>
            <p:cNvSpPr/>
            <p:nvPr/>
          </p:nvSpPr>
          <p:spPr>
            <a:xfrm>
              <a:off x="3850640" y="1854200"/>
              <a:ext cx="313944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BandLabel_制作"/>
            <p:cNvSpPr txBox="1"/>
            <p:nvPr/>
          </p:nvSpPr>
          <p:spPr>
            <a:xfrm>
              <a:off x="3850640" y="1879600"/>
              <a:ext cx="313944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制作フェーズ</a:t>
              </a:r>
            </a:p>
          </p:txBody>
        </p:sp>
        <p:sp>
          <p:nvSpPr>
            <p:cNvPr id="8" name="Band_公開"/>
            <p:cNvSpPr/>
            <p:nvPr/>
          </p:nvSpPr>
          <p:spPr>
            <a:xfrm>
              <a:off x="7244080" y="1854200"/>
              <a:ext cx="1442720" cy="3048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9" name="BandLabel_公開"/>
            <p:cNvSpPr txBox="1"/>
            <p:nvPr/>
          </p:nvSpPr>
          <p:spPr>
            <a:xfrm>
              <a:off x="7244080" y="1879600"/>
              <a:ext cx="144272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公開フェーズ</a:t>
              </a:r>
            </a:p>
          </p:txBody>
        </p:sp>
        <p:sp>
          <p:nvSpPr>
            <p:cNvPr id="10" name="Card_01"/>
            <p:cNvSpPr/>
            <p:nvPr/>
          </p:nvSpPr>
          <p:spPr>
            <a:xfrm>
              <a:off x="45720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1" name="Number_01"/>
            <p:cNvSpPr/>
            <p:nvPr/>
          </p:nvSpPr>
          <p:spPr>
            <a:xfrm>
              <a:off x="58420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NumberText_01"/>
            <p:cNvSpPr txBox="1"/>
            <p:nvPr/>
          </p:nvSpPr>
          <p:spPr>
            <a:xfrm>
              <a:off x="58420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01</a:t>
              </a:r>
            </a:p>
          </p:txBody>
        </p:sp>
        <p:sp>
          <p:nvSpPr>
            <p:cNvPr id="13" name="Title_01"/>
            <p:cNvSpPr txBox="1"/>
            <p:nvPr/>
          </p:nvSpPr>
          <p:spPr>
            <a:xfrm>
              <a:off x="58420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テーマ選び</a:t>
              </a:r>
            </a:p>
          </p:txBody>
        </p:sp>
        <p:sp>
          <p:nvSpPr>
            <p:cNvPr id="14" name="Desc_01"/>
            <p:cNvSpPr txBox="1"/>
            <p:nvPr/>
          </p:nvSpPr>
          <p:spPr>
            <a:xfrm>
              <a:off x="58420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一次情報があるか</a:t>
              </a:r>
            </a:p>
            <a:p>
              <a:r>
                <a:rPr lang="ja-JP"/>
                <a:t>を先に確かめる</a:t>
              </a:r>
            </a:p>
          </p:txBody>
        </p:sp>
        <p:sp>
          <p:nvSpPr>
            <p:cNvPr id="15" name="Arrow_01"/>
            <p:cNvSpPr/>
            <p:nvPr/>
          </p:nvSpPr>
          <p:spPr>
            <a:xfrm>
              <a:off x="1982470" y="3314700"/>
              <a:ext cx="101600" cy="88900"/>
            </a:xfrm>
            <a:custGeom>
              <a:avLst/>
              <a:gdLst/>
              <a:ahLst/>
              <a:cxnLst/>
              <a:rect l="0" t="0" r="r" b="b"/>
              <a:pathLst>
                <a:path w="101600" h="88900">
                  <a:moveTo>
                    <a:pt x="0" y="50800"/>
                  </a:moveTo>
                  <a:lnTo>
                    <a:pt x="-66675" y="94806"/>
                  </a:lnTo>
                  <a:lnTo>
                    <a:pt x="-66675" y="67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16" name="Card_02"/>
            <p:cNvSpPr/>
            <p:nvPr/>
          </p:nvSpPr>
          <p:spPr>
            <a:xfrm>
              <a:off x="215392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7" name="Number_02"/>
            <p:cNvSpPr/>
            <p:nvPr/>
          </p:nvSpPr>
          <p:spPr>
            <a:xfrm>
              <a:off x="228092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NumberText_02"/>
            <p:cNvSpPr txBox="1"/>
            <p:nvPr/>
          </p:nvSpPr>
          <p:spPr>
            <a:xfrm>
              <a:off x="228092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02</a:t>
              </a:r>
            </a:p>
          </p:txBody>
        </p:sp>
        <p:sp>
          <p:nvSpPr>
            <p:cNvPr id="19" name="Title_02"/>
            <p:cNvSpPr txBox="1"/>
            <p:nvPr/>
          </p:nvSpPr>
          <p:spPr>
            <a:xfrm>
              <a:off x="228092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構成づくり</a:t>
              </a:r>
            </a:p>
          </p:txBody>
        </p:sp>
        <p:sp>
          <p:nvSpPr>
            <p:cNvPr id="20" name="Desc_02"/>
            <p:cNvSpPr txBox="1"/>
            <p:nvPr/>
          </p:nvSpPr>
          <p:spPr>
            <a:xfrm>
              <a:off x="228092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見出しだけで</a:t>
              </a:r>
            </a:p>
            <a:p>
              <a:r>
                <a:rPr lang="ja-JP"/>
                <a:t>話が通るか見る</a:t>
              </a:r>
            </a:p>
          </p:txBody>
        </p:sp>
        <p:sp>
          <p:nvSpPr>
            <p:cNvPr id="21" name="Arrow_02"/>
            <p:cNvSpPr/>
            <p:nvPr/>
          </p:nvSpPr>
          <p:spPr>
            <a:xfrm>
              <a:off x="3679190" y="3314700"/>
              <a:ext cx="101600" cy="88900"/>
            </a:xfrm>
            <a:custGeom>
              <a:avLst/>
              <a:gdLst/>
              <a:ahLst/>
              <a:cxnLst/>
              <a:rect l="0" t="0" r="r" b="b"/>
              <a:pathLst>
                <a:path w="101600" h="88900">
                  <a:moveTo>
                    <a:pt x="0" y="50800"/>
                  </a:moveTo>
                  <a:lnTo>
                    <a:pt x="-66675" y="94806"/>
                  </a:lnTo>
                  <a:lnTo>
                    <a:pt x="-66675" y="67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2" name="Card_03"/>
            <p:cNvSpPr/>
            <p:nvPr/>
          </p:nvSpPr>
          <p:spPr>
            <a:xfrm>
              <a:off x="385064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3" name="Number_03"/>
            <p:cNvSpPr/>
            <p:nvPr/>
          </p:nvSpPr>
          <p:spPr>
            <a:xfrm>
              <a:off x="397764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NumberText_03"/>
            <p:cNvSpPr txBox="1"/>
            <p:nvPr/>
          </p:nvSpPr>
          <p:spPr>
            <a:xfrm>
              <a:off x="397764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03</a:t>
              </a:r>
            </a:p>
          </p:txBody>
        </p:sp>
        <p:sp>
          <p:nvSpPr>
            <p:cNvPr id="25" name="Title_03"/>
            <p:cNvSpPr txBox="1"/>
            <p:nvPr/>
          </p:nvSpPr>
          <p:spPr>
            <a:xfrm>
              <a:off x="397764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下書き</a:t>
              </a:r>
            </a:p>
          </p:txBody>
        </p:sp>
        <p:sp>
          <p:nvSpPr>
            <p:cNvPr id="26" name="Desc_03"/>
            <p:cNvSpPr txBox="1"/>
            <p:nvPr/>
          </p:nvSpPr>
          <p:spPr>
            <a:xfrm>
              <a:off x="397764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AI と対話しながら</a:t>
              </a:r>
            </a:p>
            <a:p>
              <a:r>
                <a:rPr lang="ja-JP"/>
                <a:t>一気に書く</a:t>
              </a:r>
            </a:p>
          </p:txBody>
        </p:sp>
        <p:sp>
          <p:nvSpPr>
            <p:cNvPr id="27" name="Arrow_03"/>
            <p:cNvSpPr/>
            <p:nvPr/>
          </p:nvSpPr>
          <p:spPr>
            <a:xfrm>
              <a:off x="5375910" y="3314700"/>
              <a:ext cx="101600" cy="88900"/>
            </a:xfrm>
            <a:custGeom>
              <a:avLst/>
              <a:gdLst/>
              <a:ahLst/>
              <a:cxnLst/>
              <a:rect l="0" t="0" r="r" b="b"/>
              <a:pathLst>
                <a:path w="101600" h="88900">
                  <a:moveTo>
                    <a:pt x="0" y="50800"/>
                  </a:moveTo>
                  <a:lnTo>
                    <a:pt x="-66675" y="94806"/>
                  </a:lnTo>
                  <a:lnTo>
                    <a:pt x="-66675" y="67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8" name="Card_04"/>
            <p:cNvSpPr/>
            <p:nvPr/>
          </p:nvSpPr>
          <p:spPr>
            <a:xfrm>
              <a:off x="554736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9" name="Number_04"/>
            <p:cNvSpPr/>
            <p:nvPr/>
          </p:nvSpPr>
          <p:spPr>
            <a:xfrm>
              <a:off x="567436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NumberText_04"/>
            <p:cNvSpPr txBox="1"/>
            <p:nvPr/>
          </p:nvSpPr>
          <p:spPr>
            <a:xfrm>
              <a:off x="567436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04</a:t>
              </a:r>
            </a:p>
          </p:txBody>
        </p:sp>
        <p:sp>
          <p:nvSpPr>
            <p:cNvPr id="31" name="Title_04"/>
            <p:cNvSpPr txBox="1"/>
            <p:nvPr/>
          </p:nvSpPr>
          <p:spPr>
            <a:xfrm>
              <a:off x="567436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挿絵</a:t>
              </a:r>
            </a:p>
          </p:txBody>
        </p:sp>
        <p:sp>
          <p:nvSpPr>
            <p:cNvPr id="32" name="Desc_04"/>
            <p:cNvSpPr txBox="1"/>
            <p:nvPr/>
          </p:nvSpPr>
          <p:spPr>
            <a:xfrm>
              <a:off x="567436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HTML で作って</a:t>
              </a:r>
            </a:p>
            <a:p>
              <a:r>
                <a:rPr lang="ja-JP"/>
                <a:t>PNG に書き出す</a:t>
              </a:r>
            </a:p>
          </p:txBody>
        </p:sp>
        <p:sp>
          <p:nvSpPr>
            <p:cNvPr id="33" name="Arrow_04"/>
            <p:cNvSpPr/>
            <p:nvPr/>
          </p:nvSpPr>
          <p:spPr>
            <a:xfrm>
              <a:off x="7072630" y="3314700"/>
              <a:ext cx="101600" cy="88900"/>
            </a:xfrm>
            <a:custGeom>
              <a:avLst/>
              <a:gdLst/>
              <a:ahLst/>
              <a:cxnLst/>
              <a:rect l="0" t="0" r="r" b="b"/>
              <a:pathLst>
                <a:path w="101600" h="88900">
                  <a:moveTo>
                    <a:pt x="0" y="50800"/>
                  </a:moveTo>
                  <a:lnTo>
                    <a:pt x="-66675" y="94806"/>
                  </a:lnTo>
                  <a:lnTo>
                    <a:pt x="-66675" y="67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34" name="Card_05"/>
            <p:cNvSpPr/>
            <p:nvPr/>
          </p:nvSpPr>
          <p:spPr>
            <a:xfrm>
              <a:off x="724408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35" name="Number_05"/>
            <p:cNvSpPr/>
            <p:nvPr/>
          </p:nvSpPr>
          <p:spPr>
            <a:xfrm>
              <a:off x="737108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NumberText_05"/>
            <p:cNvSpPr txBox="1"/>
            <p:nvPr/>
          </p:nvSpPr>
          <p:spPr>
            <a:xfrm>
              <a:off x="737108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05</a:t>
              </a:r>
            </a:p>
          </p:txBody>
        </p:sp>
        <p:sp>
          <p:nvSpPr>
            <p:cNvPr id="37" name="Title_05"/>
            <p:cNvSpPr txBox="1"/>
            <p:nvPr/>
          </p:nvSpPr>
          <p:spPr>
            <a:xfrm>
              <a:off x="737108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公開・計測</a:t>
              </a:r>
            </a:p>
          </p:txBody>
        </p:sp>
        <p:sp>
          <p:nvSpPr>
            <p:cNvPr id="38" name="Desc_05"/>
            <p:cNvSpPr txBox="1"/>
            <p:nvPr/>
          </p:nvSpPr>
          <p:spPr>
            <a:xfrm>
              <a:off x="737108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 とスキを</a:t>
              </a:r>
            </a:p>
            <a:p>
              <a:r>
                <a:rPr lang="ja-JP"/>
                <a:t>翌週に振り返る</a:t>
              </a:r>
            </a:p>
          </p:txBody>
        </p:sp>
      </p:grpSp>
      <p:sp>
        <p:nvSpPr>
          <p:cNvPr id="40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執筆の6工程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型が決まると、毎回の判断が減る</a:t>
            </a:r>
          </a:p>
        </p:txBody>
      </p:sp>
      <p:grpSp>
        <p:nvGrpSpPr>
          <p:cNvPr id="34" name="organism/O-B8 グリッド一覧"/>
          <p:cNvGrpSpPr/>
          <p:nvPr/>
        </p:nvGrpSpPr>
        <p:grpSpPr>
          <a:xfrm>
            <a:off x="457200" y="1663700"/>
            <a:ext cx="8229600" cy="2667000"/>
            <a:chOff x="457200" y="1663700"/>
            <a:chExt cx="8229600" cy="2667000"/>
          </a:xfrm>
        </p:grpSpPr>
        <p:sp>
          <p:nvSpPr>
            <p:cNvPr id="4" name="Card_01"/>
            <p:cNvSpPr/>
            <p:nvPr/>
          </p:nvSpPr>
          <p:spPr>
            <a:xfrm>
              <a:off x="457200" y="16637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Dot_01"/>
            <p:cNvSpPr/>
            <p:nvPr/>
          </p:nvSpPr>
          <p:spPr>
            <a:xfrm>
              <a:off x="635000" y="18415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No_01"/>
            <p:cNvSpPr txBox="1"/>
            <p:nvPr/>
          </p:nvSpPr>
          <p:spPr>
            <a:xfrm>
              <a:off x="635000" y="18700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01</a:t>
              </a:r>
            </a:p>
          </p:txBody>
        </p:sp>
        <p:sp>
          <p:nvSpPr>
            <p:cNvPr id="7" name="Title_01"/>
            <p:cNvSpPr txBox="1"/>
            <p:nvPr/>
          </p:nvSpPr>
          <p:spPr>
            <a:xfrm>
              <a:off x="635000" y="21971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テーマ選び</a:t>
              </a:r>
            </a:p>
          </p:txBody>
        </p:sp>
        <p:sp>
          <p:nvSpPr>
            <p:cNvPr id="8" name="Sub_01"/>
            <p:cNvSpPr txBox="1"/>
            <p:nvPr/>
          </p:nvSpPr>
          <p:spPr>
            <a:xfrm>
              <a:off x="635000" y="25146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一次情報があるか</a:t>
              </a:r>
            </a:p>
          </p:txBody>
        </p:sp>
        <p:sp>
          <p:nvSpPr>
            <p:cNvPr id="9" name="Card_02"/>
            <p:cNvSpPr/>
            <p:nvPr/>
          </p:nvSpPr>
          <p:spPr>
            <a:xfrm>
              <a:off x="3268155" y="16637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Dot_02"/>
            <p:cNvSpPr/>
            <p:nvPr/>
          </p:nvSpPr>
          <p:spPr>
            <a:xfrm>
              <a:off x="3445955" y="18415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No_02"/>
            <p:cNvSpPr txBox="1"/>
            <p:nvPr/>
          </p:nvSpPr>
          <p:spPr>
            <a:xfrm>
              <a:off x="3445955" y="18700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02</a:t>
              </a:r>
            </a:p>
          </p:txBody>
        </p:sp>
        <p:sp>
          <p:nvSpPr>
            <p:cNvPr id="12" name="Title_02"/>
            <p:cNvSpPr txBox="1"/>
            <p:nvPr/>
          </p:nvSpPr>
          <p:spPr>
            <a:xfrm>
              <a:off x="3445955" y="21971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構成づくり</a:t>
              </a:r>
            </a:p>
          </p:txBody>
        </p:sp>
        <p:sp>
          <p:nvSpPr>
            <p:cNvPr id="13" name="Sub_02"/>
            <p:cNvSpPr txBox="1"/>
            <p:nvPr/>
          </p:nvSpPr>
          <p:spPr>
            <a:xfrm>
              <a:off x="3445955" y="25146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見出しで話が通るか</a:t>
              </a:r>
            </a:p>
          </p:txBody>
        </p:sp>
        <p:sp>
          <p:nvSpPr>
            <p:cNvPr id="14" name="Card_03"/>
            <p:cNvSpPr/>
            <p:nvPr/>
          </p:nvSpPr>
          <p:spPr>
            <a:xfrm>
              <a:off x="6079046" y="16637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5" name="Dot_03"/>
            <p:cNvSpPr/>
            <p:nvPr/>
          </p:nvSpPr>
          <p:spPr>
            <a:xfrm>
              <a:off x="6256846" y="18415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No_03"/>
            <p:cNvSpPr txBox="1"/>
            <p:nvPr/>
          </p:nvSpPr>
          <p:spPr>
            <a:xfrm>
              <a:off x="6256846" y="18700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03</a:t>
              </a:r>
            </a:p>
          </p:txBody>
        </p:sp>
        <p:sp>
          <p:nvSpPr>
            <p:cNvPr id="17" name="Title_03"/>
            <p:cNvSpPr txBox="1"/>
            <p:nvPr/>
          </p:nvSpPr>
          <p:spPr>
            <a:xfrm>
              <a:off x="6256846" y="21971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下書き</a:t>
              </a:r>
            </a:p>
          </p:txBody>
        </p:sp>
        <p:sp>
          <p:nvSpPr>
            <p:cNvPr id="18" name="Sub_03"/>
            <p:cNvSpPr txBox="1"/>
            <p:nvPr/>
          </p:nvSpPr>
          <p:spPr>
            <a:xfrm>
              <a:off x="6256846" y="25146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AI と対話して書く</a:t>
              </a:r>
            </a:p>
          </p:txBody>
        </p:sp>
        <p:sp>
          <p:nvSpPr>
            <p:cNvPr id="19" name="Card_04"/>
            <p:cNvSpPr/>
            <p:nvPr/>
          </p:nvSpPr>
          <p:spPr>
            <a:xfrm>
              <a:off x="457200" y="31242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0" name="Dot_04"/>
            <p:cNvSpPr/>
            <p:nvPr/>
          </p:nvSpPr>
          <p:spPr>
            <a:xfrm>
              <a:off x="635000" y="3302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No_04"/>
            <p:cNvSpPr txBox="1"/>
            <p:nvPr/>
          </p:nvSpPr>
          <p:spPr>
            <a:xfrm>
              <a:off x="635000" y="33305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04</a:t>
              </a:r>
            </a:p>
          </p:txBody>
        </p:sp>
        <p:sp>
          <p:nvSpPr>
            <p:cNvPr id="22" name="Title_04"/>
            <p:cNvSpPr txBox="1"/>
            <p:nvPr/>
          </p:nvSpPr>
          <p:spPr>
            <a:xfrm>
              <a:off x="635000" y="36576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挿絵</a:t>
              </a:r>
            </a:p>
          </p:txBody>
        </p:sp>
        <p:sp>
          <p:nvSpPr>
            <p:cNvPr id="23" name="Sub_04"/>
            <p:cNvSpPr txBox="1"/>
            <p:nvPr/>
          </p:nvSpPr>
          <p:spPr>
            <a:xfrm>
              <a:off x="635000" y="39751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HTML で作って貼る</a:t>
              </a:r>
            </a:p>
          </p:txBody>
        </p:sp>
        <p:sp>
          <p:nvSpPr>
            <p:cNvPr id="24" name="Card_05"/>
            <p:cNvSpPr/>
            <p:nvPr/>
          </p:nvSpPr>
          <p:spPr>
            <a:xfrm>
              <a:off x="3268155" y="31242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5" name="Dot_05"/>
            <p:cNvSpPr/>
            <p:nvPr/>
          </p:nvSpPr>
          <p:spPr>
            <a:xfrm>
              <a:off x="3445955" y="3302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No_05"/>
            <p:cNvSpPr txBox="1"/>
            <p:nvPr/>
          </p:nvSpPr>
          <p:spPr>
            <a:xfrm>
              <a:off x="3445955" y="33305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05</a:t>
              </a:r>
            </a:p>
          </p:txBody>
        </p:sp>
        <p:sp>
          <p:nvSpPr>
            <p:cNvPr id="27" name="Title_05"/>
            <p:cNvSpPr txBox="1"/>
            <p:nvPr/>
          </p:nvSpPr>
          <p:spPr>
            <a:xfrm>
              <a:off x="3445955" y="36576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公開</a:t>
              </a:r>
            </a:p>
          </p:txBody>
        </p:sp>
        <p:sp>
          <p:nvSpPr>
            <p:cNvPr id="28" name="Sub_05"/>
            <p:cNvSpPr txBox="1"/>
            <p:nvPr/>
          </p:nvSpPr>
          <p:spPr>
            <a:xfrm>
              <a:off x="3445955" y="39751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予約投稿で朝に出す</a:t>
              </a:r>
            </a:p>
          </p:txBody>
        </p:sp>
        <p:sp>
          <p:nvSpPr>
            <p:cNvPr id="29" name="Card_06"/>
            <p:cNvSpPr/>
            <p:nvPr/>
          </p:nvSpPr>
          <p:spPr>
            <a:xfrm>
              <a:off x="6079046" y="31242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30" name="Dot_06"/>
            <p:cNvSpPr/>
            <p:nvPr/>
          </p:nvSpPr>
          <p:spPr>
            <a:xfrm>
              <a:off x="6256846" y="3302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No_06"/>
            <p:cNvSpPr txBox="1"/>
            <p:nvPr/>
          </p:nvSpPr>
          <p:spPr>
            <a:xfrm>
              <a:off x="6256846" y="33305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06</a:t>
              </a:r>
            </a:p>
          </p:txBody>
        </p:sp>
        <p:sp>
          <p:nvSpPr>
            <p:cNvPr id="32" name="Title_06"/>
            <p:cNvSpPr txBox="1"/>
            <p:nvPr/>
          </p:nvSpPr>
          <p:spPr>
            <a:xfrm>
              <a:off x="6256846" y="36576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計測</a:t>
              </a:r>
            </a:p>
          </p:txBody>
        </p:sp>
        <p:sp>
          <p:nvSpPr>
            <p:cNvPr id="33" name="Sub_06"/>
            <p:cNvSpPr txBox="1"/>
            <p:nvPr/>
          </p:nvSpPr>
          <p:spPr>
            <a:xfrm>
              <a:off x="6256846" y="39751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翌週に PV を見る</a:t>
              </a:r>
            </a:p>
          </p:txBody>
        </p:sp>
      </p:grpSp>
      <p:sp>
        <p:nvSpPr>
          <p:cNvPr id="3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支援の進め方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最後の「運用と改善」に時間を残す</a:t>
            </a:r>
          </a:p>
        </p:txBody>
      </p:sp>
      <p:grpSp>
        <p:nvGrpSpPr>
          <p:cNvPr id="15" name="organism/O-B4 プロセスフロー"/>
          <p:cNvGrpSpPr/>
          <p:nvPr/>
        </p:nvGrpSpPr>
        <p:grpSpPr>
          <a:xfrm>
            <a:off x="457200" y="2298700"/>
            <a:ext cx="8229600" cy="1397000"/>
            <a:chOff x="457200" y="2298700"/>
            <a:chExt cx="8229600" cy="1397000"/>
          </a:xfrm>
        </p:grpSpPr>
        <p:sp>
          <p:nvSpPr>
            <p:cNvPr id="4" name="Chevron_1"/>
            <p:cNvSpPr/>
            <p:nvPr/>
          </p:nvSpPr>
          <p:spPr>
            <a:xfrm>
              <a:off x="4572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Step_1"/>
            <p:cNvSpPr txBox="1"/>
            <p:nvPr/>
          </p:nvSpPr>
          <p:spPr>
            <a:xfrm>
              <a:off x="4572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ヒアリング</a:t>
              </a:r>
            </a:p>
          </p:txBody>
        </p:sp>
        <p:sp>
          <p:nvSpPr>
            <p:cNvPr id="6" name="Chevron_2"/>
            <p:cNvSpPr/>
            <p:nvPr/>
          </p:nvSpPr>
          <p:spPr>
            <a:xfrm>
              <a:off x="20066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228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Step_2"/>
            <p:cNvSpPr txBox="1"/>
            <p:nvPr/>
          </p:nvSpPr>
          <p:spPr>
            <a:xfrm>
              <a:off x="22352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現状分析</a:t>
              </a:r>
            </a:p>
          </p:txBody>
        </p:sp>
        <p:sp>
          <p:nvSpPr>
            <p:cNvPr id="8" name="Chevron_3"/>
            <p:cNvSpPr/>
            <p:nvPr/>
          </p:nvSpPr>
          <p:spPr>
            <a:xfrm>
              <a:off x="35560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228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Step_3"/>
            <p:cNvSpPr txBox="1"/>
            <p:nvPr/>
          </p:nvSpPr>
          <p:spPr>
            <a:xfrm>
              <a:off x="37846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方針の提案</a:t>
              </a:r>
            </a:p>
          </p:txBody>
        </p:sp>
        <p:sp>
          <p:nvSpPr>
            <p:cNvPr id="10" name="Chevron_4"/>
            <p:cNvSpPr/>
            <p:nvPr/>
          </p:nvSpPr>
          <p:spPr>
            <a:xfrm>
              <a:off x="51054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228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Step_4"/>
            <p:cNvSpPr txBox="1"/>
            <p:nvPr/>
          </p:nvSpPr>
          <p:spPr>
            <a:xfrm>
              <a:off x="53340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試作</a:t>
              </a:r>
            </a:p>
          </p:txBody>
        </p:sp>
        <p:sp>
          <p:nvSpPr>
            <p:cNvPr id="12" name="Chevron_5"/>
            <p:cNvSpPr/>
            <p:nvPr/>
          </p:nvSpPr>
          <p:spPr>
            <a:xfrm>
              <a:off x="66548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228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3" name="Step_5"/>
            <p:cNvSpPr txBox="1"/>
            <p:nvPr/>
          </p:nvSpPr>
          <p:spPr>
            <a:xfrm>
              <a:off x="68834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運用と改善</a:t>
              </a:r>
            </a:p>
          </p:txBody>
        </p:sp>
        <p:sp>
          <p:nvSpPr>
            <p:cNvPr id="14" name="Note"/>
            <p:cNvSpPr txBox="1"/>
            <p:nvPr/>
          </p:nvSpPr>
          <p:spPr>
            <a:xfrm>
              <a:off x="457200" y="33782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最終段階（運用と改善）だけ強調色</a:t>
              </a:r>
            </a:p>
          </p:txBody>
        </p:sp>
      </p:grpSp>
      <p:sp>
        <p:nvSpPr>
          <p:cNvPr id="16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公開日の流れ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翌週の記録までが1セット</a:t>
            </a:r>
          </a:p>
        </p:txBody>
      </p:sp>
      <p:grpSp>
        <p:nvGrpSpPr>
          <p:cNvPr id="22" name="organism/O-B13 タイムライン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Line"/>
            <p:cNvSpPr/>
            <p:nvPr/>
          </p:nvSpPr>
          <p:spPr>
            <a:xfrm>
              <a:off x="1066800" y="1727200"/>
              <a:ext cx="12700" cy="254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Time_1"/>
            <p:cNvSpPr txBox="1"/>
            <p:nvPr/>
          </p:nvSpPr>
          <p:spPr>
            <a:xfrm>
              <a:off x="457200" y="1679575"/>
              <a:ext cx="508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07:00</a:t>
              </a:r>
            </a:p>
          </p:txBody>
        </p:sp>
        <p:sp>
          <p:nvSpPr>
            <p:cNvPr id="6" name="Dot_1"/>
            <p:cNvSpPr/>
            <p:nvPr/>
          </p:nvSpPr>
          <p:spPr>
            <a:xfrm>
              <a:off x="996950" y="17272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itle_1"/>
            <p:cNvSpPr txBox="1"/>
            <p:nvPr/>
          </p:nvSpPr>
          <p:spPr>
            <a:xfrm>
              <a:off x="1371600" y="16510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予約投稿が公開</a:t>
              </a:r>
            </a:p>
          </p:txBody>
        </p:sp>
        <p:sp>
          <p:nvSpPr>
            <p:cNvPr id="8" name="Sub_1"/>
            <p:cNvSpPr txBox="1"/>
            <p:nvPr/>
          </p:nvSpPr>
          <p:spPr>
            <a:xfrm>
              <a:off x="1371600" y="19431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前夜に仕込んでおく</a:t>
              </a:r>
            </a:p>
          </p:txBody>
        </p:sp>
        <p:sp>
          <p:nvSpPr>
            <p:cNvPr id="9" name="Time_2"/>
            <p:cNvSpPr txBox="1"/>
            <p:nvPr/>
          </p:nvSpPr>
          <p:spPr>
            <a:xfrm>
              <a:off x="457200" y="2352675"/>
              <a:ext cx="508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09:00</a:t>
              </a:r>
            </a:p>
          </p:txBody>
        </p:sp>
        <p:sp>
          <p:nvSpPr>
            <p:cNvPr id="10" name="Dot_2"/>
            <p:cNvSpPr/>
            <p:nvPr/>
          </p:nvSpPr>
          <p:spPr>
            <a:xfrm>
              <a:off x="996950" y="2400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itle_2"/>
            <p:cNvSpPr txBox="1"/>
            <p:nvPr/>
          </p:nvSpPr>
          <p:spPr>
            <a:xfrm>
              <a:off x="1371600" y="23241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SNS で告知</a:t>
              </a:r>
            </a:p>
          </p:txBody>
        </p:sp>
        <p:sp>
          <p:nvSpPr>
            <p:cNvPr id="12" name="Sub_2"/>
            <p:cNvSpPr txBox="1"/>
            <p:nvPr/>
          </p:nvSpPr>
          <p:spPr>
            <a:xfrm>
              <a:off x="1371600" y="26162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朝の通勤時間に合わせる</a:t>
              </a:r>
            </a:p>
          </p:txBody>
        </p:sp>
        <p:sp>
          <p:nvSpPr>
            <p:cNvPr id="13" name="Time_3"/>
            <p:cNvSpPr txBox="1"/>
            <p:nvPr/>
          </p:nvSpPr>
          <p:spPr>
            <a:xfrm>
              <a:off x="457200" y="3025775"/>
              <a:ext cx="508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12:00</a:t>
              </a:r>
            </a:p>
          </p:txBody>
        </p:sp>
        <p:sp>
          <p:nvSpPr>
            <p:cNvPr id="14" name="Dot_3"/>
            <p:cNvSpPr/>
            <p:nvPr/>
          </p:nvSpPr>
          <p:spPr>
            <a:xfrm>
              <a:off x="996950" y="3073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itle_3"/>
            <p:cNvSpPr txBox="1"/>
            <p:nvPr/>
          </p:nvSpPr>
          <p:spPr>
            <a:xfrm>
              <a:off x="1371600" y="29972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反応を確認</a:t>
              </a:r>
            </a:p>
          </p:txBody>
        </p:sp>
        <p:sp>
          <p:nvSpPr>
            <p:cNvPr id="16" name="Sub_3"/>
            <p:cNvSpPr txBox="1"/>
            <p:nvPr/>
          </p:nvSpPr>
          <p:spPr>
            <a:xfrm>
              <a:off x="1371600" y="32893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スキの伸び方を見る</a:t>
              </a:r>
            </a:p>
          </p:txBody>
        </p:sp>
        <p:sp>
          <p:nvSpPr>
            <p:cNvPr id="17" name="Time_4"/>
            <p:cNvSpPr txBox="1"/>
            <p:nvPr/>
          </p:nvSpPr>
          <p:spPr>
            <a:xfrm>
              <a:off x="457200" y="3698875"/>
              <a:ext cx="508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翌週</a:t>
              </a:r>
            </a:p>
          </p:txBody>
        </p:sp>
        <p:sp>
          <p:nvSpPr>
            <p:cNvPr id="18" name="Dot_4"/>
            <p:cNvSpPr/>
            <p:nvPr/>
          </p:nvSpPr>
          <p:spPr>
            <a:xfrm>
              <a:off x="996950" y="3746500"/>
              <a:ext cx="152400" cy="15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itle_4"/>
            <p:cNvSpPr txBox="1"/>
            <p:nvPr/>
          </p:nvSpPr>
          <p:spPr>
            <a:xfrm>
              <a:off x="1371600" y="36703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 とスキを記録</a:t>
              </a:r>
            </a:p>
          </p:txBody>
        </p:sp>
        <p:sp>
          <p:nvSpPr>
            <p:cNvPr id="20" name="Sub_4"/>
            <p:cNvSpPr txBox="1"/>
            <p:nvPr/>
          </p:nvSpPr>
          <p:spPr>
            <a:xfrm>
              <a:off x="1371600" y="39624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次のテーマ選びに使う</a:t>
              </a:r>
            </a:p>
          </p:txBody>
        </p:sp>
        <p:sp>
          <p:nvSpPr>
            <p:cNvPr id="21" name="Note"/>
            <p:cNvSpPr txBox="1"/>
            <p:nvPr/>
          </p:nvSpPr>
          <p:spPr>
            <a:xfrm>
              <a:off x="457200" y="4267200"/>
              <a:ext cx="444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公開日の1日の流れ（26年9月の運用）</a:t>
              </a:r>
            </a:p>
          </p:txBody>
        </p:sp>
      </p:grpSp>
      <p:sp>
        <p:nvSpPr>
          <p:cNvPr id="2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フォロワーが増える道筋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起点は検索流入の増加にある</a:t>
            </a:r>
          </a:p>
        </p:txBody>
      </p:sp>
      <p:grpSp>
        <p:nvGrpSpPr>
          <p:cNvPr id="25" name="organism/O-B16 関係・因果図"/>
          <p:cNvGrpSpPr/>
          <p:nvPr/>
        </p:nvGrpSpPr>
        <p:grpSpPr>
          <a:xfrm>
            <a:off x="457200" y="1854200"/>
            <a:ext cx="8229600" cy="2286000"/>
            <a:chOff x="457200" y="1854200"/>
            <a:chExt cx="8229600" cy="2286000"/>
          </a:xfrm>
        </p:grpSpPr>
        <p:sp>
          <p:nvSpPr>
            <p:cNvPr id="4" name="Card_検索流入の増加"/>
            <p:cNvSpPr/>
            <p:nvPr/>
          </p:nvSpPr>
          <p:spPr>
            <a:xfrm>
              <a:off x="457200" y="2235200"/>
              <a:ext cx="2260600" cy="76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Accent_検索流入の増加"/>
            <p:cNvSpPr/>
            <p:nvPr/>
          </p:nvSpPr>
          <p:spPr>
            <a:xfrm>
              <a:off x="457200" y="2235200"/>
              <a:ext cx="3810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_検索流入の増加"/>
            <p:cNvSpPr txBox="1"/>
            <p:nvPr/>
          </p:nvSpPr>
          <p:spPr>
            <a:xfrm>
              <a:off x="635000" y="2463800"/>
              <a:ext cx="1905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検索流入の増加</a:t>
              </a:r>
            </a:p>
          </p:txBody>
        </p:sp>
        <p:sp>
          <p:nvSpPr>
            <p:cNvPr id="7" name="Card_滞在時間の伸び"/>
            <p:cNvSpPr/>
            <p:nvPr/>
          </p:nvSpPr>
          <p:spPr>
            <a:xfrm>
              <a:off x="3441700" y="1854200"/>
              <a:ext cx="2260600" cy="76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8" name="Accent_滞在時間の伸び"/>
            <p:cNvSpPr/>
            <p:nvPr/>
          </p:nvSpPr>
          <p:spPr>
            <a:xfrm>
              <a:off x="3441700" y="1854200"/>
              <a:ext cx="38100" cy="76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_滞在時間の伸び"/>
            <p:cNvSpPr txBox="1"/>
            <p:nvPr/>
          </p:nvSpPr>
          <p:spPr>
            <a:xfrm>
              <a:off x="3619500" y="2082800"/>
              <a:ext cx="1905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滞在時間の伸び</a:t>
              </a:r>
            </a:p>
          </p:txBody>
        </p:sp>
        <p:sp>
          <p:nvSpPr>
            <p:cNvPr id="10" name="Card_スキ率の改善"/>
            <p:cNvSpPr/>
            <p:nvPr/>
          </p:nvSpPr>
          <p:spPr>
            <a:xfrm>
              <a:off x="3441700" y="3124200"/>
              <a:ext cx="2260600" cy="76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1" name="Accent_スキ率の改善"/>
            <p:cNvSpPr/>
            <p:nvPr/>
          </p:nvSpPr>
          <p:spPr>
            <a:xfrm>
              <a:off x="3441700" y="3124200"/>
              <a:ext cx="38100" cy="76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2" name="Text_スキ率の改善"/>
            <p:cNvSpPr txBox="1"/>
            <p:nvPr/>
          </p:nvSpPr>
          <p:spPr>
            <a:xfrm>
              <a:off x="3619500" y="3352800"/>
              <a:ext cx="1905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スキ率の改善</a:t>
              </a:r>
            </a:p>
          </p:txBody>
        </p:sp>
        <p:sp>
          <p:nvSpPr>
            <p:cNvPr id="13" name="Card_フォロワー増"/>
            <p:cNvSpPr/>
            <p:nvPr/>
          </p:nvSpPr>
          <p:spPr>
            <a:xfrm>
              <a:off x="6426200" y="2489200"/>
              <a:ext cx="2260600" cy="76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4" name="Accent_フォロワー増"/>
            <p:cNvSpPr/>
            <p:nvPr/>
          </p:nvSpPr>
          <p:spPr>
            <a:xfrm>
              <a:off x="6426200" y="2489200"/>
              <a:ext cx="38100" cy="76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Text_フォロワー増"/>
            <p:cNvSpPr txBox="1"/>
            <p:nvPr/>
          </p:nvSpPr>
          <p:spPr>
            <a:xfrm>
              <a:off x="6604000" y="2717800"/>
              <a:ext cx="1905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フォロワー増</a:t>
              </a:r>
            </a:p>
          </p:txBody>
        </p:sp>
        <p:sp>
          <p:nvSpPr>
            <p:cNvPr id="16" name="Note"/>
            <p:cNvSpPr txBox="1"/>
            <p:nvPr/>
          </p:nvSpPr>
          <p:spPr>
            <a:xfrm>
              <a:off x="457200" y="39497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矢印は「→ が増えると → も増える」の向き</a:t>
              </a:r>
            </a:p>
          </p:txBody>
        </p:sp>
        <p:sp>
          <p:nvSpPr>
            <p:cNvPr id="17" name="Link_1"/>
            <p:cNvSpPr/>
            <p:nvPr/>
          </p:nvSpPr>
          <p:spPr>
            <a:xfrm>
              <a:off x="2717800" y="2235200"/>
              <a:ext cx="673100" cy="381000"/>
            </a:xfrm>
            <a:custGeom>
              <a:avLst/>
              <a:gdLst/>
              <a:ahLst/>
              <a:cxnLst/>
              <a:rect l="0" t="0" r="r" b="b"/>
              <a:pathLst>
                <a:path w="673100" h="381000" fill="none">
                  <a:moveTo>
                    <a:pt x="0" y="381000"/>
                  </a:moveTo>
                  <a:lnTo>
                    <a:pt x="361950" y="381000"/>
                  </a:lnTo>
                  <a:lnTo>
                    <a:pt x="361950" y="0"/>
                  </a:lnTo>
                  <a:lnTo>
                    <a:pt x="673100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18" name="Link_1_head"/>
            <p:cNvSpPr/>
            <p:nvPr/>
          </p:nvSpPr>
          <p:spPr>
            <a:xfrm>
              <a:off x="3302000" y="2266950"/>
              <a:ext cx="63500" cy="76200"/>
            </a:xfrm>
            <a:custGeom>
              <a:avLst/>
              <a:gdLst/>
              <a:ahLst/>
              <a:cxnLst/>
              <a:rect l="0" t="0" r="r" b="b"/>
              <a:pathLst>
                <a:path w="63500" h="76200">
                  <a:moveTo>
                    <a:pt x="63500" y="38100"/>
                  </a:moveTo>
                  <a:lnTo>
                    <a:pt x="15875" y="71120"/>
                  </a:lnTo>
                  <a:lnTo>
                    <a:pt x="15875" y="5080"/>
                  </a:lnTo>
                  <a:lnTo>
                    <a:pt x="63500" y="381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Link_2"/>
            <p:cNvSpPr/>
            <p:nvPr/>
          </p:nvSpPr>
          <p:spPr>
            <a:xfrm>
              <a:off x="2717800" y="2616200"/>
              <a:ext cx="673100" cy="889000"/>
            </a:xfrm>
            <a:custGeom>
              <a:avLst/>
              <a:gdLst/>
              <a:ahLst/>
              <a:cxnLst/>
              <a:rect l="0" t="0" r="r" b="b"/>
              <a:pathLst>
                <a:path w="673100" h="889000" fill="none">
                  <a:moveTo>
                    <a:pt x="0" y="0"/>
                  </a:moveTo>
                  <a:lnTo>
                    <a:pt x="361950" y="0"/>
                  </a:lnTo>
                  <a:lnTo>
                    <a:pt x="361950" y="889000"/>
                  </a:lnTo>
                  <a:lnTo>
                    <a:pt x="673100" y="8890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20" name="Link_2_head"/>
            <p:cNvSpPr/>
            <p:nvPr/>
          </p:nvSpPr>
          <p:spPr>
            <a:xfrm>
              <a:off x="3302000" y="3536950"/>
              <a:ext cx="63500" cy="76200"/>
            </a:xfrm>
            <a:custGeom>
              <a:avLst/>
              <a:gdLst/>
              <a:ahLst/>
              <a:cxnLst/>
              <a:rect l="0" t="0" r="r" b="b"/>
              <a:pathLst>
                <a:path w="63500" h="76200">
                  <a:moveTo>
                    <a:pt x="63500" y="38100"/>
                  </a:moveTo>
                  <a:lnTo>
                    <a:pt x="15875" y="71120"/>
                  </a:lnTo>
                  <a:lnTo>
                    <a:pt x="15875" y="5080"/>
                  </a:lnTo>
                  <a:lnTo>
                    <a:pt x="63500" y="381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Link_3"/>
            <p:cNvSpPr/>
            <p:nvPr/>
          </p:nvSpPr>
          <p:spPr>
            <a:xfrm>
              <a:off x="5702300" y="2235200"/>
              <a:ext cx="673100" cy="635000"/>
            </a:xfrm>
            <a:custGeom>
              <a:avLst/>
              <a:gdLst/>
              <a:ahLst/>
              <a:cxnLst/>
              <a:rect l="0" t="0" r="r" b="b"/>
              <a:pathLst>
                <a:path w="673100" h="635000" fill="none">
                  <a:moveTo>
                    <a:pt x="0" y="0"/>
                  </a:moveTo>
                  <a:lnTo>
                    <a:pt x="361950" y="0"/>
                  </a:lnTo>
                  <a:lnTo>
                    <a:pt x="361950" y="635000"/>
                  </a:lnTo>
                  <a:lnTo>
                    <a:pt x="673100" y="6350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22" name="Link_3_head"/>
            <p:cNvSpPr/>
            <p:nvPr/>
          </p:nvSpPr>
          <p:spPr>
            <a:xfrm>
              <a:off x="6286500" y="2901950"/>
              <a:ext cx="63500" cy="76200"/>
            </a:xfrm>
            <a:custGeom>
              <a:avLst/>
              <a:gdLst/>
              <a:ahLst/>
              <a:cxnLst/>
              <a:rect l="0" t="0" r="r" b="b"/>
              <a:pathLst>
                <a:path w="63500" h="76200">
                  <a:moveTo>
                    <a:pt x="63500" y="38100"/>
                  </a:moveTo>
                  <a:lnTo>
                    <a:pt x="15875" y="71120"/>
                  </a:lnTo>
                  <a:lnTo>
                    <a:pt x="15875" y="5080"/>
                  </a:lnTo>
                  <a:lnTo>
                    <a:pt x="63500" y="381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3" name="Link_4"/>
            <p:cNvSpPr/>
            <p:nvPr/>
          </p:nvSpPr>
          <p:spPr>
            <a:xfrm>
              <a:off x="5702300" y="2870200"/>
              <a:ext cx="673100" cy="635000"/>
            </a:xfrm>
            <a:custGeom>
              <a:avLst/>
              <a:gdLst/>
              <a:ahLst/>
              <a:cxnLst/>
              <a:rect l="0" t="0" r="r" b="b"/>
              <a:pathLst>
                <a:path w="673100" h="635000" fill="none">
                  <a:moveTo>
                    <a:pt x="0" y="635000"/>
                  </a:moveTo>
                  <a:lnTo>
                    <a:pt x="361950" y="635000"/>
                  </a:lnTo>
                  <a:lnTo>
                    <a:pt x="361950" y="0"/>
                  </a:lnTo>
                  <a:lnTo>
                    <a:pt x="673100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24" name="Link_4_head"/>
            <p:cNvSpPr/>
            <p:nvPr/>
          </p:nvSpPr>
          <p:spPr>
            <a:xfrm>
              <a:off x="6286500" y="2901950"/>
              <a:ext cx="63500" cy="76200"/>
            </a:xfrm>
            <a:custGeom>
              <a:avLst/>
              <a:gdLst/>
              <a:ahLst/>
              <a:cxnLst/>
              <a:rect l="0" t="0" r="r" b="b"/>
              <a:pathLst>
                <a:path w="63500" h="76200">
                  <a:moveTo>
                    <a:pt x="63500" y="38100"/>
                  </a:moveTo>
                  <a:lnTo>
                    <a:pt x="15875" y="71120"/>
                  </a:lnTo>
                  <a:lnTo>
                    <a:pt x="15875" y="5080"/>
                  </a:lnTo>
                  <a:lnTo>
                    <a:pt x="63500" y="381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26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この連載の立ち位置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手間はかかるが、一次情報で差がつく</a:t>
            </a:r>
          </a:p>
        </p:txBody>
      </p:sp>
      <p:grpSp>
        <p:nvGrpSpPr>
          <p:cNvPr id="19" name="organism/O-B6 ポジショニングマップ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Plane"/>
            <p:cNvSpPr/>
            <p:nvPr/>
          </p:nvSpPr>
          <p:spPr>
            <a:xfrm>
              <a:off x="1600200" y="1727200"/>
              <a:ext cx="4826000" cy="2413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AxisX"/>
            <p:cNvSpPr/>
            <p:nvPr/>
          </p:nvSpPr>
          <p:spPr>
            <a:xfrm>
              <a:off x="1600200" y="2927350"/>
              <a:ext cx="48260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AxisY"/>
            <p:cNvSpPr/>
            <p:nvPr/>
          </p:nvSpPr>
          <p:spPr>
            <a:xfrm>
              <a:off x="4006850" y="1727200"/>
              <a:ext cx="12700" cy="2413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AxisLabel_Top"/>
            <p:cNvSpPr txBox="1"/>
            <p:nvPr/>
          </p:nvSpPr>
          <p:spPr>
            <a:xfrm>
              <a:off x="1600200" y="1511300"/>
              <a:ext cx="482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一次情報が多い</a:t>
              </a:r>
            </a:p>
          </p:txBody>
        </p:sp>
        <p:sp>
          <p:nvSpPr>
            <p:cNvPr id="8" name="AxisLabel_Bottom"/>
            <p:cNvSpPr txBox="1"/>
            <p:nvPr/>
          </p:nvSpPr>
          <p:spPr>
            <a:xfrm>
              <a:off x="1600200" y="4191000"/>
              <a:ext cx="482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まとめ・引用が中心</a:t>
              </a:r>
            </a:p>
          </p:txBody>
        </p:sp>
        <p:sp>
          <p:nvSpPr>
            <p:cNvPr id="9" name="AxisLabel_Left"/>
            <p:cNvSpPr txBox="1"/>
            <p:nvPr/>
          </p:nvSpPr>
          <p:spPr>
            <a:xfrm>
              <a:off x="520700" y="2832100"/>
              <a:ext cx="101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手間が小さい</a:t>
              </a:r>
            </a:p>
          </p:txBody>
        </p:sp>
        <p:sp>
          <p:nvSpPr>
            <p:cNvPr id="10" name="AxisLabel_Right"/>
            <p:cNvSpPr txBox="1"/>
            <p:nvPr/>
          </p:nvSpPr>
          <p:spPr>
            <a:xfrm>
              <a:off x="6502400" y="2832100"/>
              <a:ext cx="101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手間が大きい</a:t>
              </a:r>
            </a:p>
          </p:txBody>
        </p:sp>
        <p:sp>
          <p:nvSpPr>
            <p:cNvPr id="11" name="Dot_AI記事の量産"/>
            <p:cNvSpPr/>
            <p:nvPr/>
          </p:nvSpPr>
          <p:spPr>
            <a:xfrm>
              <a:off x="2573020" y="3520440"/>
              <a:ext cx="177800" cy="177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2" name="Label_AI記事の量産"/>
            <p:cNvSpPr txBox="1"/>
            <p:nvPr/>
          </p:nvSpPr>
          <p:spPr>
            <a:xfrm>
              <a:off x="2801620" y="3485515"/>
              <a:ext cx="165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AI 記事の量産</a:t>
              </a:r>
            </a:p>
          </p:txBody>
        </p:sp>
        <p:sp>
          <p:nvSpPr>
            <p:cNvPr id="13" name="Dot_ニュースまとめ"/>
            <p:cNvSpPr/>
            <p:nvPr/>
          </p:nvSpPr>
          <p:spPr>
            <a:xfrm>
              <a:off x="3055620" y="3375660"/>
              <a:ext cx="177800" cy="177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4" name="Label_ニュースまとめ"/>
            <p:cNvSpPr txBox="1"/>
            <p:nvPr/>
          </p:nvSpPr>
          <p:spPr>
            <a:xfrm>
              <a:off x="3284220" y="3340735"/>
              <a:ext cx="165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ニュースまとめ</a:t>
              </a:r>
            </a:p>
          </p:txBody>
        </p:sp>
        <p:sp>
          <p:nvSpPr>
            <p:cNvPr id="15" name="Dot_ツール紹介"/>
            <p:cNvSpPr/>
            <p:nvPr/>
          </p:nvSpPr>
          <p:spPr>
            <a:xfrm>
              <a:off x="4165600" y="2724150"/>
              <a:ext cx="177800" cy="177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6" name="Label_ツール紹介"/>
            <p:cNvSpPr txBox="1"/>
            <p:nvPr/>
          </p:nvSpPr>
          <p:spPr>
            <a:xfrm>
              <a:off x="4394200" y="2689225"/>
              <a:ext cx="165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ツール紹介</a:t>
              </a:r>
            </a:p>
          </p:txBody>
        </p:sp>
        <p:sp>
          <p:nvSpPr>
            <p:cNvPr id="17" name="Dot_この連載"/>
            <p:cNvSpPr/>
            <p:nvPr/>
          </p:nvSpPr>
          <p:spPr>
            <a:xfrm>
              <a:off x="4986020" y="2217420"/>
              <a:ext cx="177800" cy="177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Label_この連載"/>
            <p:cNvSpPr txBox="1"/>
            <p:nvPr/>
          </p:nvSpPr>
          <p:spPr>
            <a:xfrm>
              <a:off x="5214620" y="2182495"/>
              <a:ext cx="165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この連載</a:t>
              </a:r>
            </a:p>
          </p:txBody>
        </p:sp>
      </p:grpSp>
      <p:sp>
        <p:nvSpPr>
          <p:cNvPr id="20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ダッシュボードの見どころ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数字より先に「どこを見るか」を決めておく</a:t>
            </a:r>
          </a:p>
        </p:txBody>
      </p:sp>
      <p:grpSp>
        <p:nvGrpSpPr>
          <p:cNvPr id="24" name="organism/O-B20 コールアウト注釈"/>
          <p:cNvGrpSpPr/>
          <p:nvPr/>
        </p:nvGrpSpPr>
        <p:grpSpPr>
          <a:xfrm>
            <a:off x="457200" y="1371600"/>
            <a:ext cx="8229600" cy="3251200"/>
            <a:chOff x="457200" y="1371600"/>
            <a:chExt cx="8229600" cy="3251200"/>
          </a:xfrm>
        </p:grpSpPr>
        <p:sp>
          <p:nvSpPr>
            <p:cNvPr id="4" name="BaseFigure"/>
            <p:cNvSpPr/>
            <p:nvPr/>
          </p:nvSpPr>
          <p:spPr>
            <a:xfrm>
              <a:off x="2794000" y="1600200"/>
              <a:ext cx="3556000" cy="279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BaseLabel"/>
            <p:cNvSpPr txBox="1"/>
            <p:nvPr/>
          </p:nvSpPr>
          <p:spPr>
            <a:xfrm>
              <a:off x="2794000" y="2870200"/>
              <a:ext cx="35560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ベース図</a:t>
              </a:r>
            </a:p>
            <a:p>
              <a:r>
                <a:rPr lang="ja-JP"/>
                <a:t>（note ダッシュボードの画面）</a:t>
              </a:r>
            </a:p>
          </p:txBody>
        </p:sp>
        <p:sp>
          <p:nvSpPr>
            <p:cNvPr id="6" name="Leader_01"/>
            <p:cNvSpPr/>
            <p:nvPr/>
          </p:nvSpPr>
          <p:spPr>
            <a:xfrm>
              <a:off x="2590800" y="1905000"/>
              <a:ext cx="850900" cy="203200"/>
            </a:xfrm>
            <a:custGeom>
              <a:avLst/>
              <a:gdLst/>
              <a:ahLst/>
              <a:cxnLst/>
              <a:rect l="0" t="0" r="r" b="b"/>
              <a:pathLst>
                <a:path w="850900" h="203200" fill="none">
                  <a:moveTo>
                    <a:pt x="850900" y="0"/>
                  </a:moveTo>
                  <a:lnTo>
                    <a:pt x="425450" y="0"/>
                  </a:lnTo>
                  <a:lnTo>
                    <a:pt x="425450" y="203200"/>
                  </a:lnTo>
                  <a:lnTo>
                    <a:pt x="0" y="2032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7" name="Card_01"/>
            <p:cNvSpPr/>
            <p:nvPr/>
          </p:nvSpPr>
          <p:spPr>
            <a:xfrm>
              <a:off x="457200" y="1752600"/>
              <a:ext cx="2133600" cy="711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8" name="CardNo_01"/>
            <p:cNvSpPr txBox="1"/>
            <p:nvPr/>
          </p:nvSpPr>
          <p:spPr>
            <a:xfrm>
              <a:off x="584200" y="1828800"/>
              <a:ext cx="1879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01  アクセス推移</a:t>
              </a:r>
            </a:p>
          </p:txBody>
        </p:sp>
        <p:sp>
          <p:nvSpPr>
            <p:cNvPr id="9" name="CardBody_01"/>
            <p:cNvSpPr txBox="1"/>
            <p:nvPr/>
          </p:nvSpPr>
          <p:spPr>
            <a:xfrm>
              <a:off x="584200" y="2057400"/>
              <a:ext cx="1879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7日間の山は</a:t>
              </a:r>
            </a:p>
            <a:p>
              <a:r>
                <a:rPr lang="ja-JP"/>
                <a:t>連載 #3 の公開日</a:t>
              </a:r>
            </a:p>
          </p:txBody>
        </p:sp>
        <p:sp>
          <p:nvSpPr>
            <p:cNvPr id="10" name="Leader_02"/>
            <p:cNvSpPr/>
            <p:nvPr/>
          </p:nvSpPr>
          <p:spPr>
            <a:xfrm>
              <a:off x="5537200" y="2413000"/>
              <a:ext cx="1016000" cy="266700"/>
            </a:xfrm>
            <a:custGeom>
              <a:avLst/>
              <a:gdLst/>
              <a:ahLst/>
              <a:cxnLst/>
              <a:rect l="0" t="0" r="r" b="b"/>
              <a:pathLst>
                <a:path w="1016000" h="266700" fill="none">
                  <a:moveTo>
                    <a:pt x="0" y="0"/>
                  </a:moveTo>
                  <a:lnTo>
                    <a:pt x="508000" y="0"/>
                  </a:lnTo>
                  <a:lnTo>
                    <a:pt x="508000" y="266700"/>
                  </a:lnTo>
                  <a:lnTo>
                    <a:pt x="1016000" y="2667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11" name="Card_02"/>
            <p:cNvSpPr/>
            <p:nvPr/>
          </p:nvSpPr>
          <p:spPr>
            <a:xfrm>
              <a:off x="6553200" y="2324100"/>
              <a:ext cx="2133600" cy="711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2" name="CardNo_02"/>
            <p:cNvSpPr txBox="1"/>
            <p:nvPr/>
          </p:nvSpPr>
          <p:spPr>
            <a:xfrm>
              <a:off x="6680200" y="2400300"/>
              <a:ext cx="1879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02  人気記事</a:t>
              </a:r>
            </a:p>
          </p:txBody>
        </p:sp>
        <p:sp>
          <p:nvSpPr>
            <p:cNvPr id="13" name="CardBody_02"/>
            <p:cNvSpPr txBox="1"/>
            <p:nvPr/>
          </p:nvSpPr>
          <p:spPr>
            <a:xfrm>
              <a:off x="6680200" y="2628900"/>
              <a:ext cx="1879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上位3本で</a:t>
              </a:r>
            </a:p>
            <a:p>
              <a:r>
                <a:rPr lang="ja-JP"/>
                <a:t>全体の 62%</a:t>
              </a:r>
            </a:p>
          </p:txBody>
        </p:sp>
        <p:sp>
          <p:nvSpPr>
            <p:cNvPr id="14" name="Leader_03"/>
            <p:cNvSpPr/>
            <p:nvPr/>
          </p:nvSpPr>
          <p:spPr>
            <a:xfrm>
              <a:off x="2590800" y="3365500"/>
              <a:ext cx="1422400" cy="266700"/>
            </a:xfrm>
            <a:custGeom>
              <a:avLst/>
              <a:gdLst/>
              <a:ahLst/>
              <a:cxnLst/>
              <a:rect l="0" t="0" r="r" b="b"/>
              <a:pathLst>
                <a:path w="1422400" h="266700" fill="none">
                  <a:moveTo>
                    <a:pt x="1422400" y="0"/>
                  </a:moveTo>
                  <a:lnTo>
                    <a:pt x="711200" y="0"/>
                  </a:lnTo>
                  <a:lnTo>
                    <a:pt x="711200" y="266700"/>
                  </a:lnTo>
                  <a:lnTo>
                    <a:pt x="0" y="2667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15" name="Card_03"/>
            <p:cNvSpPr/>
            <p:nvPr/>
          </p:nvSpPr>
          <p:spPr>
            <a:xfrm>
              <a:off x="457200" y="3276600"/>
              <a:ext cx="2133600" cy="711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6" name="CardNo_03"/>
            <p:cNvSpPr txBox="1"/>
            <p:nvPr/>
          </p:nvSpPr>
          <p:spPr>
            <a:xfrm>
              <a:off x="584200" y="3352800"/>
              <a:ext cx="1879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03  流入元</a:t>
              </a:r>
            </a:p>
          </p:txBody>
        </p:sp>
        <p:sp>
          <p:nvSpPr>
            <p:cNvPr id="17" name="CardBody_03"/>
            <p:cNvSpPr txBox="1"/>
            <p:nvPr/>
          </p:nvSpPr>
          <p:spPr>
            <a:xfrm>
              <a:off x="584200" y="3581400"/>
              <a:ext cx="1879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検索が 58%。</a:t>
              </a:r>
            </a:p>
            <a:p>
              <a:r>
                <a:rPr lang="ja-JP"/>
                <a:t>SNS は 21%</a:t>
              </a:r>
            </a:p>
          </p:txBody>
        </p:sp>
        <p:sp>
          <p:nvSpPr>
            <p:cNvPr id="18" name="Pin_01"/>
            <p:cNvSpPr/>
            <p:nvPr/>
          </p:nvSpPr>
          <p:spPr>
            <a:xfrm>
              <a:off x="3352800" y="1816100"/>
              <a:ext cx="177800" cy="254000"/>
            </a:xfrm>
            <a:custGeom>
              <a:avLst/>
              <a:gdLst/>
              <a:ahLst/>
              <a:cxnLst/>
              <a:rect l="0" t="0" r="r" b="b"/>
              <a:pathLst>
                <a:path w="177800" h="254000">
                  <a:moveTo>
                    <a:pt x="88900" y="254000"/>
                  </a:moveTo>
                  <a:cubicBezTo>
                    <a:pt x="88900" y="254000"/>
                    <a:pt x="0" y="139700"/>
                    <a:pt x="0" y="88900"/>
                  </a:cubicBezTo>
                  <a:cubicBezTo>
                    <a:pt x="0" y="40005"/>
                    <a:pt x="40005" y="0"/>
                    <a:pt x="88900" y="0"/>
                  </a:cubicBezTo>
                  <a:cubicBezTo>
                    <a:pt x="137795" y="0"/>
                    <a:pt x="177800" y="40005"/>
                    <a:pt x="177800" y="88900"/>
                  </a:cubicBezTo>
                  <a:cubicBezTo>
                    <a:pt x="177800" y="139700"/>
                    <a:pt x="88900" y="254000"/>
                    <a:pt x="88900" y="254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inHole_01"/>
            <p:cNvSpPr/>
            <p:nvPr/>
          </p:nvSpPr>
          <p:spPr>
            <a:xfrm>
              <a:off x="3409950" y="1873250"/>
              <a:ext cx="63500" cy="635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</p:sp>
        <p:sp>
          <p:nvSpPr>
            <p:cNvPr id="20" name="Pin_02"/>
            <p:cNvSpPr/>
            <p:nvPr/>
          </p:nvSpPr>
          <p:spPr>
            <a:xfrm>
              <a:off x="5448300" y="2324100"/>
              <a:ext cx="177800" cy="254000"/>
            </a:xfrm>
            <a:custGeom>
              <a:avLst/>
              <a:gdLst/>
              <a:ahLst/>
              <a:cxnLst/>
              <a:rect l="0" t="0" r="r" b="b"/>
              <a:pathLst>
                <a:path w="177800" h="254000">
                  <a:moveTo>
                    <a:pt x="88900" y="254000"/>
                  </a:moveTo>
                  <a:cubicBezTo>
                    <a:pt x="88900" y="254000"/>
                    <a:pt x="0" y="139700"/>
                    <a:pt x="0" y="88900"/>
                  </a:cubicBezTo>
                  <a:cubicBezTo>
                    <a:pt x="0" y="40005"/>
                    <a:pt x="40005" y="0"/>
                    <a:pt x="88900" y="0"/>
                  </a:cubicBezTo>
                  <a:cubicBezTo>
                    <a:pt x="137795" y="0"/>
                    <a:pt x="177800" y="40005"/>
                    <a:pt x="177800" y="88900"/>
                  </a:cubicBezTo>
                  <a:cubicBezTo>
                    <a:pt x="177800" y="139700"/>
                    <a:pt x="88900" y="254000"/>
                    <a:pt x="88900" y="254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PinHole_02"/>
            <p:cNvSpPr/>
            <p:nvPr/>
          </p:nvSpPr>
          <p:spPr>
            <a:xfrm>
              <a:off x="5505450" y="2381250"/>
              <a:ext cx="63500" cy="635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</p:sp>
        <p:sp>
          <p:nvSpPr>
            <p:cNvPr id="22" name="Pin_03"/>
            <p:cNvSpPr/>
            <p:nvPr/>
          </p:nvSpPr>
          <p:spPr>
            <a:xfrm>
              <a:off x="3924300" y="3276600"/>
              <a:ext cx="177800" cy="254000"/>
            </a:xfrm>
            <a:custGeom>
              <a:avLst/>
              <a:gdLst/>
              <a:ahLst/>
              <a:cxnLst/>
              <a:rect l="0" t="0" r="r" b="b"/>
              <a:pathLst>
                <a:path w="177800" h="254000">
                  <a:moveTo>
                    <a:pt x="88900" y="254000"/>
                  </a:moveTo>
                  <a:cubicBezTo>
                    <a:pt x="88900" y="254000"/>
                    <a:pt x="0" y="139700"/>
                    <a:pt x="0" y="88900"/>
                  </a:cubicBezTo>
                  <a:cubicBezTo>
                    <a:pt x="0" y="40005"/>
                    <a:pt x="40005" y="0"/>
                    <a:pt x="88900" y="0"/>
                  </a:cubicBezTo>
                  <a:cubicBezTo>
                    <a:pt x="137795" y="0"/>
                    <a:pt x="177800" y="40005"/>
                    <a:pt x="177800" y="88900"/>
                  </a:cubicBezTo>
                  <a:cubicBezTo>
                    <a:pt x="177800" y="139700"/>
                    <a:pt x="88900" y="254000"/>
                    <a:pt x="88900" y="254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PinHole_03"/>
            <p:cNvSpPr/>
            <p:nvPr/>
          </p:nvSpPr>
          <p:spPr>
            <a:xfrm>
              <a:off x="3981450" y="3333750"/>
              <a:ext cx="63500" cy="635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</p:sp>
      </p:grpSp>
      <p:sp>
        <p:nvSpPr>
          <p:cNvPr id="2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デザインシステムの構成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上の層を変えると、下は全部作り直せる</a:t>
            </a:r>
          </a:p>
        </p:txBody>
      </p:sp>
      <p:grpSp>
        <p:nvGrpSpPr>
          <p:cNvPr id="27" name="organism/O-B21 ツリー"/>
          <p:cNvGrpSpPr/>
          <p:nvPr/>
        </p:nvGrpSpPr>
        <p:grpSpPr>
          <a:xfrm>
            <a:off x="457200" y="1663700"/>
            <a:ext cx="8229600" cy="2667000"/>
            <a:chOff x="457200" y="1663700"/>
            <a:chExt cx="8229600" cy="2667000"/>
          </a:xfrm>
        </p:grpSpPr>
        <p:sp>
          <p:nvSpPr>
            <p:cNvPr id="4" name="Root"/>
            <p:cNvSpPr/>
            <p:nvPr/>
          </p:nvSpPr>
          <p:spPr>
            <a:xfrm>
              <a:off x="3556000" y="1663700"/>
              <a:ext cx="2032000" cy="50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Root_t"/>
            <p:cNvSpPr txBox="1"/>
            <p:nvPr/>
          </p:nvSpPr>
          <p:spPr>
            <a:xfrm>
              <a:off x="3657600" y="17907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デザインシステム</a:t>
              </a:r>
            </a:p>
          </p:txBody>
        </p:sp>
        <p:sp>
          <p:nvSpPr>
            <p:cNvPr id="6" name="Trunk"/>
            <p:cNvSpPr/>
            <p:nvPr/>
          </p:nvSpPr>
          <p:spPr>
            <a:xfrm>
              <a:off x="4559300" y="2171700"/>
              <a:ext cx="12700" cy="304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Bar"/>
            <p:cNvSpPr/>
            <p:nvPr/>
          </p:nvSpPr>
          <p:spPr>
            <a:xfrm>
              <a:off x="1600200" y="2476500"/>
              <a:ext cx="59436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Stem_共通トークン"/>
            <p:cNvSpPr/>
            <p:nvPr/>
          </p:nvSpPr>
          <p:spPr>
            <a:xfrm>
              <a:off x="2603500" y="24765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Node_共通トークン"/>
            <p:cNvSpPr/>
            <p:nvPr/>
          </p:nvSpPr>
          <p:spPr>
            <a:xfrm>
              <a:off x="1600200" y="2730500"/>
              <a:ext cx="2032000" cy="457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Node_共通トークン_t"/>
            <p:cNvSpPr txBox="1"/>
            <p:nvPr/>
          </p:nvSpPr>
          <p:spPr>
            <a:xfrm>
              <a:off x="1701800" y="28321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共通トークン</a:t>
              </a:r>
            </a:p>
          </p:txBody>
        </p:sp>
        <p:sp>
          <p:nvSpPr>
            <p:cNvPr id="11" name="Stem_PowerPoint"/>
            <p:cNvSpPr/>
            <p:nvPr/>
          </p:nvSpPr>
          <p:spPr>
            <a:xfrm>
              <a:off x="4559300" y="24765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Node_PowerPoint"/>
            <p:cNvSpPr/>
            <p:nvPr/>
          </p:nvSpPr>
          <p:spPr>
            <a:xfrm>
              <a:off x="3556000" y="2730500"/>
              <a:ext cx="2032000" cy="457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3" name="Node_PowerPoint_t"/>
            <p:cNvSpPr txBox="1"/>
            <p:nvPr/>
          </p:nvSpPr>
          <p:spPr>
            <a:xfrm>
              <a:off x="3657600" y="28321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PowerPoint</a:t>
              </a:r>
            </a:p>
          </p:txBody>
        </p:sp>
        <p:sp>
          <p:nvSpPr>
            <p:cNvPr id="14" name="Stem_Word"/>
            <p:cNvSpPr/>
            <p:nvPr/>
          </p:nvSpPr>
          <p:spPr>
            <a:xfrm>
              <a:off x="6515100" y="24765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Node_Word"/>
            <p:cNvSpPr/>
            <p:nvPr/>
          </p:nvSpPr>
          <p:spPr>
            <a:xfrm>
              <a:off x="5511800" y="2730500"/>
              <a:ext cx="2032000" cy="457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6" name="Node_Word_t"/>
            <p:cNvSpPr txBox="1"/>
            <p:nvPr/>
          </p:nvSpPr>
          <p:spPr>
            <a:xfrm>
              <a:off x="5613400" y="28321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Word</a:t>
              </a:r>
            </a:p>
          </p:txBody>
        </p:sp>
        <p:sp>
          <p:nvSpPr>
            <p:cNvPr id="17" name="Stem2_色・文字サイズ"/>
            <p:cNvSpPr/>
            <p:nvPr/>
          </p:nvSpPr>
          <p:spPr>
            <a:xfrm>
              <a:off x="2603500" y="31877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Leaf_色・文字サイズ"/>
            <p:cNvSpPr/>
            <p:nvPr/>
          </p:nvSpPr>
          <p:spPr>
            <a:xfrm>
              <a:off x="1600200" y="3441700"/>
              <a:ext cx="2032000" cy="4064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9" name="Leaf_色・文字サイズ_t"/>
            <p:cNvSpPr txBox="1"/>
            <p:nvPr/>
          </p:nvSpPr>
          <p:spPr>
            <a:xfrm>
              <a:off x="1701800" y="35179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色・文字サイズ</a:t>
              </a:r>
            </a:p>
          </p:txBody>
        </p:sp>
        <p:sp>
          <p:nvSpPr>
            <p:cNvPr id="20" name="Stem2_レイアウト7種"/>
            <p:cNvSpPr/>
            <p:nvPr/>
          </p:nvSpPr>
          <p:spPr>
            <a:xfrm>
              <a:off x="4559300" y="31877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Leaf_レイアウト7種"/>
            <p:cNvSpPr/>
            <p:nvPr/>
          </p:nvSpPr>
          <p:spPr>
            <a:xfrm>
              <a:off x="3556000" y="3441700"/>
              <a:ext cx="2032000" cy="4064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2" name="Leaf_レイアウト7種_t"/>
            <p:cNvSpPr txBox="1"/>
            <p:nvPr/>
          </p:nvSpPr>
          <p:spPr>
            <a:xfrm>
              <a:off x="3657600" y="35179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レイアウト7種</a:t>
              </a:r>
            </a:p>
          </p:txBody>
        </p:sp>
        <p:sp>
          <p:nvSpPr>
            <p:cNvPr id="23" name="Stem2_スタイル表"/>
            <p:cNvSpPr/>
            <p:nvPr/>
          </p:nvSpPr>
          <p:spPr>
            <a:xfrm>
              <a:off x="6515100" y="31877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Leaf_スタイル表"/>
            <p:cNvSpPr/>
            <p:nvPr/>
          </p:nvSpPr>
          <p:spPr>
            <a:xfrm>
              <a:off x="5511800" y="3441700"/>
              <a:ext cx="2032000" cy="4064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5" name="Leaf_スタイル表_t"/>
            <p:cNvSpPr txBox="1"/>
            <p:nvPr/>
          </p:nvSpPr>
          <p:spPr>
            <a:xfrm>
              <a:off x="5613400" y="35179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スタイル表</a:t>
              </a:r>
            </a:p>
          </p:txBody>
        </p:sp>
        <p:sp>
          <p:nvSpPr>
            <p:cNvPr id="26" name="Note"/>
            <p:cNvSpPr txBox="1"/>
            <p:nvPr/>
          </p:nvSpPr>
          <p:spPr>
            <a:xfrm>
              <a:off x="457200" y="40513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下の層ほど具体。上の層を変えると下は全部作り直せる</a:t>
              </a:r>
            </a:p>
          </p:txBody>
        </p:sp>
      </p:grpSp>
      <p:sp>
        <p:nvSpPr>
          <p:cNvPr id="28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この連載の登場人物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読者は非エンジニアが中心</a:t>
            </a:r>
          </a:p>
        </p:txBody>
      </p:sp>
      <p:grpSp>
        <p:nvGrpSpPr>
          <p:cNvPr id="19" name="organism/O-B14 人物紹介"/>
          <p:cNvGrpSpPr/>
          <p:nvPr/>
        </p:nvGrpSpPr>
        <p:grpSpPr>
          <a:xfrm>
            <a:off x="457200" y="1854200"/>
            <a:ext cx="8229600" cy="2286000"/>
            <a:chOff x="457200" y="1854200"/>
            <a:chExt cx="8229600" cy="2286000"/>
          </a:xfrm>
        </p:grpSpPr>
        <p:sp>
          <p:nvSpPr>
            <p:cNvPr id="4" name="Card_1"/>
            <p:cNvSpPr/>
            <p:nvPr/>
          </p:nvSpPr>
          <p:spPr>
            <a:xfrm>
              <a:off x="457200" y="1854200"/>
              <a:ext cx="2540000" cy="228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Photo_1"/>
            <p:cNvSpPr/>
            <p:nvPr/>
          </p:nvSpPr>
          <p:spPr>
            <a:xfrm>
              <a:off x="1320800" y="2108200"/>
              <a:ext cx="812800" cy="81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Name_1"/>
            <p:cNvSpPr txBox="1"/>
            <p:nvPr/>
          </p:nvSpPr>
          <p:spPr>
            <a:xfrm>
              <a:off x="457200" y="3098800"/>
              <a:ext cx="2540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だいき君</a:t>
              </a:r>
            </a:p>
          </p:txBody>
        </p:sp>
        <p:sp>
          <p:nvSpPr>
            <p:cNvPr id="7" name="Role_1"/>
            <p:cNvSpPr txBox="1"/>
            <p:nvPr/>
          </p:nvSpPr>
          <p:spPr>
            <a:xfrm>
              <a:off x="457200" y="34036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筆者／試作担当</a:t>
              </a:r>
            </a:p>
          </p:txBody>
        </p:sp>
        <p:sp>
          <p:nvSpPr>
            <p:cNvPr id="8" name="Desc_1"/>
            <p:cNvSpPr txBox="1"/>
            <p:nvPr/>
          </p:nvSpPr>
          <p:spPr>
            <a:xfrm>
              <a:off x="660400" y="3657600"/>
              <a:ext cx="213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note を書きながら、AI との進め方を試す</a:t>
              </a:r>
            </a:p>
          </p:txBody>
        </p:sp>
        <p:sp>
          <p:nvSpPr>
            <p:cNvPr id="9" name="Card_2"/>
            <p:cNvSpPr/>
            <p:nvPr/>
          </p:nvSpPr>
          <p:spPr>
            <a:xfrm>
              <a:off x="3302000" y="1854200"/>
              <a:ext cx="2540000" cy="228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Photo_2"/>
            <p:cNvSpPr/>
            <p:nvPr/>
          </p:nvSpPr>
          <p:spPr>
            <a:xfrm>
              <a:off x="4165600" y="2108200"/>
              <a:ext cx="812800" cy="812800"/>
            </a:xfrm>
            <a:prstGeom prst="ellipse">
              <a:avLst/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</p:sp>
        <p:sp>
          <p:nvSpPr>
            <p:cNvPr id="11" name="Name_2"/>
            <p:cNvSpPr txBox="1"/>
            <p:nvPr/>
          </p:nvSpPr>
          <p:spPr>
            <a:xfrm>
              <a:off x="3302000" y="3098800"/>
              <a:ext cx="2540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Claude</a:t>
              </a:r>
            </a:p>
          </p:txBody>
        </p:sp>
        <p:sp>
          <p:nvSpPr>
            <p:cNvPr id="12" name="Role_2"/>
            <p:cNvSpPr txBox="1"/>
            <p:nvPr/>
          </p:nvSpPr>
          <p:spPr>
            <a:xfrm>
              <a:off x="3302000" y="34036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AI エージェント</a:t>
              </a:r>
            </a:p>
          </p:txBody>
        </p:sp>
        <p:sp>
          <p:nvSpPr>
            <p:cNvPr id="13" name="Desc_2"/>
            <p:cNvSpPr txBox="1"/>
            <p:nvPr/>
          </p:nvSpPr>
          <p:spPr>
            <a:xfrm>
              <a:off x="3505200" y="3657600"/>
              <a:ext cx="213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XML を書き、検証し、記録を残す</a:t>
              </a:r>
            </a:p>
          </p:txBody>
        </p:sp>
        <p:sp>
          <p:nvSpPr>
            <p:cNvPr id="14" name="Card_3"/>
            <p:cNvSpPr/>
            <p:nvPr/>
          </p:nvSpPr>
          <p:spPr>
            <a:xfrm>
              <a:off x="6146800" y="1854200"/>
              <a:ext cx="2540000" cy="228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5" name="Photo_3"/>
            <p:cNvSpPr/>
            <p:nvPr/>
          </p:nvSpPr>
          <p:spPr>
            <a:xfrm>
              <a:off x="7010400" y="2108200"/>
              <a:ext cx="812800" cy="812800"/>
            </a:xfrm>
            <a:prstGeom prst="ellipse">
              <a:avLst/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</p:sp>
        <p:sp>
          <p:nvSpPr>
            <p:cNvPr id="16" name="Name_3"/>
            <p:cNvSpPr txBox="1"/>
            <p:nvPr/>
          </p:nvSpPr>
          <p:spPr>
            <a:xfrm>
              <a:off x="6146800" y="3098800"/>
              <a:ext cx="2540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読者</a:t>
              </a:r>
            </a:p>
          </p:txBody>
        </p:sp>
        <p:sp>
          <p:nvSpPr>
            <p:cNvPr id="17" name="Role_3"/>
            <p:cNvSpPr txBox="1"/>
            <p:nvPr/>
          </p:nvSpPr>
          <p:spPr>
            <a:xfrm>
              <a:off x="6146800" y="34036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非エンジニア中心</a:t>
              </a:r>
            </a:p>
          </p:txBody>
        </p:sp>
        <p:sp>
          <p:nvSpPr>
            <p:cNvPr id="18" name="Desc_3"/>
            <p:cNvSpPr txBox="1"/>
            <p:nvPr/>
          </p:nvSpPr>
          <p:spPr>
            <a:xfrm>
              <a:off x="6350000" y="3657600"/>
              <a:ext cx="213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自分の仕事に持ち帰れるかで読む</a:t>
              </a:r>
            </a:p>
          </p:txBody>
        </p:sp>
      </p:grpSp>
      <p:sp>
        <p:nvSpPr>
          <p:cNvPr id="20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申込経路の入れ替わり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2023年にオンラインが紙を上回った</a:t>
            </a:r>
          </a:p>
        </p:txBody>
      </p:sp>
      <p:grpSp>
        <p:nvGrpSpPr>
          <p:cNvPr id="16" name="organism/O-B24 逆転（2つの推移の交差）"/>
          <p:cNvGrpSpPr/>
          <p:nvPr/>
        </p:nvGrpSpPr>
        <p:grpSpPr>
          <a:xfrm>
            <a:off x="457200" y="1527175"/>
            <a:ext cx="8229600" cy="2940050"/>
            <a:chOff x="457200" y="1527175"/>
            <a:chExt cx="8229600" cy="2940050"/>
          </a:xfrm>
        </p:grpSpPr>
        <p:sp>
          <p:nvSpPr>
            <p:cNvPr id="4" name="Axis"/>
            <p:cNvSpPr/>
            <p:nvPr/>
          </p:nvSpPr>
          <p:spPr>
            <a:xfrm>
              <a:off x="457200" y="3889375"/>
              <a:ext cx="67310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Drop_交点"/>
            <p:cNvSpPr/>
            <p:nvPr/>
          </p:nvSpPr>
          <p:spPr>
            <a:xfrm>
              <a:off x="4081399" y="2861500"/>
              <a:ext cx="12700" cy="102787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Line_旧"/>
            <p:cNvSpPr/>
            <p:nvPr/>
          </p:nvSpPr>
          <p:spPr>
            <a:xfrm>
              <a:off x="457200" y="1976755"/>
              <a:ext cx="6731000" cy="1577340"/>
            </a:xfrm>
            <a:custGeom>
              <a:avLst/>
              <a:gdLst/>
              <a:ahLst/>
              <a:cxnLst/>
              <a:rect l="0" t="0" r="r" b="b"/>
              <a:pathLst>
                <a:path w="6731000" h="1577340" fill="none">
                  <a:moveTo>
                    <a:pt x="0" y="0"/>
                  </a:moveTo>
                  <a:lnTo>
                    <a:pt x="1649095" y="154305"/>
                  </a:lnTo>
                  <a:lnTo>
                    <a:pt x="4193413" y="994410"/>
                  </a:lnTo>
                  <a:lnTo>
                    <a:pt x="6731000" y="1577340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miter lim="800000"/>
            </a:ln>
          </p:spPr>
        </p:sp>
        <p:sp>
          <p:nvSpPr>
            <p:cNvPr id="7" name="Line_新"/>
            <p:cNvSpPr/>
            <p:nvPr/>
          </p:nvSpPr>
          <p:spPr>
            <a:xfrm>
              <a:off x="457200" y="1908175"/>
              <a:ext cx="6731000" cy="1628775"/>
            </a:xfrm>
            <a:custGeom>
              <a:avLst/>
              <a:gdLst/>
              <a:ahLst/>
              <a:cxnLst/>
              <a:rect l="0" t="0" r="r" b="b"/>
              <a:pathLst>
                <a:path w="6731000" h="1628775" fill="none">
                  <a:moveTo>
                    <a:pt x="0" y="1628775"/>
                  </a:moveTo>
                  <a:lnTo>
                    <a:pt x="2160651" y="1337310"/>
                  </a:lnTo>
                  <a:lnTo>
                    <a:pt x="4570349" y="582930"/>
                  </a:lnTo>
                  <a:lnTo>
                    <a:pt x="6731000" y="0"/>
                  </a:lnTo>
                </a:path>
              </a:pathLst>
            </a:custGeom>
            <a:noFill/>
            <a:ln w="31750" cap="flat">
              <a:solidFill>
                <a:schemeClr val="accent1"/>
              </a:solidFill>
              <a:miter lim="800000"/>
            </a:ln>
          </p:spPr>
        </p:sp>
        <p:sp>
          <p:nvSpPr>
            <p:cNvPr id="8" name="Dot_交点"/>
            <p:cNvSpPr/>
            <p:nvPr/>
          </p:nvSpPr>
          <p:spPr>
            <a:xfrm>
              <a:off x="4030599" y="2728150"/>
              <a:ext cx="114300" cy="114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Label_交点"/>
            <p:cNvSpPr txBox="1"/>
            <p:nvPr/>
          </p:nvSpPr>
          <p:spPr>
            <a:xfrm>
              <a:off x="3389249" y="2277300"/>
              <a:ext cx="1397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2023年に逆転</a:t>
              </a:r>
            </a:p>
          </p:txBody>
        </p:sp>
        <p:sp>
          <p:nvSpPr>
            <p:cNvPr id="10" name="Label_旧"/>
            <p:cNvSpPr txBox="1"/>
            <p:nvPr/>
          </p:nvSpPr>
          <p:spPr>
            <a:xfrm>
              <a:off x="457200" y="1640205"/>
              <a:ext cx="2032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紙の申込書</a:t>
              </a:r>
            </a:p>
          </p:txBody>
        </p:sp>
        <p:sp>
          <p:nvSpPr>
            <p:cNvPr id="11" name="Label_新"/>
            <p:cNvSpPr txBox="1"/>
            <p:nvPr/>
          </p:nvSpPr>
          <p:spPr>
            <a:xfrm>
              <a:off x="5156200" y="1571625"/>
              <a:ext cx="2032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オンライン申込</a:t>
              </a:r>
            </a:p>
          </p:txBody>
        </p:sp>
        <p:sp>
          <p:nvSpPr>
            <p:cNvPr id="12" name="Axis_始"/>
            <p:cNvSpPr txBox="1"/>
            <p:nvPr/>
          </p:nvSpPr>
          <p:spPr>
            <a:xfrm>
              <a:off x="457200" y="3965575"/>
              <a:ext cx="1270000" cy="139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080"/>
                </a:lnSpc>
                <a:spcBef>
                  <a:spcPts val="0"/>
                </a:spcBef>
                <a:buNone/>
                <a:defRPr sz="9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2021年</a:t>
              </a:r>
            </a:p>
          </p:txBody>
        </p:sp>
        <p:sp>
          <p:nvSpPr>
            <p:cNvPr id="13" name="Axis_交点"/>
            <p:cNvSpPr txBox="1"/>
            <p:nvPr/>
          </p:nvSpPr>
          <p:spPr>
            <a:xfrm>
              <a:off x="3452749" y="3965575"/>
              <a:ext cx="1270000" cy="139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080"/>
                </a:lnSpc>
                <a:spcBef>
                  <a:spcPts val="0"/>
                </a:spcBef>
                <a:buNone/>
                <a:defRPr sz="900" b="0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2023年</a:t>
              </a:r>
            </a:p>
          </p:txBody>
        </p:sp>
        <p:sp>
          <p:nvSpPr>
            <p:cNvPr id="14" name="Axis_終"/>
            <p:cNvSpPr txBox="1"/>
            <p:nvPr/>
          </p:nvSpPr>
          <p:spPr>
            <a:xfrm>
              <a:off x="5918200" y="3965575"/>
              <a:ext cx="1270000" cy="139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080"/>
                </a:lnSpc>
                <a:spcBef>
                  <a:spcPts val="0"/>
                </a:spcBef>
                <a:buNone/>
                <a:defRPr sz="9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2025年</a:t>
              </a:r>
            </a:p>
          </p:txBody>
        </p:sp>
        <p:sp>
          <p:nvSpPr>
            <p:cNvPr id="15" name="Note"/>
            <p:cNvSpPr txBox="1"/>
            <p:nvPr/>
          </p:nvSpPr>
          <p:spPr>
            <a:xfrm>
              <a:off x="457200" y="4219575"/>
              <a:ext cx="698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各年の実数があるなら折れ線グラフで作る。これは数字が無く「逆転した」ことだけを言う図</a:t>
              </a:r>
            </a:p>
          </p:txBody>
        </p:sp>
      </p:grpSp>
      <p:sp>
        <p:nvSpPr>
          <p:cNvPr id="17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打ち手が頭打ちになった理由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対応を速くしても、1日の上限は動かない</a:t>
            </a:r>
          </a:p>
        </p:txBody>
      </p:sp>
      <p:grpSp>
        <p:nvGrpSpPr>
          <p:cNvPr id="33" name="organism/O-B25 壁（進行が止まる）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Pill_1"/>
            <p:cNvSpPr/>
            <p:nvPr/>
          </p:nvSpPr>
          <p:spPr>
            <a:xfrm>
              <a:off x="457200" y="2057400"/>
              <a:ext cx="2667000" cy="482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PillText_1"/>
            <p:cNvSpPr txBox="1"/>
            <p:nvPr/>
          </p:nvSpPr>
          <p:spPr>
            <a:xfrm>
              <a:off x="609600" y="2174875"/>
              <a:ext cx="2159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問い合わせの自動返信</a:t>
              </a:r>
            </a:p>
          </p:txBody>
        </p:sp>
        <p:sp>
          <p:nvSpPr>
            <p:cNvPr id="6" name="Arrow_1"/>
            <p:cNvSpPr txBox="1"/>
            <p:nvPr/>
          </p:nvSpPr>
          <p:spPr>
            <a:xfrm>
              <a:off x="3378200" y="2149475"/>
              <a:ext cx="381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→</a:t>
              </a:r>
            </a:p>
          </p:txBody>
        </p:sp>
        <p:sp>
          <p:nvSpPr>
            <p:cNvPr id="7" name="Pill_2"/>
            <p:cNvSpPr/>
            <p:nvPr/>
          </p:nvSpPr>
          <p:spPr>
            <a:xfrm>
              <a:off x="457200" y="2755900"/>
              <a:ext cx="2667000" cy="482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8" name="PillText_2"/>
            <p:cNvSpPr txBox="1"/>
            <p:nvPr/>
          </p:nvSpPr>
          <p:spPr>
            <a:xfrm>
              <a:off x="609600" y="2873375"/>
              <a:ext cx="2159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テンプレートの整備</a:t>
              </a:r>
            </a:p>
          </p:txBody>
        </p:sp>
        <p:sp>
          <p:nvSpPr>
            <p:cNvPr id="9" name="Arrow_2"/>
            <p:cNvSpPr txBox="1"/>
            <p:nvPr/>
          </p:nvSpPr>
          <p:spPr>
            <a:xfrm>
              <a:off x="3378200" y="2847975"/>
              <a:ext cx="381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→</a:t>
              </a:r>
            </a:p>
          </p:txBody>
        </p:sp>
        <p:sp>
          <p:nvSpPr>
            <p:cNvPr id="10" name="Pill_3"/>
            <p:cNvSpPr/>
            <p:nvPr/>
          </p:nvSpPr>
          <p:spPr>
            <a:xfrm>
              <a:off x="457200" y="3454400"/>
              <a:ext cx="2667000" cy="482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1" name="PillText_3"/>
            <p:cNvSpPr txBox="1"/>
            <p:nvPr/>
          </p:nvSpPr>
          <p:spPr>
            <a:xfrm>
              <a:off x="609600" y="3571875"/>
              <a:ext cx="2159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担当者を増やす</a:t>
              </a:r>
            </a:p>
          </p:txBody>
        </p:sp>
        <p:sp>
          <p:nvSpPr>
            <p:cNvPr id="12" name="Arrow_3"/>
            <p:cNvSpPr txBox="1"/>
            <p:nvPr/>
          </p:nvSpPr>
          <p:spPr>
            <a:xfrm>
              <a:off x="3378200" y="3546475"/>
              <a:ext cx="381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→</a:t>
              </a:r>
            </a:p>
          </p:txBody>
        </p:sp>
        <p:sp>
          <p:nvSpPr>
            <p:cNvPr id="13" name="WallLabel"/>
            <p:cNvSpPr txBox="1"/>
            <p:nvPr/>
          </p:nvSpPr>
          <p:spPr>
            <a:xfrm>
              <a:off x="4013200" y="1733550"/>
              <a:ext cx="1905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1日の対応件数の上限</a:t>
              </a:r>
            </a:p>
          </p:txBody>
        </p:sp>
        <p:sp>
          <p:nvSpPr>
            <p:cNvPr id="14" name="Beyond_card"/>
            <p:cNvSpPr/>
            <p:nvPr/>
          </p:nvSpPr>
          <p:spPr>
            <a:xfrm>
              <a:off x="5283200" y="2489200"/>
              <a:ext cx="2667000" cy="1016000"/>
            </a:xfrm>
            <a:prstGeom prst="rect">
              <a:avLst/>
            </a:prstGeom>
            <a:solidFill>
              <a:schemeClr val="bg2">
                <a:alpha val="45000"/>
              </a:schemeClr>
            </a:solidFill>
            <a:ln>
              <a:noFill/>
            </a:ln>
          </p:spPr>
        </p:sp>
        <p:sp>
          <p:nvSpPr>
            <p:cNvPr id="15" name="Beyond"/>
            <p:cNvSpPr txBox="1"/>
            <p:nvPr/>
          </p:nvSpPr>
          <p:spPr>
            <a:xfrm>
              <a:off x="5435600" y="2873375"/>
              <a:ext cx="23622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問い合わせを減らす</a:t>
              </a:r>
            </a:p>
          </p:txBody>
        </p:sp>
        <p:sp>
          <p:nvSpPr>
            <p:cNvPr id="16" name="Note"/>
            <p:cNvSpPr txBox="1"/>
            <p:nvPr/>
          </p:nvSpPr>
          <p:spPr>
            <a:xfrm>
              <a:off x="457200" y="41402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壁の向こう側は薄く見せる（届かなかった対象）</a:t>
              </a:r>
            </a:p>
          </p:txBody>
        </p:sp>
        <p:sp>
          <p:nvSpPr>
            <p:cNvPr id="17" name="Brick_1a"/>
            <p:cNvSpPr/>
            <p:nvPr/>
          </p:nvSpPr>
          <p:spPr>
            <a:xfrm>
              <a:off x="4013200" y="2057400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Brick_1b"/>
            <p:cNvSpPr/>
            <p:nvPr/>
          </p:nvSpPr>
          <p:spPr>
            <a:xfrm>
              <a:off x="4583430" y="2057400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Brick_2a"/>
            <p:cNvSpPr/>
            <p:nvPr/>
          </p:nvSpPr>
          <p:spPr>
            <a:xfrm>
              <a:off x="4013200" y="2295525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Brick_2b"/>
            <p:cNvSpPr/>
            <p:nvPr/>
          </p:nvSpPr>
          <p:spPr>
            <a:xfrm>
              <a:off x="4370070" y="2295525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Brick_3a"/>
            <p:cNvSpPr/>
            <p:nvPr/>
          </p:nvSpPr>
          <p:spPr>
            <a:xfrm>
              <a:off x="4013200" y="2533650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Brick_3b"/>
            <p:cNvSpPr/>
            <p:nvPr/>
          </p:nvSpPr>
          <p:spPr>
            <a:xfrm>
              <a:off x="4583430" y="2533650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Brick_4a"/>
            <p:cNvSpPr/>
            <p:nvPr/>
          </p:nvSpPr>
          <p:spPr>
            <a:xfrm>
              <a:off x="4013200" y="2771775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Brick_4b"/>
            <p:cNvSpPr/>
            <p:nvPr/>
          </p:nvSpPr>
          <p:spPr>
            <a:xfrm>
              <a:off x="4370070" y="2771775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Brick_5a"/>
            <p:cNvSpPr/>
            <p:nvPr/>
          </p:nvSpPr>
          <p:spPr>
            <a:xfrm>
              <a:off x="4013200" y="3009900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Brick_5b"/>
            <p:cNvSpPr/>
            <p:nvPr/>
          </p:nvSpPr>
          <p:spPr>
            <a:xfrm>
              <a:off x="4583430" y="3009900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Brick_6a"/>
            <p:cNvSpPr/>
            <p:nvPr/>
          </p:nvSpPr>
          <p:spPr>
            <a:xfrm>
              <a:off x="4013200" y="3248025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Brick_6b"/>
            <p:cNvSpPr/>
            <p:nvPr/>
          </p:nvSpPr>
          <p:spPr>
            <a:xfrm>
              <a:off x="4370070" y="3248025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Brick_7a"/>
            <p:cNvSpPr/>
            <p:nvPr/>
          </p:nvSpPr>
          <p:spPr>
            <a:xfrm>
              <a:off x="4013200" y="3486150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Brick_7b"/>
            <p:cNvSpPr/>
            <p:nvPr/>
          </p:nvSpPr>
          <p:spPr>
            <a:xfrm>
              <a:off x="4583430" y="3486150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Brick_8a"/>
            <p:cNvSpPr/>
            <p:nvPr/>
          </p:nvSpPr>
          <p:spPr>
            <a:xfrm>
              <a:off x="4013200" y="3724275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Brick_8b"/>
            <p:cNvSpPr/>
            <p:nvPr/>
          </p:nvSpPr>
          <p:spPr>
            <a:xfrm>
              <a:off x="4370070" y="3724275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sp>
        <p:nvSpPr>
          <p:cNvPr id="3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運用ルールが回らなくなった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足し続けた結果、誰も全体を把握できない</a:t>
            </a:r>
          </a:p>
        </p:txBody>
      </p:sp>
      <p:grpSp>
        <p:nvGrpSpPr>
          <p:cNvPr id="13" name="organism/O-B26 積層（積み上がって破綻）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Slab_1"/>
            <p:cNvSpPr/>
            <p:nvPr/>
          </p:nvSpPr>
          <p:spPr>
            <a:xfrm>
              <a:off x="457200" y="36703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Slab_2"/>
            <p:cNvSpPr/>
            <p:nvPr/>
          </p:nvSpPr>
          <p:spPr>
            <a:xfrm>
              <a:off x="469900" y="33782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Slab_3"/>
            <p:cNvSpPr/>
            <p:nvPr/>
          </p:nvSpPr>
          <p:spPr>
            <a:xfrm>
              <a:off x="495300" y="30861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Slab_4"/>
            <p:cNvSpPr/>
            <p:nvPr/>
          </p:nvSpPr>
          <p:spPr>
            <a:xfrm>
              <a:off x="546100" y="27940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Slab_5"/>
            <p:cNvSpPr/>
            <p:nvPr/>
          </p:nvSpPr>
          <p:spPr>
            <a:xfrm>
              <a:off x="622300" y="25019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Slab_6"/>
            <p:cNvSpPr/>
            <p:nvPr/>
          </p:nvSpPr>
          <p:spPr>
            <a:xfrm rot="240000">
              <a:off x="701358" y="2275967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StackLabel"/>
            <p:cNvSpPr txBox="1"/>
            <p:nvPr/>
          </p:nvSpPr>
          <p:spPr>
            <a:xfrm>
              <a:off x="457200" y="1885950"/>
              <a:ext cx="292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増え続ける運用ルール</a:t>
              </a:r>
            </a:p>
          </p:txBody>
        </p:sp>
        <p:sp>
          <p:nvSpPr>
            <p:cNvPr id="11" name="StackNote"/>
            <p:cNvSpPr txBox="1"/>
            <p:nvPr/>
          </p:nvSpPr>
          <p:spPr>
            <a:xfrm>
              <a:off x="2997200" y="2949575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書いても書いても終わらない</a:t>
              </a:r>
            </a:p>
          </p:txBody>
        </p:sp>
        <p:sp>
          <p:nvSpPr>
            <p:cNvPr id="12" name="Note"/>
            <p:cNvSpPr txBox="1"/>
            <p:nvPr/>
          </p:nvSpPr>
          <p:spPr>
            <a:xfrm>
              <a:off x="457200" y="41402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矩形の中は空にする（傾いた面の文字は読めない）</a:t>
              </a:r>
            </a:p>
          </p:txBody>
        </p:sp>
      </p:grpSp>
      <p:sp>
        <p:nvSpPr>
          <p:cNvPr id="1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目次</a:t>
            </a:r>
          </a:p>
        </p:txBody>
      </p:sp>
      <p:grpSp>
        <p:nvGrpSpPr>
          <p:cNvPr id="33" name="organism/O-S1 目次"/>
          <p:cNvGrpSpPr/>
          <p:nvPr/>
        </p:nvGrpSpPr>
        <p:grpSpPr>
          <a:xfrm>
            <a:off x="457200" y="965200"/>
            <a:ext cx="8229600" cy="3657600"/>
            <a:chOff x="457200" y="965200"/>
            <a:chExt cx="8229600" cy="3657600"/>
          </a:xfrm>
        </p:grpSpPr>
        <p:sp>
          <p:nvSpPr>
            <p:cNvPr id="3" name="Rule_01"/>
            <p:cNvSpPr/>
            <p:nvPr/>
          </p:nvSpPr>
          <p:spPr>
            <a:xfrm>
              <a:off x="457200" y="96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Rule_02"/>
            <p:cNvSpPr/>
            <p:nvPr/>
          </p:nvSpPr>
          <p:spPr>
            <a:xfrm>
              <a:off x="4724400" y="96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Rule_03"/>
            <p:cNvSpPr/>
            <p:nvPr/>
          </p:nvSpPr>
          <p:spPr>
            <a:xfrm>
              <a:off x="457200" y="223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Rule_04"/>
            <p:cNvSpPr/>
            <p:nvPr/>
          </p:nvSpPr>
          <p:spPr>
            <a:xfrm>
              <a:off x="4724400" y="223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Rule_05"/>
            <p:cNvSpPr/>
            <p:nvPr/>
          </p:nvSpPr>
          <p:spPr>
            <a:xfrm>
              <a:off x="457200" y="350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Rule_06"/>
            <p:cNvSpPr/>
            <p:nvPr/>
          </p:nvSpPr>
          <p:spPr>
            <a:xfrm>
              <a:off x="4724400" y="350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No_01"/>
            <p:cNvSpPr txBox="1"/>
            <p:nvPr/>
          </p:nvSpPr>
          <p:spPr>
            <a:xfrm>
              <a:off x="457200" y="111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01</a:t>
              </a:r>
            </a:p>
          </p:txBody>
        </p:sp>
        <p:sp>
          <p:nvSpPr>
            <p:cNvPr id="10" name="No_02"/>
            <p:cNvSpPr txBox="1"/>
            <p:nvPr/>
          </p:nvSpPr>
          <p:spPr>
            <a:xfrm>
              <a:off x="4724400" y="111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02</a:t>
              </a:r>
            </a:p>
          </p:txBody>
        </p:sp>
        <p:sp>
          <p:nvSpPr>
            <p:cNvPr id="11" name="No_03"/>
            <p:cNvSpPr txBox="1"/>
            <p:nvPr/>
          </p:nvSpPr>
          <p:spPr>
            <a:xfrm>
              <a:off x="457200" y="238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03</a:t>
              </a:r>
            </a:p>
          </p:txBody>
        </p:sp>
        <p:sp>
          <p:nvSpPr>
            <p:cNvPr id="12" name="No_04"/>
            <p:cNvSpPr txBox="1"/>
            <p:nvPr/>
          </p:nvSpPr>
          <p:spPr>
            <a:xfrm>
              <a:off x="4724400" y="238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04</a:t>
              </a:r>
            </a:p>
          </p:txBody>
        </p:sp>
        <p:sp>
          <p:nvSpPr>
            <p:cNvPr id="13" name="No_05"/>
            <p:cNvSpPr txBox="1"/>
            <p:nvPr/>
          </p:nvSpPr>
          <p:spPr>
            <a:xfrm>
              <a:off x="457200" y="365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05</a:t>
              </a:r>
            </a:p>
          </p:txBody>
        </p:sp>
        <p:sp>
          <p:nvSpPr>
            <p:cNvPr id="14" name="No_06"/>
            <p:cNvSpPr txBox="1"/>
            <p:nvPr/>
          </p:nvSpPr>
          <p:spPr>
            <a:xfrm>
              <a:off x="4724400" y="365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06</a:t>
              </a:r>
            </a:p>
          </p:txBody>
        </p:sp>
        <p:sp>
          <p:nvSpPr>
            <p:cNvPr id="15" name="Title_01"/>
            <p:cNvSpPr txBox="1"/>
            <p:nvPr/>
          </p:nvSpPr>
          <p:spPr>
            <a:xfrm>
              <a:off x="914400" y="107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今月の読まれ方</a:t>
              </a:r>
            </a:p>
          </p:txBody>
        </p:sp>
        <p:sp>
          <p:nvSpPr>
            <p:cNvPr id="16" name="Title_02"/>
            <p:cNvSpPr txBox="1"/>
            <p:nvPr/>
          </p:nvSpPr>
          <p:spPr>
            <a:xfrm>
              <a:off x="5181600" y="107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記事ごとの成績</a:t>
              </a:r>
            </a:p>
          </p:txBody>
        </p:sp>
        <p:sp>
          <p:nvSpPr>
            <p:cNvPr id="17" name="Title_03"/>
            <p:cNvSpPr txBox="1"/>
            <p:nvPr/>
          </p:nvSpPr>
          <p:spPr>
            <a:xfrm>
              <a:off x="914400" y="234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流入元の変化</a:t>
              </a:r>
            </a:p>
          </p:txBody>
        </p:sp>
        <p:sp>
          <p:nvSpPr>
            <p:cNvPr id="18" name="Title_04"/>
            <p:cNvSpPr txBox="1"/>
            <p:nvPr/>
          </p:nvSpPr>
          <p:spPr>
            <a:xfrm>
              <a:off x="5181600" y="234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うまくいった型</a:t>
              </a:r>
            </a:p>
          </p:txBody>
        </p:sp>
        <p:sp>
          <p:nvSpPr>
            <p:cNvPr id="19" name="Title_05"/>
            <p:cNvSpPr txBox="1"/>
            <p:nvPr/>
          </p:nvSpPr>
          <p:spPr>
            <a:xfrm>
              <a:off x="914400" y="361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次の一手</a:t>
              </a:r>
            </a:p>
          </p:txBody>
        </p:sp>
        <p:sp>
          <p:nvSpPr>
            <p:cNvPr id="20" name="Title_06"/>
            <p:cNvSpPr txBox="1"/>
            <p:nvPr/>
          </p:nvSpPr>
          <p:spPr>
            <a:xfrm>
              <a:off x="5181600" y="361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付録</a:t>
              </a:r>
            </a:p>
          </p:txBody>
        </p:sp>
        <p:sp>
          <p:nvSpPr>
            <p:cNvPr id="21" name="Sub_01"/>
            <p:cNvSpPr txBox="1"/>
            <p:nvPr/>
          </p:nvSpPr>
          <p:spPr>
            <a:xfrm>
              <a:off x="914400" y="140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PV・スキ・フォロワー</a:t>
              </a:r>
            </a:p>
          </p:txBody>
        </p:sp>
        <p:sp>
          <p:nvSpPr>
            <p:cNvPr id="22" name="Sub_02"/>
            <p:cNvSpPr txBox="1"/>
            <p:nvPr/>
          </p:nvSpPr>
          <p:spPr>
            <a:xfrm>
              <a:off x="5181600" y="140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連載 #1〜#4 の比較</a:t>
              </a:r>
            </a:p>
          </p:txBody>
        </p:sp>
        <p:sp>
          <p:nvSpPr>
            <p:cNvPr id="23" name="Sub_03"/>
            <p:cNvSpPr txBox="1"/>
            <p:nvPr/>
          </p:nvSpPr>
          <p:spPr>
            <a:xfrm>
              <a:off x="914400" y="267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検索が全体の 58%</a:t>
              </a:r>
            </a:p>
          </p:txBody>
        </p:sp>
        <p:sp>
          <p:nvSpPr>
            <p:cNvPr id="24" name="Sub_04"/>
            <p:cNvSpPr txBox="1"/>
            <p:nvPr/>
          </p:nvSpPr>
          <p:spPr>
            <a:xfrm>
              <a:off x="5181600" y="267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一次情報 × 図解</a:t>
              </a:r>
            </a:p>
          </p:txBody>
        </p:sp>
        <p:sp>
          <p:nvSpPr>
            <p:cNvPr id="25" name="Sub_05"/>
            <p:cNvSpPr txBox="1"/>
            <p:nvPr/>
          </p:nvSpPr>
          <p:spPr>
            <a:xfrm>
              <a:off x="914400" y="394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連載 #5 のテーマ</a:t>
              </a:r>
            </a:p>
          </p:txBody>
        </p:sp>
        <p:sp>
          <p:nvSpPr>
            <p:cNvPr id="26" name="Sub_06"/>
            <p:cNvSpPr txBox="1"/>
            <p:nvPr/>
          </p:nvSpPr>
          <p:spPr>
            <a:xfrm>
              <a:off x="5181600" y="394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数値の定義と出典</a:t>
              </a:r>
            </a:p>
          </p:txBody>
        </p:sp>
        <p:sp>
          <p:nvSpPr>
            <p:cNvPr id="27" name="Page_01"/>
            <p:cNvSpPr txBox="1"/>
            <p:nvPr/>
          </p:nvSpPr>
          <p:spPr>
            <a:xfrm>
              <a:off x="4038600" y="111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</a:t>
              </a:r>
            </a:p>
          </p:txBody>
        </p:sp>
        <p:sp>
          <p:nvSpPr>
            <p:cNvPr id="28" name="Page_02"/>
            <p:cNvSpPr txBox="1"/>
            <p:nvPr/>
          </p:nvSpPr>
          <p:spPr>
            <a:xfrm>
              <a:off x="8305800" y="111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6</a:t>
              </a:r>
            </a:p>
          </p:txBody>
        </p:sp>
        <p:sp>
          <p:nvSpPr>
            <p:cNvPr id="29" name="Page_03"/>
            <p:cNvSpPr txBox="1"/>
            <p:nvPr/>
          </p:nvSpPr>
          <p:spPr>
            <a:xfrm>
              <a:off x="4038600" y="238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9</a:t>
              </a:r>
            </a:p>
          </p:txBody>
        </p:sp>
        <p:sp>
          <p:nvSpPr>
            <p:cNvPr id="30" name="Page_04"/>
            <p:cNvSpPr txBox="1"/>
            <p:nvPr/>
          </p:nvSpPr>
          <p:spPr>
            <a:xfrm>
              <a:off x="8305800" y="238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</a:t>
              </a:r>
            </a:p>
          </p:txBody>
        </p:sp>
        <p:sp>
          <p:nvSpPr>
            <p:cNvPr id="31" name="Page_05"/>
            <p:cNvSpPr txBox="1"/>
            <p:nvPr/>
          </p:nvSpPr>
          <p:spPr>
            <a:xfrm>
              <a:off x="4038600" y="365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15</a:t>
              </a:r>
            </a:p>
          </p:txBody>
        </p:sp>
        <p:sp>
          <p:nvSpPr>
            <p:cNvPr id="32" name="Page_06"/>
            <p:cNvSpPr txBox="1"/>
            <p:nvPr/>
          </p:nvSpPr>
          <p:spPr>
            <a:xfrm>
              <a:off x="8305800" y="365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18</a:t>
              </a:r>
            </a:p>
          </p:txBody>
        </p:sp>
      </p:grpSp>
      <p:sp>
        <p:nvSpPr>
          <p:cNvPr id="3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9月の記録</a:t>
            </a:r>
          </a:p>
        </p:txBody>
      </p:sp>
      <p:grpSp>
        <p:nvGrpSpPr>
          <p:cNvPr id="13" name="organism/O-S2 写真ギャラリー"/>
          <p:cNvGrpSpPr/>
          <p:nvPr/>
        </p:nvGrpSpPr>
        <p:grpSpPr>
          <a:xfrm>
            <a:off x="457200" y="965200"/>
            <a:ext cx="8229600" cy="3657600"/>
            <a:chOff x="457200" y="965200"/>
            <a:chExt cx="8229600" cy="3657600"/>
          </a:xfrm>
        </p:grpSpPr>
        <p:sp>
          <p:nvSpPr>
            <p:cNvPr id="3" name="Photo_1"/>
            <p:cNvSpPr/>
            <p:nvPr/>
          </p:nvSpPr>
          <p:spPr>
            <a:xfrm>
              <a:off x="457200" y="965200"/>
              <a:ext cx="4038600" cy="3657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Caption_1"/>
            <p:cNvSpPr txBox="1"/>
            <p:nvPr/>
          </p:nvSpPr>
          <p:spPr>
            <a:xfrm>
              <a:off x="609600" y="43180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写真1（差し替え）</a:t>
              </a:r>
            </a:p>
          </p:txBody>
        </p:sp>
        <p:sp>
          <p:nvSpPr>
            <p:cNvPr id="5" name="Photo_2"/>
            <p:cNvSpPr/>
            <p:nvPr/>
          </p:nvSpPr>
          <p:spPr>
            <a:xfrm>
              <a:off x="4800600" y="965200"/>
              <a:ext cx="1866900" cy="1752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Photo_3"/>
            <p:cNvSpPr/>
            <p:nvPr/>
          </p:nvSpPr>
          <p:spPr>
            <a:xfrm>
              <a:off x="6819900" y="965200"/>
              <a:ext cx="1866900" cy="1752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Photo_4"/>
            <p:cNvSpPr/>
            <p:nvPr/>
          </p:nvSpPr>
          <p:spPr>
            <a:xfrm>
              <a:off x="4800600" y="2870200"/>
              <a:ext cx="1866900" cy="1752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Photo_5"/>
            <p:cNvSpPr/>
            <p:nvPr/>
          </p:nvSpPr>
          <p:spPr>
            <a:xfrm>
              <a:off x="6819900" y="2870200"/>
              <a:ext cx="1866900" cy="1752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Caption_2"/>
            <p:cNvSpPr txBox="1"/>
            <p:nvPr/>
          </p:nvSpPr>
          <p:spPr>
            <a:xfrm>
              <a:off x="4927600" y="2463800"/>
              <a:ext cx="16129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写真2</a:t>
              </a:r>
            </a:p>
          </p:txBody>
        </p:sp>
        <p:sp>
          <p:nvSpPr>
            <p:cNvPr id="10" name="Caption_3"/>
            <p:cNvSpPr txBox="1"/>
            <p:nvPr/>
          </p:nvSpPr>
          <p:spPr>
            <a:xfrm>
              <a:off x="6946900" y="2463800"/>
              <a:ext cx="16129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写真3</a:t>
              </a:r>
            </a:p>
          </p:txBody>
        </p:sp>
        <p:sp>
          <p:nvSpPr>
            <p:cNvPr id="11" name="Caption_4"/>
            <p:cNvSpPr txBox="1"/>
            <p:nvPr/>
          </p:nvSpPr>
          <p:spPr>
            <a:xfrm>
              <a:off x="4927600" y="4368800"/>
              <a:ext cx="16129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写真4</a:t>
              </a:r>
            </a:p>
          </p:txBody>
        </p:sp>
        <p:sp>
          <p:nvSpPr>
            <p:cNvPr id="12" name="Caption_5"/>
            <p:cNvSpPr txBox="1"/>
            <p:nvPr/>
          </p:nvSpPr>
          <p:spPr>
            <a:xfrm>
              <a:off x="6946900" y="4368800"/>
              <a:ext cx="16129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写真5</a:t>
              </a:r>
            </a:p>
          </p:txBody>
        </p:sp>
      </p:grpSp>
      <p:sp>
        <p:nvSpPr>
          <p:cNvPr id="1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記事別の読まれ方</a:t>
            </a:r>
          </a:p>
        </p:txBody>
      </p:sp>
      <p:sp>
        <p:nvSpPr>
          <p:cNvPr id="4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連載 #3 が PV・スキとも最も多い</a:t>
            </a:r>
          </a:p>
        </p:txBody>
      </p:sp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457200" y="1473200"/>
          <a:ext cx="8229600" cy="1778000"/>
        </p:xfrm>
        <a:graphic>
          <a:graphicData uri="http://schemas.openxmlformats.org/drawingml/2006/table">
            <a:tbl>
              <a:tblPr firstRow="1" firstCol="1" bandRow="1">
                <a:tableStyleId>{6E5B4C3A-2D1F-4A8B-9C7D-0E1F2A3B4C5D}</a:tableStyleId>
              </a:tblPr>
              <a:tblGrid>
                <a:gridCol w="3556000"/>
                <a:gridCol w="889000"/>
                <a:gridCol w="1270000"/>
                <a:gridCol w="1143000"/>
                <a:gridCol w="1371600"/>
              </a:tblGrid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記事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公開日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PV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スキ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スキ率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#1 はじめに：AI と一緒に note を書く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09-02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2,140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4.5%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#2 挿絵は HTML で作る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09-09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1,820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6.6%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#3 眠っていた才能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09-16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3,560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214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6.0%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#4 Office テンプレート編（予定）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09-30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—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—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0"/>
                        </a:lnSpc>
                      </a:pPr>
                      <a:r>
                        <a:rPr lang="ja-JP" sz="1100"/>
                        <a:t>—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3つの書き方の違い</a:t>
            </a:r>
          </a:p>
        </p:txBody>
      </p:sp>
      <p:sp>
        <p:nvSpPr>
          <p:cNvPr id="4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速さと一次情報は両立できる</a:t>
            </a:r>
          </a:p>
        </p:txBody>
      </p:sp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457200" y="1473200"/>
          <a:ext cx="8229600" cy="1778000"/>
        </p:xfrm>
        <a:graphic>
          <a:graphicData uri="http://schemas.openxmlformats.org/drawingml/2006/table">
            <a:tbl>
              <a:tblPr firstRow="1" firstCol="1" bandRow="1">
                <a:tableStyleId>{6E5B4C3A-2D1F-4A8B-9C7D-0E1F2A3B4C5D}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AI に任せきり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人が全部書く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今回のやり方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下書きの速さ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速い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遅い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速い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一次情報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入らない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入る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入る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見た目の統一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毎回ぶれる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手間がかかる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トークンで自動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読者への価値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薄い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高い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高い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Office テンプレート開発の進め方</a:t>
            </a:r>
          </a:p>
        </p:txBody>
      </p:sp>
      <p:sp>
        <p:nvSpPr>
          <p:cNvPr id="8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9月で開発は一区切り。10月以降は連載と社内展開</a:t>
            </a:r>
          </a:p>
        </p:txBody>
      </p:sp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457200" y="1473200"/>
          <a:ext cx="8229600" cy="1778000"/>
        </p:xfrm>
        <a:graphic>
          <a:graphicData uri="http://schemas.openxmlformats.org/drawingml/2006/table">
            <a:tbl>
              <a:tblPr firstRow="1" firstCol="1" bandRow="1">
                <a:tableStyleId>{6E5B4C3A-2D1F-4A8B-9C7D-0E1F2A3B4C5D}</a:tableStyleId>
              </a:tblPr>
              <a:tblGrid>
                <a:gridCol w="1909445"/>
                <a:gridCol w="952500"/>
                <a:gridCol w="673100"/>
                <a:gridCol w="521617"/>
                <a:gridCol w="521617"/>
                <a:gridCol w="521617"/>
                <a:gridCol w="521617"/>
                <a:gridCol w="521617"/>
                <a:gridCol w="521617"/>
                <a:gridCol w="521617"/>
                <a:gridCol w="521617"/>
                <a:gridCol w="521617"/>
              </a:tblGrid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タスク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担当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状態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7月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8月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9月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10月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11月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12月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1月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2月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ja-JP" sz="1100"/>
                        <a:t>3月</a:t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連載 #1〜#3 執筆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担当A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完了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Office テンプレート開発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担当A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進行中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連載 #4〜#6 執筆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担当A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予定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社内展開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編集チーム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>未着手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40"/>
                        </a:lnSpc>
                      </a:pPr>
                      <a:r>
                        <a:rPr lang="ja-JP" sz="1100"/>
                        <a:t/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Bar_1_連載 #1〜#3 執筆"/>
          <p:cNvSpPr/>
          <p:nvPr/>
        </p:nvSpPr>
        <p:spPr>
          <a:xfrm>
            <a:off x="4017645" y="1917700"/>
            <a:ext cx="1514052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Bar_2_Office テンプレート開発"/>
          <p:cNvSpPr/>
          <p:nvPr/>
        </p:nvSpPr>
        <p:spPr>
          <a:xfrm>
            <a:off x="5060879" y="2273300"/>
            <a:ext cx="1514052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Bar_3_連載 #4〜#6 執筆"/>
          <p:cNvSpPr/>
          <p:nvPr/>
        </p:nvSpPr>
        <p:spPr>
          <a:xfrm>
            <a:off x="6104114" y="2628900"/>
            <a:ext cx="1514052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Bar_4_社内展開"/>
          <p:cNvSpPr/>
          <p:nvPr/>
        </p:nvSpPr>
        <p:spPr>
          <a:xfrm>
            <a:off x="7147348" y="2984500"/>
            <a:ext cx="1514052" cy="177800"/>
          </a:xfrm>
          <a:custGeom>
            <a:avLst/>
            <a:gdLst/>
            <a:ahLst/>
            <a:cxnLst/>
            <a:rect l="0" t="0" r="r" b="b"/>
            <a:pathLst>
              <a:path w="1514052" h="177800">
                <a:moveTo>
                  <a:pt x="0" y="0"/>
                </a:moveTo>
                <a:lnTo>
                  <a:pt x="1412452" y="0"/>
                </a:lnTo>
                <a:lnTo>
                  <a:pt x="1514052" y="88900"/>
                </a:lnTo>
                <a:lnTo>
                  <a:pt x="1412452" y="177800"/>
                </a:lnTo>
                <a:lnTo>
                  <a:pt x="0" y="1778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9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tree Lab">
  <a:themeElements>
    <a:clrScheme name="Bigtree Lab">
      <a:dk1>
        <a:srgbClr val="1F4437"/>
      </a:dk1>
      <a:lt1>
        <a:srgbClr val="FFFFFF"/>
      </a:lt1>
      <a:dk2>
        <a:srgbClr val="66776F"/>
      </a:dk2>
      <a:lt2>
        <a:srgbClr val="F7F4EE"/>
      </a:lt2>
      <a:accent1>
        <a:srgbClr val="2F6B55"/>
      </a:accent1>
      <a:accent2>
        <a:srgbClr val="FFCB68"/>
      </a:accent2>
      <a:accent3>
        <a:srgbClr val="66776F"/>
      </a:accent3>
      <a:accent4>
        <a:srgbClr val="94A09A"/>
      </a:accent4>
      <a:accent5>
        <a:srgbClr val="C2C9C5"/>
      </a:accent5>
      <a:accent6>
        <a:srgbClr val="E2773A"/>
      </a:accent6>
      <a:hlink>
        <a:srgbClr val="2F6B55"/>
      </a:hlink>
      <a:folHlink>
        <a:srgbClr val="66776F"/>
      </a:folHlink>
    </a:clrScheme>
    <a:fontScheme name="Noto Sans JP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Bigtree 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Claude Code</Application>
</Properties>
</file>

<file path=docProps/core.xml><?xml version="1.0" encoding="utf-8"?>
<cp:coreProperties xmlns:cp="http://schemas.openxmlformats.org/package/2006/metadata/core-properties" xmlns:dc="http://purl.org/dc/elements/1.1/">
  <dc:title>Bigtree Lab template</dc:title>
  <dc:creator>Claude Code</dc:creator>
</cp:coreProperties>
</file>