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401" r:id="rIdOrg1"/>
    <p:sldId id="402" r:id="rIdOrg2"/>
    <p:sldId id="403" r:id="rIdOrg3"/>
    <p:sldId id="404" r:id="rIdOrg4"/>
    <p:sldId id="405" r:id="rIdOrg5"/>
    <p:sldId id="406" r:id="rIdOrg6"/>
    <p:sldId id="407" r:id="rIdOrg7"/>
    <p:sldId id="408" r:id="rIdOrg8"/>
    <p:sldId id="409" r:id="rIdOrg9"/>
    <p:sldId id="410" r:id="rIdOrg10"/>
    <p:sldId id="411" r:id="rIdOrg11"/>
    <p:sldId id="412" r:id="rIdOrg12"/>
    <p:sldId id="413" r:id="rIdOrg13"/>
    <p:sldId id="414" r:id="rIdOrg14"/>
    <p:sldId id="451" r:id="rIdStruct1"/>
    <p:sldId id="452" r:id="rIdStruct2"/>
    <p:sldId id="501" r:id="rIdTbl1"/>
    <p:sldId id="502" r:id="rIdTbl2"/>
    <p:sldId id="503" r:id="rIdTbl3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tx1">
              <a:alpha val="8000"/>
            </a:schemeClr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Org1" Type="http://schemas.openxmlformats.org/officeDocument/2006/relationships/slide" Target="slides/slide8.xml"/><Relationship Id="rIdOrg2" Type="http://schemas.openxmlformats.org/officeDocument/2006/relationships/slide" Target="slides/slide9.xml"/><Relationship Id="rIdOrg3" Type="http://schemas.openxmlformats.org/officeDocument/2006/relationships/slide" Target="slides/slide10.xml"/><Relationship Id="rIdOrg4" Type="http://schemas.openxmlformats.org/officeDocument/2006/relationships/slide" Target="slides/slide11.xml"/><Relationship Id="rIdOrg5" Type="http://schemas.openxmlformats.org/officeDocument/2006/relationships/slide" Target="slides/slide12.xml"/><Relationship Id="rIdOrg6" Type="http://schemas.openxmlformats.org/officeDocument/2006/relationships/slide" Target="slides/slide13.xml"/><Relationship Id="rIdOrg7" Type="http://schemas.openxmlformats.org/officeDocument/2006/relationships/slide" Target="slides/slide14.xml"/><Relationship Id="rIdOrg8" Type="http://schemas.openxmlformats.org/officeDocument/2006/relationships/slide" Target="slides/slide15.xml"/><Relationship Id="rIdOrg9" Type="http://schemas.openxmlformats.org/officeDocument/2006/relationships/slide" Target="slides/slide16.xml"/><Relationship Id="rIdOrg10" Type="http://schemas.openxmlformats.org/officeDocument/2006/relationships/slide" Target="slides/slide17.xml"/><Relationship Id="rIdOrg11" Type="http://schemas.openxmlformats.org/officeDocument/2006/relationships/slide" Target="slides/slide18.xml"/><Relationship Id="rIdOrg12" Type="http://schemas.openxmlformats.org/officeDocument/2006/relationships/slide" Target="slides/slide19.xml"/><Relationship Id="rIdOrg13" Type="http://schemas.openxmlformats.org/officeDocument/2006/relationships/slide" Target="slides/slide20.xml"/><Relationship Id="rIdOrg14" Type="http://schemas.openxmlformats.org/officeDocument/2006/relationships/slide" Target="slides/slide21.xml"/><Relationship Id="rIdStruct1" Type="http://schemas.openxmlformats.org/officeDocument/2006/relationships/slide" Target="slides/slide22.xml"/><Relationship Id="rIdStruct2" Type="http://schemas.openxmlformats.org/officeDocument/2006/relationships/slide" Target="slides/slide23.xml"/><Relationship Id="rIdTbl1" Type="http://schemas.openxmlformats.org/officeDocument/2006/relationships/slide" Target="slides/slide24.xml"/><Relationship Id="rIdTbl2" Type="http://schemas.openxmlformats.org/officeDocument/2006/relationships/slide" Target="slides/slide25.xml"/><Relationship Id="rIdTbl3" Type="http://schemas.openxmlformats.org/officeDocument/2006/relationships/slide" Target="slides/slide26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347028" h="457200">
                <a:moveTo>
                  <a:pt x="8333" y="32378"/>
                </a:moveTo>
                <a:lnTo>
                  <a:pt x="8333" y="115676"/>
                </a:lnTo>
                <a:lnTo>
                  <a:pt x="49982" y="139724"/>
                </a:lnTo>
                <a:lnTo>
                  <a:pt x="49982" y="115676"/>
                </a:lnTo>
                <a:lnTo>
                  <a:pt x="49982" y="74027"/>
                </a:lnTo>
                <a:lnTo>
                  <a:pt x="194263" y="157325"/>
                </a:lnTo>
                <a:lnTo>
                  <a:pt x="122118" y="198974"/>
                </a:lnTo>
                <a:lnTo>
                  <a:pt x="124951" y="198974"/>
                </a:lnTo>
                <a:lnTo>
                  <a:pt x="269232" y="282273"/>
                </a:lnTo>
                <a:lnTo>
                  <a:pt x="197087" y="323922"/>
                </a:lnTo>
                <a:lnTo>
                  <a:pt x="266558" y="323922"/>
                </a:lnTo>
                <a:lnTo>
                  <a:pt x="338694" y="282273"/>
                </a:lnTo>
                <a:lnTo>
                  <a:pt x="194421" y="198974"/>
                </a:lnTo>
                <a:lnTo>
                  <a:pt x="266558" y="157325"/>
                </a:lnTo>
                <a:lnTo>
                  <a:pt x="266400" y="157325"/>
                </a:lnTo>
                <a:lnTo>
                  <a:pt x="122118" y="74027"/>
                </a:lnTo>
                <a:lnTo>
                  <a:pt x="49982" y="32378"/>
                </a:lnTo>
                <a:lnTo>
                  <a:pt x="8333" y="8329"/>
                </a:lnTo>
                <a:close/>
                <a:moveTo>
                  <a:pt x="91631" y="323922"/>
                </a:moveTo>
                <a:lnTo>
                  <a:pt x="133280" y="323922"/>
                </a:lnTo>
                <a:lnTo>
                  <a:pt x="144442" y="323922"/>
                </a:lnTo>
                <a:lnTo>
                  <a:pt x="216579" y="282273"/>
                </a:lnTo>
                <a:lnTo>
                  <a:pt x="133280" y="282273"/>
                </a:lnTo>
                <a:lnTo>
                  <a:pt x="133280" y="240624"/>
                </a:lnTo>
                <a:lnTo>
                  <a:pt x="91631" y="216575"/>
                </a:lnTo>
                <a:close/>
                <a:moveTo>
                  <a:pt x="49982" y="181373"/>
                </a:moveTo>
                <a:lnTo>
                  <a:pt x="8333" y="157325"/>
                </a:lnTo>
                <a:lnTo>
                  <a:pt x="8333" y="365571"/>
                </a:lnTo>
                <a:lnTo>
                  <a:pt x="8333" y="407220"/>
                </a:lnTo>
                <a:lnTo>
                  <a:pt x="8333" y="448870"/>
                </a:lnTo>
                <a:lnTo>
                  <a:pt x="150881" y="448870"/>
                </a:lnTo>
                <a:lnTo>
                  <a:pt x="174930" y="407220"/>
                </a:lnTo>
                <a:lnTo>
                  <a:pt x="49982" y="407220"/>
                </a:lnTo>
                <a:lnTo>
                  <a:pt x="49982" y="365571"/>
                </a:lnTo>
                <a:close/>
                <a:moveTo>
                  <a:pt x="192531" y="448870"/>
                </a:moveTo>
                <a:lnTo>
                  <a:pt x="216579" y="407220"/>
                </a:lnTo>
                <a:lnTo>
                  <a:pt x="191589" y="407220"/>
                </a:lnTo>
                <a:lnTo>
                  <a:pt x="167541" y="4488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2026-09-18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2026-09-18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今月の到達点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は伸びたが、フォロワーはまだ動いていない</a:t>
            </a:r>
          </a:p>
        </p:txBody>
      </p:sp>
      <p:grpSp>
        <p:nvGrpSpPr>
          <p:cNvPr id="15" name="organism/O-B22 ビッグナンバー"/>
          <p:cNvGrpSpPr/>
          <p:nvPr/>
        </p:nvGrpSpPr>
        <p:grpSpPr>
          <a:xfrm>
            <a:off x="457200" y="2362200"/>
            <a:ext cx="8229600" cy="1270000"/>
            <a:chOff x="457200" y="2362200"/>
            <a:chExt cx="8229600" cy="1270000"/>
          </a:xfrm>
        </p:grpSpPr>
        <p:sp>
          <p:nvSpPr>
            <p:cNvPr id="4" name="Label_1"/>
            <p:cNvSpPr txBox="1"/>
            <p:nvPr/>
          </p:nvSpPr>
          <p:spPr>
            <a:xfrm>
              <a:off x="4572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月間 PV</a:t>
              </a:r>
            </a:p>
          </p:txBody>
        </p:sp>
        <p:sp>
          <p:nvSpPr>
            <p:cNvPr id="5" name="Number_1"/>
            <p:cNvSpPr txBox="1"/>
            <p:nvPr/>
          </p:nvSpPr>
          <p:spPr>
            <a:xfrm>
              <a:off x="4572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12.4K</a:t>
              </a:r>
            </a:p>
          </p:txBody>
        </p:sp>
        <p:sp>
          <p:nvSpPr>
            <p:cNvPr id="6" name="Sub_1"/>
            <p:cNvSpPr txBox="1"/>
            <p:nvPr/>
          </p:nvSpPr>
          <p:spPr>
            <a:xfrm>
              <a:off x="4572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31496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Label_2"/>
            <p:cNvSpPr txBox="1"/>
            <p:nvPr/>
          </p:nvSpPr>
          <p:spPr>
            <a:xfrm>
              <a:off x="33020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9" name="Number_2"/>
            <p:cNvSpPr txBox="1"/>
            <p:nvPr/>
          </p:nvSpPr>
          <p:spPr>
            <a:xfrm>
              <a:off x="33020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486</a:t>
              </a:r>
            </a:p>
          </p:txBody>
        </p:sp>
        <p:sp>
          <p:nvSpPr>
            <p:cNvPr id="10" name="Sub_2"/>
            <p:cNvSpPr txBox="1"/>
            <p:nvPr/>
          </p:nvSpPr>
          <p:spPr>
            <a:xfrm>
              <a:off x="33020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116%</a:t>
              </a:r>
            </a:p>
          </p:txBody>
        </p:sp>
        <p:sp>
          <p:nvSpPr>
            <p:cNvPr id="11" name="Rule_2"/>
            <p:cNvSpPr/>
            <p:nvPr/>
          </p:nvSpPr>
          <p:spPr>
            <a:xfrm>
              <a:off x="59944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Label_3"/>
            <p:cNvSpPr txBox="1"/>
            <p:nvPr/>
          </p:nvSpPr>
          <p:spPr>
            <a:xfrm>
              <a:off x="61468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13" name="Number_3"/>
            <p:cNvSpPr txBox="1"/>
            <p:nvPr/>
          </p:nvSpPr>
          <p:spPr>
            <a:xfrm>
              <a:off x="61468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14" name="Sub_3"/>
            <p:cNvSpPr txBox="1"/>
            <p:nvPr/>
          </p:nvSpPr>
          <p:spPr>
            <a:xfrm>
              <a:off x="61468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104%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今月の主要指標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スキ率が 6.1% に改善（+1.3pt）</a:t>
            </a:r>
          </a:p>
        </p:txBody>
      </p:sp>
      <p:grpSp>
        <p:nvGrpSpPr>
          <p:cNvPr id="24" name="organism/O-B11 KPIハイライト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Label_1"/>
            <p:cNvSpPr txBox="1"/>
            <p:nvPr/>
          </p:nvSpPr>
          <p:spPr>
            <a:xfrm>
              <a:off x="6350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6350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6350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Sub_1"/>
            <p:cNvSpPr txBox="1"/>
            <p:nvPr/>
          </p:nvSpPr>
          <p:spPr>
            <a:xfrm>
              <a:off x="6350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25654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Label_2"/>
            <p:cNvSpPr txBox="1"/>
            <p:nvPr/>
          </p:nvSpPr>
          <p:spPr>
            <a:xfrm>
              <a:off x="27432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27432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2" name="Rule_2"/>
            <p:cNvSpPr/>
            <p:nvPr/>
          </p:nvSpPr>
          <p:spPr>
            <a:xfrm>
              <a:off x="27432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Sub_2"/>
            <p:cNvSpPr txBox="1"/>
            <p:nvPr/>
          </p:nvSpPr>
          <p:spPr>
            <a:xfrm>
              <a:off x="27432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162%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46736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Label_3"/>
            <p:cNvSpPr txBox="1"/>
            <p:nvPr/>
          </p:nvSpPr>
          <p:spPr>
            <a:xfrm>
              <a:off x="48514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48514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7" name="Rule_3"/>
            <p:cNvSpPr/>
            <p:nvPr/>
          </p:nvSpPr>
          <p:spPr>
            <a:xfrm>
              <a:off x="4851400" y="3162300"/>
              <a:ext cx="304800" cy="25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Sub_3"/>
            <p:cNvSpPr txBox="1"/>
            <p:nvPr/>
          </p:nvSpPr>
          <p:spPr>
            <a:xfrm>
              <a:off x="48514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+1.3pt</a:t>
              </a:r>
            </a:p>
          </p:txBody>
        </p:sp>
        <p:sp>
          <p:nvSpPr>
            <p:cNvPr id="19" name="Card_4"/>
            <p:cNvSpPr/>
            <p:nvPr/>
          </p:nvSpPr>
          <p:spPr>
            <a:xfrm>
              <a:off x="67818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Label_4"/>
            <p:cNvSpPr txBox="1"/>
            <p:nvPr/>
          </p:nvSpPr>
          <p:spPr>
            <a:xfrm>
              <a:off x="69596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21" name="Value_4"/>
            <p:cNvSpPr txBox="1"/>
            <p:nvPr/>
          </p:nvSpPr>
          <p:spPr>
            <a:xfrm>
              <a:off x="69596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22" name="Rule_4"/>
            <p:cNvSpPr/>
            <p:nvPr/>
          </p:nvSpPr>
          <p:spPr>
            <a:xfrm>
              <a:off x="69596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Sub_4"/>
            <p:cNvSpPr txBox="1"/>
            <p:nvPr/>
          </p:nvSpPr>
          <p:spPr>
            <a:xfrm>
              <a:off x="69596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+86</a:t>
              </a:r>
            </a:p>
          </p:txBody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スキ数の分解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より、スキ率の改善が効いている</a:t>
            </a:r>
          </a:p>
        </p:txBody>
      </p:sp>
      <p:grpSp>
        <p:nvGrpSpPr>
          <p:cNvPr id="18" name="organism/O-B7 乗算式フロー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Name_1"/>
            <p:cNvSpPr txBox="1"/>
            <p:nvPr/>
          </p:nvSpPr>
          <p:spPr>
            <a:xfrm>
              <a:off x="4572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4572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Sub_1"/>
            <p:cNvSpPr txBox="1"/>
            <p:nvPr/>
          </p:nvSpPr>
          <p:spPr>
            <a:xfrm>
              <a:off x="4572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読まれた回数</a:t>
              </a:r>
            </a:p>
          </p:txBody>
        </p:sp>
        <p:sp>
          <p:nvSpPr>
            <p:cNvPr id="8" name="Op_1"/>
            <p:cNvSpPr txBox="1"/>
            <p:nvPr/>
          </p:nvSpPr>
          <p:spPr>
            <a:xfrm>
              <a:off x="27432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×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4290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ame_2"/>
            <p:cNvSpPr txBox="1"/>
            <p:nvPr/>
          </p:nvSpPr>
          <p:spPr>
            <a:xfrm>
              <a:off x="34290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34290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34290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読者の反応</a:t>
              </a:r>
            </a:p>
          </p:txBody>
        </p:sp>
        <p:sp>
          <p:nvSpPr>
            <p:cNvPr id="13" name="Op_2"/>
            <p:cNvSpPr txBox="1"/>
            <p:nvPr/>
          </p:nvSpPr>
          <p:spPr>
            <a:xfrm>
              <a:off x="57150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=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4008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Name_3"/>
            <p:cNvSpPr txBox="1"/>
            <p:nvPr/>
          </p:nvSpPr>
          <p:spPr>
            <a:xfrm>
              <a:off x="64008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64008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7" name="Sub_3"/>
            <p:cNvSpPr txBox="1"/>
            <p:nvPr/>
          </p:nvSpPr>
          <p:spPr>
            <a:xfrm>
              <a:off x="64008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積み上がる評価</a:t>
              </a:r>
            </a:p>
          </p:txBody>
        </p:sp>
      </p:grpSp>
      <p:sp>
        <p:nvSpPr>
          <p:cNvPr id="19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note 執筆を支える4つの層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下の層が安定しているほど、上の層に時間を使える</a:t>
            </a:r>
          </a:p>
        </p:txBody>
      </p:sp>
      <p:grpSp>
        <p:nvGrpSpPr>
          <p:cNvPr id="32" name="organism/O-B15 ピラミッド／レイヤー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ayer_1"/>
            <p:cNvSpPr/>
            <p:nvPr/>
          </p:nvSpPr>
          <p:spPr>
            <a:xfrm>
              <a:off x="1219200" y="1727200"/>
              <a:ext cx="2540000" cy="609600"/>
            </a:xfrm>
            <a:custGeom>
              <a:avLst/>
              <a:gdLst/>
              <a:ahLst/>
              <a:cxnLst/>
              <a:rect l="0" t="0" r="r" b="b"/>
              <a:pathLst>
                <a:path w="2540000" h="609600">
                  <a:moveTo>
                    <a:pt x="254000" y="0"/>
                  </a:moveTo>
                  <a:lnTo>
                    <a:pt x="2286000" y="0"/>
                  </a:lnTo>
                  <a:lnTo>
                    <a:pt x="2540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5" name="LayerName_1"/>
            <p:cNvSpPr txBox="1"/>
            <p:nvPr/>
          </p:nvSpPr>
          <p:spPr>
            <a:xfrm>
              <a:off x="1219200" y="18161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読者に届く価値</a:t>
              </a:r>
            </a:p>
          </p:txBody>
        </p:sp>
        <p:sp>
          <p:nvSpPr>
            <p:cNvPr id="6" name="LayerSub_1"/>
            <p:cNvSpPr txBox="1"/>
            <p:nvPr/>
          </p:nvSpPr>
          <p:spPr>
            <a:xfrm>
              <a:off x="1219200" y="20955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気づき・再現できる手順</a:t>
              </a:r>
            </a:p>
          </p:txBody>
        </p:sp>
        <p:sp>
          <p:nvSpPr>
            <p:cNvPr id="7" name="Dot_1"/>
            <p:cNvSpPr/>
            <p:nvPr/>
          </p:nvSpPr>
          <p:spPr>
            <a:xfrm>
              <a:off x="3689350" y="200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8" name="Leader_1"/>
            <p:cNvSpPr/>
            <p:nvPr/>
          </p:nvSpPr>
          <p:spPr>
            <a:xfrm>
              <a:off x="3721100" y="2025650"/>
              <a:ext cx="1308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Note_1"/>
            <p:cNvSpPr/>
            <p:nvPr/>
          </p:nvSpPr>
          <p:spPr>
            <a:xfrm>
              <a:off x="5029200" y="177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teText_1"/>
            <p:cNvSpPr txBox="1"/>
            <p:nvPr/>
          </p:nvSpPr>
          <p:spPr>
            <a:xfrm>
              <a:off x="5156200" y="184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読まれた先に残るもの。PV より、スキと保存を指標に見る</a:t>
              </a:r>
            </a:p>
          </p:txBody>
        </p:sp>
        <p:sp>
          <p:nvSpPr>
            <p:cNvPr id="11" name="Layer_2"/>
            <p:cNvSpPr/>
            <p:nvPr/>
          </p:nvSpPr>
          <p:spPr>
            <a:xfrm>
              <a:off x="965200" y="2362200"/>
              <a:ext cx="3048000" cy="609600"/>
            </a:xfrm>
            <a:custGeom>
              <a:avLst/>
              <a:gdLst/>
              <a:ahLst/>
              <a:cxnLst/>
              <a:rect l="0" t="0" r="r" b="b"/>
              <a:pathLst>
                <a:path w="3048000" h="609600">
                  <a:moveTo>
                    <a:pt x="254000" y="0"/>
                  </a:moveTo>
                  <a:lnTo>
                    <a:pt x="2794000" y="0"/>
                  </a:lnTo>
                  <a:lnTo>
                    <a:pt x="3048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>
              <a:noFill/>
            </a:ln>
          </p:spPr>
        </p:sp>
        <p:sp>
          <p:nvSpPr>
            <p:cNvPr id="12" name="LayerName_2"/>
            <p:cNvSpPr txBox="1"/>
            <p:nvPr/>
          </p:nvSpPr>
          <p:spPr>
            <a:xfrm>
              <a:off x="965200" y="2451100"/>
              <a:ext cx="3048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</a:t>
              </a:r>
            </a:p>
          </p:txBody>
        </p:sp>
        <p:sp>
          <p:nvSpPr>
            <p:cNvPr id="13" name="LayerSub_2"/>
            <p:cNvSpPr txBox="1"/>
            <p:nvPr/>
          </p:nvSpPr>
          <p:spPr>
            <a:xfrm>
              <a:off x="965200" y="2730500"/>
              <a:ext cx="3048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週2本、一次情報を中心に</a:t>
              </a:r>
            </a:p>
          </p:txBody>
        </p:sp>
        <p:sp>
          <p:nvSpPr>
            <p:cNvPr id="14" name="Dot_2"/>
            <p:cNvSpPr/>
            <p:nvPr/>
          </p:nvSpPr>
          <p:spPr>
            <a:xfrm>
              <a:off x="3943350" y="263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5" name="Leader_2"/>
            <p:cNvSpPr/>
            <p:nvPr/>
          </p:nvSpPr>
          <p:spPr>
            <a:xfrm>
              <a:off x="3975100" y="2660650"/>
              <a:ext cx="1054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6" name="Note_2"/>
            <p:cNvSpPr/>
            <p:nvPr/>
          </p:nvSpPr>
          <p:spPr>
            <a:xfrm>
              <a:off x="5029200" y="241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oteText_2"/>
            <p:cNvSpPr txBox="1"/>
            <p:nvPr/>
          </p:nvSpPr>
          <p:spPr>
            <a:xfrm>
              <a:off x="5156200" y="247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連載「AIエージェント時代のnote執筆」。見出しだけで話が通る構成</a:t>
              </a:r>
            </a:p>
          </p:txBody>
        </p:sp>
        <p:sp>
          <p:nvSpPr>
            <p:cNvPr id="18" name="Layer_3"/>
            <p:cNvSpPr/>
            <p:nvPr/>
          </p:nvSpPr>
          <p:spPr>
            <a:xfrm>
              <a:off x="711200" y="2997200"/>
              <a:ext cx="3556000" cy="609600"/>
            </a:xfrm>
            <a:custGeom>
              <a:avLst/>
              <a:gdLst/>
              <a:ahLst/>
              <a:cxnLst/>
              <a:rect l="0" t="0" r="r" b="b"/>
              <a:pathLst>
                <a:path w="3556000" h="609600">
                  <a:moveTo>
                    <a:pt x="254000" y="0"/>
                  </a:moveTo>
                  <a:lnTo>
                    <a:pt x="3302000" y="0"/>
                  </a:lnTo>
                  <a:lnTo>
                    <a:pt x="3556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</p:spPr>
        </p:sp>
        <p:sp>
          <p:nvSpPr>
            <p:cNvPr id="19" name="LayerName_3"/>
            <p:cNvSpPr txBox="1"/>
            <p:nvPr/>
          </p:nvSpPr>
          <p:spPr>
            <a:xfrm>
              <a:off x="711200" y="3086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挿絵・図解</a:t>
              </a:r>
            </a:p>
          </p:txBody>
        </p:sp>
        <p:sp>
          <p:nvSpPr>
            <p:cNvPr id="20" name="LayerSub_3"/>
            <p:cNvSpPr txBox="1"/>
            <p:nvPr/>
          </p:nvSpPr>
          <p:spPr>
            <a:xfrm>
              <a:off x="711200" y="33655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で量産、トークンで統一</a:t>
              </a:r>
            </a:p>
          </p:txBody>
        </p:sp>
        <p:sp>
          <p:nvSpPr>
            <p:cNvPr id="21" name="Dot_3"/>
            <p:cNvSpPr/>
            <p:nvPr/>
          </p:nvSpPr>
          <p:spPr>
            <a:xfrm>
              <a:off x="4197350" y="327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2" name="Leader_3"/>
            <p:cNvSpPr/>
            <p:nvPr/>
          </p:nvSpPr>
          <p:spPr>
            <a:xfrm>
              <a:off x="4229100" y="3295650"/>
              <a:ext cx="800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3" name="Note_3"/>
            <p:cNvSpPr/>
            <p:nvPr/>
          </p:nvSpPr>
          <p:spPr>
            <a:xfrm>
              <a:off x="5029200" y="304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4" name="NoteText_3"/>
            <p:cNvSpPr txBox="1"/>
            <p:nvPr/>
          </p:nvSpPr>
          <p:spPr>
            <a:xfrm>
              <a:off x="5156200" y="311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挿絵は HTML が正。PNG に書き出して貼る。作り直しが速い</a:t>
              </a:r>
            </a:p>
          </p:txBody>
        </p:sp>
        <p:sp>
          <p:nvSpPr>
            <p:cNvPr id="25" name="Layer_4"/>
            <p:cNvSpPr/>
            <p:nvPr/>
          </p:nvSpPr>
          <p:spPr>
            <a:xfrm>
              <a:off x="457200" y="3632200"/>
              <a:ext cx="4064000" cy="609600"/>
            </a:xfrm>
            <a:custGeom>
              <a:avLst/>
              <a:gdLst/>
              <a:ahLst/>
              <a:cxnLst/>
              <a:rect l="0" t="0" r="r" b="b"/>
              <a:pathLst>
                <a:path w="4064000" h="609600">
                  <a:moveTo>
                    <a:pt x="254000" y="0"/>
                  </a:moveTo>
                  <a:lnTo>
                    <a:pt x="3810000" y="0"/>
                  </a:lnTo>
                  <a:lnTo>
                    <a:pt x="4064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6" name="LayerName_4"/>
            <p:cNvSpPr txBox="1"/>
            <p:nvPr/>
          </p:nvSpPr>
          <p:spPr>
            <a:xfrm>
              <a:off x="457200" y="3721100"/>
              <a:ext cx="4064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27" name="LayerSub_4"/>
            <p:cNvSpPr txBox="1"/>
            <p:nvPr/>
          </p:nvSpPr>
          <p:spPr>
            <a:xfrm>
              <a:off x="457200" y="4000500"/>
              <a:ext cx="406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Figma が正。色・文字・余白</a:t>
              </a:r>
            </a:p>
          </p:txBody>
        </p:sp>
        <p:sp>
          <p:nvSpPr>
            <p:cNvPr id="28" name="Dot_4"/>
            <p:cNvSpPr/>
            <p:nvPr/>
          </p:nvSpPr>
          <p:spPr>
            <a:xfrm>
              <a:off x="4451350" y="390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9" name="Leader_4"/>
            <p:cNvSpPr/>
            <p:nvPr/>
          </p:nvSpPr>
          <p:spPr>
            <a:xfrm>
              <a:off x="4483100" y="3930650"/>
              <a:ext cx="546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30" name="Note_4"/>
            <p:cNvSpPr/>
            <p:nvPr/>
          </p:nvSpPr>
          <p:spPr>
            <a:xfrm>
              <a:off x="5029200" y="368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1" name="NoteText_4"/>
            <p:cNvSpPr txBox="1"/>
            <p:nvPr/>
          </p:nvSpPr>
          <p:spPr>
            <a:xfrm>
              <a:off x="5156200" y="374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ブログと Office で共通。下の層がないと、上は毎回ぶれる</a:t>
              </a:r>
            </a:p>
          </p:txBody>
        </p:sp>
      </p:grpSp>
      <p:sp>
        <p:nvSpPr>
          <p:cNvPr id="3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3つの層の関係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毎回変わるのは、いちばん内側だけ</a:t>
            </a:r>
          </a:p>
        </p:txBody>
      </p:sp>
      <p:grpSp>
        <p:nvGrpSpPr>
          <p:cNvPr id="16" name="organism/O-B18 包含（入れ子）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ing_デザインシステム"/>
            <p:cNvSpPr/>
            <p:nvPr/>
          </p:nvSpPr>
          <p:spPr>
            <a:xfrm>
              <a:off x="1854200" y="1727200"/>
              <a:ext cx="2540000" cy="2540000"/>
            </a:xfrm>
            <a:prstGeom prst="ellipse">
              <a:avLst/>
            </a:prstGeom>
            <a:solidFill>
              <a:schemeClr val="accent1">
                <a:alpha val="18000"/>
              </a:schemeClr>
            </a:solidFill>
            <a:ln>
              <a:noFill/>
            </a:ln>
          </p:spPr>
        </p:sp>
        <p:sp>
          <p:nvSpPr>
            <p:cNvPr id="5" name="Ring_テンプレート"/>
            <p:cNvSpPr/>
            <p:nvPr/>
          </p:nvSpPr>
          <p:spPr>
            <a:xfrm>
              <a:off x="2171700" y="2044700"/>
              <a:ext cx="1905000" cy="1905000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</p:spPr>
        </p:sp>
        <p:sp>
          <p:nvSpPr>
            <p:cNvPr id="6" name="Ring_資料1本"/>
            <p:cNvSpPr/>
            <p:nvPr/>
          </p:nvSpPr>
          <p:spPr>
            <a:xfrm>
              <a:off x="2520950" y="2393950"/>
              <a:ext cx="1206500" cy="1206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NoteTitle_デザインシステム"/>
            <p:cNvSpPr txBox="1"/>
            <p:nvPr/>
          </p:nvSpPr>
          <p:spPr>
            <a:xfrm>
              <a:off x="5283200" y="1917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8" name="NoteBody_デザインシステム"/>
            <p:cNvSpPr txBox="1"/>
            <p:nvPr/>
          </p:nvSpPr>
          <p:spPr>
            <a:xfrm>
              <a:off x="5283200" y="2247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色・文字・レイアウトの決まりごと。Figma が正</a:t>
              </a:r>
            </a:p>
          </p:txBody>
        </p:sp>
        <p:sp>
          <p:nvSpPr>
            <p:cNvPr id="9" name="NoteTitle_テンプレート"/>
            <p:cNvSpPr txBox="1"/>
            <p:nvPr/>
          </p:nvSpPr>
          <p:spPr>
            <a:xfrm>
              <a:off x="5283200" y="2679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0" name="NoteBody_テンプレート"/>
            <p:cNvSpPr txBox="1"/>
            <p:nvPr/>
          </p:nvSpPr>
          <p:spPr>
            <a:xfrm>
              <a:off x="5283200" y="3009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POTX / DOTX。決まりごとを焼き込んだ器</a:t>
              </a:r>
            </a:p>
          </p:txBody>
        </p:sp>
        <p:sp>
          <p:nvSpPr>
            <p:cNvPr id="11" name="NoteTitle_資料1本"/>
            <p:cNvSpPr txBox="1"/>
            <p:nvPr/>
          </p:nvSpPr>
          <p:spPr>
            <a:xfrm>
              <a:off x="5283200" y="3441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  <p:sp>
          <p:nvSpPr>
            <p:cNvPr id="12" name="NoteBody_資料1本"/>
            <p:cNvSpPr txBox="1"/>
            <p:nvPr/>
          </p:nvSpPr>
          <p:spPr>
            <a:xfrm>
              <a:off x="5283200" y="3771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器に中身を入れたもの。毎回ここだけが変わる</a:t>
              </a:r>
            </a:p>
          </p:txBody>
        </p:sp>
        <p:sp>
          <p:nvSpPr>
            <p:cNvPr id="13" name="Label_3"/>
            <p:cNvSpPr txBox="1"/>
            <p:nvPr/>
          </p:nvSpPr>
          <p:spPr>
            <a:xfrm>
              <a:off x="1854200" y="18161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14" name="Label_2"/>
            <p:cNvSpPr txBox="1"/>
            <p:nvPr/>
          </p:nvSpPr>
          <p:spPr>
            <a:xfrm>
              <a:off x="2171700" y="2171700"/>
              <a:ext cx="1905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5" name="Label_1"/>
            <p:cNvSpPr txBox="1"/>
            <p:nvPr/>
          </p:nvSpPr>
          <p:spPr>
            <a:xfrm>
              <a:off x="2520950" y="2895600"/>
              <a:ext cx="12065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</p:grpSp>
      <p:sp>
        <p:nvSpPr>
          <p:cNvPr id="17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1本の記事ができるまで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準備に時間をかけるほど、下書きは速くなる</a:t>
            </a:r>
          </a:p>
        </p:txBody>
      </p:sp>
      <p:grpSp>
        <p:nvGrpSpPr>
          <p:cNvPr id="39" name="organism/O-B5 プロセスフロー（グルーピング）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Band_準備"/>
            <p:cNvSpPr/>
            <p:nvPr/>
          </p:nvSpPr>
          <p:spPr>
            <a:xfrm>
              <a:off x="457200" y="1854200"/>
              <a:ext cx="3139440" cy="304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</p:sp>
        <p:sp>
          <p:nvSpPr>
            <p:cNvPr id="5" name="BandLabel_準備"/>
            <p:cNvSpPr txBox="1"/>
            <p:nvPr/>
          </p:nvSpPr>
          <p:spPr>
            <a:xfrm>
              <a:off x="45720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準備フェーズ</a:t>
              </a:r>
            </a:p>
          </p:txBody>
        </p:sp>
        <p:sp>
          <p:nvSpPr>
            <p:cNvPr id="6" name="Band_制作"/>
            <p:cNvSpPr/>
            <p:nvPr/>
          </p:nvSpPr>
          <p:spPr>
            <a:xfrm>
              <a:off x="3850640" y="1854200"/>
              <a:ext cx="3139440" cy="304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BandLabel_制作"/>
            <p:cNvSpPr txBox="1"/>
            <p:nvPr/>
          </p:nvSpPr>
          <p:spPr>
            <a:xfrm>
              <a:off x="385064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制作フェーズ</a:t>
              </a:r>
            </a:p>
          </p:txBody>
        </p:sp>
        <p:sp>
          <p:nvSpPr>
            <p:cNvPr id="8" name="Band_公開"/>
            <p:cNvSpPr/>
            <p:nvPr/>
          </p:nvSpPr>
          <p:spPr>
            <a:xfrm>
              <a:off x="7244080" y="1854200"/>
              <a:ext cx="1442720" cy="3048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BandLabel_公開"/>
            <p:cNvSpPr txBox="1"/>
            <p:nvPr/>
          </p:nvSpPr>
          <p:spPr>
            <a:xfrm>
              <a:off x="7244080" y="1879600"/>
              <a:ext cx="144272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公開フェーズ</a:t>
              </a:r>
            </a:p>
          </p:txBody>
        </p:sp>
        <p:sp>
          <p:nvSpPr>
            <p:cNvPr id="10" name="Card_01"/>
            <p:cNvSpPr/>
            <p:nvPr/>
          </p:nvSpPr>
          <p:spPr>
            <a:xfrm>
              <a:off x="45720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Number_01"/>
            <p:cNvSpPr/>
            <p:nvPr/>
          </p:nvSpPr>
          <p:spPr>
            <a:xfrm>
              <a:off x="58420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NumberText_01"/>
            <p:cNvSpPr txBox="1"/>
            <p:nvPr/>
          </p:nvSpPr>
          <p:spPr>
            <a:xfrm>
              <a:off x="58420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3" name="Title_01"/>
            <p:cNvSpPr txBox="1"/>
            <p:nvPr/>
          </p:nvSpPr>
          <p:spPr>
            <a:xfrm>
              <a:off x="58420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14" name="Desc_01"/>
            <p:cNvSpPr txBox="1"/>
            <p:nvPr/>
          </p:nvSpPr>
          <p:spPr>
            <a:xfrm>
              <a:off x="58420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  <a:p>
              <a:r>
                <a:rPr lang="ja-JP"/>
                <a:t>を先に確かめる</a:t>
              </a:r>
            </a:p>
          </p:txBody>
        </p:sp>
        <p:sp>
          <p:nvSpPr>
            <p:cNvPr id="15" name="Arrow_01"/>
            <p:cNvSpPr/>
            <p:nvPr/>
          </p:nvSpPr>
          <p:spPr>
            <a:xfrm>
              <a:off x="198247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16" name="Card_02"/>
            <p:cNvSpPr/>
            <p:nvPr/>
          </p:nvSpPr>
          <p:spPr>
            <a:xfrm>
              <a:off x="215392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umber_02"/>
            <p:cNvSpPr/>
            <p:nvPr/>
          </p:nvSpPr>
          <p:spPr>
            <a:xfrm>
              <a:off x="228092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NumberText_02"/>
            <p:cNvSpPr txBox="1"/>
            <p:nvPr/>
          </p:nvSpPr>
          <p:spPr>
            <a:xfrm>
              <a:off x="228092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9" name="Title_02"/>
            <p:cNvSpPr txBox="1"/>
            <p:nvPr/>
          </p:nvSpPr>
          <p:spPr>
            <a:xfrm>
              <a:off x="228092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20" name="Desc_02"/>
            <p:cNvSpPr txBox="1"/>
            <p:nvPr/>
          </p:nvSpPr>
          <p:spPr>
            <a:xfrm>
              <a:off x="228092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見出しだけで</a:t>
              </a:r>
            </a:p>
            <a:p>
              <a:r>
                <a:rPr lang="ja-JP"/>
                <a:t>話が通るか見る</a:t>
              </a:r>
            </a:p>
          </p:txBody>
        </p:sp>
        <p:sp>
          <p:nvSpPr>
            <p:cNvPr id="21" name="Arrow_02"/>
            <p:cNvSpPr/>
            <p:nvPr/>
          </p:nvSpPr>
          <p:spPr>
            <a:xfrm>
              <a:off x="367919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2" name="Card_03"/>
            <p:cNvSpPr/>
            <p:nvPr/>
          </p:nvSpPr>
          <p:spPr>
            <a:xfrm>
              <a:off x="385064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3" name="Number_03"/>
            <p:cNvSpPr/>
            <p:nvPr/>
          </p:nvSpPr>
          <p:spPr>
            <a:xfrm>
              <a:off x="397764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NumberText_03"/>
            <p:cNvSpPr txBox="1"/>
            <p:nvPr/>
          </p:nvSpPr>
          <p:spPr>
            <a:xfrm>
              <a:off x="397764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25" name="Title_03"/>
            <p:cNvSpPr txBox="1"/>
            <p:nvPr/>
          </p:nvSpPr>
          <p:spPr>
            <a:xfrm>
              <a:off x="397764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26" name="Desc_03"/>
            <p:cNvSpPr txBox="1"/>
            <p:nvPr/>
          </p:nvSpPr>
          <p:spPr>
            <a:xfrm>
              <a:off x="397764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と対話しながら</a:t>
              </a:r>
            </a:p>
            <a:p>
              <a:r>
                <a:rPr lang="ja-JP"/>
                <a:t>一気に書く</a:t>
              </a:r>
            </a:p>
          </p:txBody>
        </p:sp>
        <p:sp>
          <p:nvSpPr>
            <p:cNvPr id="27" name="Arrow_03"/>
            <p:cNvSpPr/>
            <p:nvPr/>
          </p:nvSpPr>
          <p:spPr>
            <a:xfrm>
              <a:off x="537591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8" name="Card_04"/>
            <p:cNvSpPr/>
            <p:nvPr/>
          </p:nvSpPr>
          <p:spPr>
            <a:xfrm>
              <a:off x="554736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9" name="Number_04"/>
            <p:cNvSpPr/>
            <p:nvPr/>
          </p:nvSpPr>
          <p:spPr>
            <a:xfrm>
              <a:off x="567436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NumberText_04"/>
            <p:cNvSpPr txBox="1"/>
            <p:nvPr/>
          </p:nvSpPr>
          <p:spPr>
            <a:xfrm>
              <a:off x="567436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31" name="Title_04"/>
            <p:cNvSpPr txBox="1"/>
            <p:nvPr/>
          </p:nvSpPr>
          <p:spPr>
            <a:xfrm>
              <a:off x="567436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32" name="Desc_04"/>
            <p:cNvSpPr txBox="1"/>
            <p:nvPr/>
          </p:nvSpPr>
          <p:spPr>
            <a:xfrm>
              <a:off x="567436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</a:t>
              </a:r>
            </a:p>
            <a:p>
              <a:r>
                <a:rPr lang="ja-JP"/>
                <a:t>PNG に書き出す</a:t>
              </a:r>
            </a:p>
          </p:txBody>
        </p:sp>
        <p:sp>
          <p:nvSpPr>
            <p:cNvPr id="33" name="Arrow_04"/>
            <p:cNvSpPr/>
            <p:nvPr/>
          </p:nvSpPr>
          <p:spPr>
            <a:xfrm>
              <a:off x="707263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34" name="Card_05"/>
            <p:cNvSpPr/>
            <p:nvPr/>
          </p:nvSpPr>
          <p:spPr>
            <a:xfrm>
              <a:off x="724408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5" name="Number_05"/>
            <p:cNvSpPr/>
            <p:nvPr/>
          </p:nvSpPr>
          <p:spPr>
            <a:xfrm>
              <a:off x="737108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6" name="NumberText_05"/>
            <p:cNvSpPr txBox="1"/>
            <p:nvPr/>
          </p:nvSpPr>
          <p:spPr>
            <a:xfrm>
              <a:off x="737108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37" name="Title_05"/>
            <p:cNvSpPr txBox="1"/>
            <p:nvPr/>
          </p:nvSpPr>
          <p:spPr>
            <a:xfrm>
              <a:off x="737108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公開・計測</a:t>
              </a:r>
            </a:p>
          </p:txBody>
        </p:sp>
        <p:sp>
          <p:nvSpPr>
            <p:cNvPr id="38" name="Desc_05"/>
            <p:cNvSpPr txBox="1"/>
            <p:nvPr/>
          </p:nvSpPr>
          <p:spPr>
            <a:xfrm>
              <a:off x="737108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</a:t>
              </a:r>
            </a:p>
            <a:p>
              <a:r>
                <a:rPr lang="ja-JP"/>
                <a:t>翌週に振り返る</a:t>
              </a:r>
            </a:p>
          </p:txBody>
        </p:sp>
      </p:grpSp>
      <p:sp>
        <p:nvSpPr>
          <p:cNvPr id="4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執筆の6工程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型が決まると、毎回の判断が減る</a:t>
            </a:r>
          </a:p>
        </p:txBody>
      </p:sp>
      <p:grpSp>
        <p:nvGrpSpPr>
          <p:cNvPr id="34" name="organism/O-B8 グリッド一覧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Card_01"/>
            <p:cNvSpPr/>
            <p:nvPr/>
          </p:nvSpPr>
          <p:spPr>
            <a:xfrm>
              <a:off x="457200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Dot_01"/>
            <p:cNvSpPr/>
            <p:nvPr/>
          </p:nvSpPr>
          <p:spPr>
            <a:xfrm>
              <a:off x="635000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o_01"/>
            <p:cNvSpPr txBox="1"/>
            <p:nvPr/>
          </p:nvSpPr>
          <p:spPr>
            <a:xfrm>
              <a:off x="635000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7" name="Title_01"/>
            <p:cNvSpPr txBox="1"/>
            <p:nvPr/>
          </p:nvSpPr>
          <p:spPr>
            <a:xfrm>
              <a:off x="635000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8" name="Sub_01"/>
            <p:cNvSpPr txBox="1"/>
            <p:nvPr/>
          </p:nvSpPr>
          <p:spPr>
            <a:xfrm>
              <a:off x="635000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</p:txBody>
        </p:sp>
        <p:sp>
          <p:nvSpPr>
            <p:cNvPr id="9" name="Card_02"/>
            <p:cNvSpPr/>
            <p:nvPr/>
          </p:nvSpPr>
          <p:spPr>
            <a:xfrm>
              <a:off x="3268155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Dot_02"/>
            <p:cNvSpPr/>
            <p:nvPr/>
          </p:nvSpPr>
          <p:spPr>
            <a:xfrm>
              <a:off x="3445955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No_02"/>
            <p:cNvSpPr txBox="1"/>
            <p:nvPr/>
          </p:nvSpPr>
          <p:spPr>
            <a:xfrm>
              <a:off x="3445955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2" name="Title_02"/>
            <p:cNvSpPr txBox="1"/>
            <p:nvPr/>
          </p:nvSpPr>
          <p:spPr>
            <a:xfrm>
              <a:off x="3445955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13" name="Sub_02"/>
            <p:cNvSpPr txBox="1"/>
            <p:nvPr/>
          </p:nvSpPr>
          <p:spPr>
            <a:xfrm>
              <a:off x="3445955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見出しで話が通るか</a:t>
              </a:r>
            </a:p>
          </p:txBody>
        </p:sp>
        <p:sp>
          <p:nvSpPr>
            <p:cNvPr id="14" name="Card_03"/>
            <p:cNvSpPr/>
            <p:nvPr/>
          </p:nvSpPr>
          <p:spPr>
            <a:xfrm>
              <a:off x="6079046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Dot_03"/>
            <p:cNvSpPr/>
            <p:nvPr/>
          </p:nvSpPr>
          <p:spPr>
            <a:xfrm>
              <a:off x="6256846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No_03"/>
            <p:cNvSpPr txBox="1"/>
            <p:nvPr/>
          </p:nvSpPr>
          <p:spPr>
            <a:xfrm>
              <a:off x="6256846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6256846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18" name="Sub_03"/>
            <p:cNvSpPr txBox="1"/>
            <p:nvPr/>
          </p:nvSpPr>
          <p:spPr>
            <a:xfrm>
              <a:off x="6256846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と対話して書く</a:t>
              </a:r>
            </a:p>
          </p:txBody>
        </p:sp>
        <p:sp>
          <p:nvSpPr>
            <p:cNvPr id="19" name="Card_04"/>
            <p:cNvSpPr/>
            <p:nvPr/>
          </p:nvSpPr>
          <p:spPr>
            <a:xfrm>
              <a:off x="457200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Dot_04"/>
            <p:cNvSpPr/>
            <p:nvPr/>
          </p:nvSpPr>
          <p:spPr>
            <a:xfrm>
              <a:off x="635000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No_04"/>
            <p:cNvSpPr txBox="1"/>
            <p:nvPr/>
          </p:nvSpPr>
          <p:spPr>
            <a:xfrm>
              <a:off x="635000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22" name="Title_04"/>
            <p:cNvSpPr txBox="1"/>
            <p:nvPr/>
          </p:nvSpPr>
          <p:spPr>
            <a:xfrm>
              <a:off x="635000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23" name="Sub_04"/>
            <p:cNvSpPr txBox="1"/>
            <p:nvPr/>
          </p:nvSpPr>
          <p:spPr>
            <a:xfrm>
              <a:off x="635000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で作って貼る</a:t>
              </a:r>
            </a:p>
          </p:txBody>
        </p:sp>
        <p:sp>
          <p:nvSpPr>
            <p:cNvPr id="24" name="Card_05"/>
            <p:cNvSpPr/>
            <p:nvPr/>
          </p:nvSpPr>
          <p:spPr>
            <a:xfrm>
              <a:off x="3268155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Dot_05"/>
            <p:cNvSpPr/>
            <p:nvPr/>
          </p:nvSpPr>
          <p:spPr>
            <a:xfrm>
              <a:off x="3445955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No_05"/>
            <p:cNvSpPr txBox="1"/>
            <p:nvPr/>
          </p:nvSpPr>
          <p:spPr>
            <a:xfrm>
              <a:off x="3445955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27" name="Title_05"/>
            <p:cNvSpPr txBox="1"/>
            <p:nvPr/>
          </p:nvSpPr>
          <p:spPr>
            <a:xfrm>
              <a:off x="3445955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</a:t>
              </a:r>
            </a:p>
          </p:txBody>
        </p:sp>
        <p:sp>
          <p:nvSpPr>
            <p:cNvPr id="28" name="Sub_05"/>
            <p:cNvSpPr txBox="1"/>
            <p:nvPr/>
          </p:nvSpPr>
          <p:spPr>
            <a:xfrm>
              <a:off x="3445955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予約投稿で朝に出す</a:t>
              </a:r>
            </a:p>
          </p:txBody>
        </p:sp>
        <p:sp>
          <p:nvSpPr>
            <p:cNvPr id="29" name="Card_06"/>
            <p:cNvSpPr/>
            <p:nvPr/>
          </p:nvSpPr>
          <p:spPr>
            <a:xfrm>
              <a:off x="6079046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0" name="Dot_06"/>
            <p:cNvSpPr/>
            <p:nvPr/>
          </p:nvSpPr>
          <p:spPr>
            <a:xfrm>
              <a:off x="6256846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No_06"/>
            <p:cNvSpPr txBox="1"/>
            <p:nvPr/>
          </p:nvSpPr>
          <p:spPr>
            <a:xfrm>
              <a:off x="6256846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32" name="Title_06"/>
            <p:cNvSpPr txBox="1"/>
            <p:nvPr/>
          </p:nvSpPr>
          <p:spPr>
            <a:xfrm>
              <a:off x="6256846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計測</a:t>
              </a:r>
            </a:p>
          </p:txBody>
        </p:sp>
        <p:sp>
          <p:nvSpPr>
            <p:cNvPr id="33" name="Sub_06"/>
            <p:cNvSpPr txBox="1"/>
            <p:nvPr/>
          </p:nvSpPr>
          <p:spPr>
            <a:xfrm>
              <a:off x="6256846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翌週に PV を見る</a:t>
              </a:r>
            </a:p>
          </p:txBody>
        </p:sp>
      </p:grpSp>
      <p:sp>
        <p:nvSpPr>
          <p:cNvPr id="3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支援の進め方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最後の「運用と改善」に時間を残す</a:t>
            </a:r>
          </a:p>
        </p:txBody>
      </p:sp>
      <p:grpSp>
        <p:nvGrpSpPr>
          <p:cNvPr id="15" name="organism/O-B4 プロセスフロー"/>
          <p:cNvGrpSpPr/>
          <p:nvPr/>
        </p:nvGrpSpPr>
        <p:grpSpPr>
          <a:xfrm>
            <a:off x="457200" y="2298700"/>
            <a:ext cx="8229600" cy="1397000"/>
            <a:chOff x="457200" y="2298700"/>
            <a:chExt cx="8229600" cy="1397000"/>
          </a:xfrm>
        </p:grpSpPr>
        <p:sp>
          <p:nvSpPr>
            <p:cNvPr id="4" name="Chevron_1"/>
            <p:cNvSpPr/>
            <p:nvPr/>
          </p:nvSpPr>
          <p:spPr>
            <a:xfrm>
              <a:off x="4572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5" name="Step_1"/>
            <p:cNvSpPr txBox="1"/>
            <p:nvPr/>
          </p:nvSpPr>
          <p:spPr>
            <a:xfrm>
              <a:off x="457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ヒアリング</a:t>
              </a:r>
            </a:p>
          </p:txBody>
        </p:sp>
        <p:sp>
          <p:nvSpPr>
            <p:cNvPr id="6" name="Chevron_2"/>
            <p:cNvSpPr/>
            <p:nvPr/>
          </p:nvSpPr>
          <p:spPr>
            <a:xfrm>
              <a:off x="20066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7" name="Step_2"/>
            <p:cNvSpPr txBox="1"/>
            <p:nvPr/>
          </p:nvSpPr>
          <p:spPr>
            <a:xfrm>
              <a:off x="2235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現状分析</a:t>
              </a:r>
            </a:p>
          </p:txBody>
        </p:sp>
        <p:sp>
          <p:nvSpPr>
            <p:cNvPr id="8" name="Chevron_3"/>
            <p:cNvSpPr/>
            <p:nvPr/>
          </p:nvSpPr>
          <p:spPr>
            <a:xfrm>
              <a:off x="35560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Step_3"/>
            <p:cNvSpPr txBox="1"/>
            <p:nvPr/>
          </p:nvSpPr>
          <p:spPr>
            <a:xfrm>
              <a:off x="37846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方針の提案</a:t>
              </a:r>
            </a:p>
          </p:txBody>
        </p:sp>
        <p:sp>
          <p:nvSpPr>
            <p:cNvPr id="10" name="Chevron_4"/>
            <p:cNvSpPr/>
            <p:nvPr/>
          </p:nvSpPr>
          <p:spPr>
            <a:xfrm>
              <a:off x="51054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1" name="Step_4"/>
            <p:cNvSpPr txBox="1"/>
            <p:nvPr/>
          </p:nvSpPr>
          <p:spPr>
            <a:xfrm>
              <a:off x="53340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試作</a:t>
              </a:r>
            </a:p>
          </p:txBody>
        </p:sp>
        <p:sp>
          <p:nvSpPr>
            <p:cNvPr id="12" name="Chevron_5"/>
            <p:cNvSpPr/>
            <p:nvPr/>
          </p:nvSpPr>
          <p:spPr>
            <a:xfrm>
              <a:off x="66548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13" name="Step_5"/>
            <p:cNvSpPr txBox="1"/>
            <p:nvPr/>
          </p:nvSpPr>
          <p:spPr>
            <a:xfrm>
              <a:off x="68834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運用と改善</a:t>
              </a:r>
            </a:p>
          </p:txBody>
        </p:sp>
        <p:sp>
          <p:nvSpPr>
            <p:cNvPr id="14" name="Note"/>
            <p:cNvSpPr txBox="1"/>
            <p:nvPr/>
          </p:nvSpPr>
          <p:spPr>
            <a:xfrm>
              <a:off x="457200" y="33782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最終段階（運用と改善）だけ強調色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公開日の流れ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翌週の記録までが1セット</a:t>
            </a:r>
          </a:p>
        </p:txBody>
      </p:sp>
      <p:grpSp>
        <p:nvGrpSpPr>
          <p:cNvPr id="22" name="organism/O-B13 タイムライン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ine"/>
            <p:cNvSpPr/>
            <p:nvPr/>
          </p:nvSpPr>
          <p:spPr>
            <a:xfrm>
              <a:off x="1066800" y="1727200"/>
              <a:ext cx="12700" cy="25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Time_1"/>
            <p:cNvSpPr txBox="1"/>
            <p:nvPr/>
          </p:nvSpPr>
          <p:spPr>
            <a:xfrm>
              <a:off x="457200" y="16795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07:00</a:t>
              </a:r>
            </a:p>
          </p:txBody>
        </p:sp>
        <p:sp>
          <p:nvSpPr>
            <p:cNvPr id="6" name="Dot_1"/>
            <p:cNvSpPr/>
            <p:nvPr/>
          </p:nvSpPr>
          <p:spPr>
            <a:xfrm>
              <a:off x="996950" y="17272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itle_1"/>
            <p:cNvSpPr txBox="1"/>
            <p:nvPr/>
          </p:nvSpPr>
          <p:spPr>
            <a:xfrm>
              <a:off x="1371600" y="16510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予約投稿が公開</a:t>
              </a:r>
            </a:p>
          </p:txBody>
        </p:sp>
        <p:sp>
          <p:nvSpPr>
            <p:cNvPr id="8" name="Sub_1"/>
            <p:cNvSpPr txBox="1"/>
            <p:nvPr/>
          </p:nvSpPr>
          <p:spPr>
            <a:xfrm>
              <a:off x="1371600" y="19431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前夜に仕込んでおく</a:t>
              </a:r>
            </a:p>
          </p:txBody>
        </p:sp>
        <p:sp>
          <p:nvSpPr>
            <p:cNvPr id="9" name="Time_2"/>
            <p:cNvSpPr txBox="1"/>
            <p:nvPr/>
          </p:nvSpPr>
          <p:spPr>
            <a:xfrm>
              <a:off x="457200" y="23526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09:00</a:t>
              </a:r>
            </a:p>
          </p:txBody>
        </p:sp>
        <p:sp>
          <p:nvSpPr>
            <p:cNvPr id="10" name="Dot_2"/>
            <p:cNvSpPr/>
            <p:nvPr/>
          </p:nvSpPr>
          <p:spPr>
            <a:xfrm>
              <a:off x="996950" y="24003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itle_2"/>
            <p:cNvSpPr txBox="1"/>
            <p:nvPr/>
          </p:nvSpPr>
          <p:spPr>
            <a:xfrm>
              <a:off x="1371600" y="2324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SNS で告知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1371600" y="26162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朝の通勤時間に合わせる</a:t>
              </a:r>
            </a:p>
          </p:txBody>
        </p:sp>
        <p:sp>
          <p:nvSpPr>
            <p:cNvPr id="13" name="Time_3"/>
            <p:cNvSpPr txBox="1"/>
            <p:nvPr/>
          </p:nvSpPr>
          <p:spPr>
            <a:xfrm>
              <a:off x="457200" y="30257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12:00</a:t>
              </a:r>
            </a:p>
          </p:txBody>
        </p:sp>
        <p:sp>
          <p:nvSpPr>
            <p:cNvPr id="14" name="Dot_3"/>
            <p:cNvSpPr/>
            <p:nvPr/>
          </p:nvSpPr>
          <p:spPr>
            <a:xfrm>
              <a:off x="996950" y="30734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itle_3"/>
            <p:cNvSpPr txBox="1"/>
            <p:nvPr/>
          </p:nvSpPr>
          <p:spPr>
            <a:xfrm>
              <a:off x="1371600" y="29972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反応を確認</a:t>
              </a:r>
            </a:p>
          </p:txBody>
        </p:sp>
        <p:sp>
          <p:nvSpPr>
            <p:cNvPr id="16" name="Sub_3"/>
            <p:cNvSpPr txBox="1"/>
            <p:nvPr/>
          </p:nvSpPr>
          <p:spPr>
            <a:xfrm>
              <a:off x="1371600" y="32893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スキの伸び方を見る</a:t>
              </a:r>
            </a:p>
          </p:txBody>
        </p:sp>
        <p:sp>
          <p:nvSpPr>
            <p:cNvPr id="17" name="Time_4"/>
            <p:cNvSpPr txBox="1"/>
            <p:nvPr/>
          </p:nvSpPr>
          <p:spPr>
            <a:xfrm>
              <a:off x="457200" y="36988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</a:t>
              </a:r>
            </a:p>
          </p:txBody>
        </p:sp>
        <p:sp>
          <p:nvSpPr>
            <p:cNvPr id="18" name="Dot_4"/>
            <p:cNvSpPr/>
            <p:nvPr/>
          </p:nvSpPr>
          <p:spPr>
            <a:xfrm>
              <a:off x="996950" y="3746500"/>
              <a:ext cx="152400" cy="152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9" name="Title_4"/>
            <p:cNvSpPr txBox="1"/>
            <p:nvPr/>
          </p:nvSpPr>
          <p:spPr>
            <a:xfrm>
              <a:off x="1371600" y="36703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とスキを記録</a:t>
              </a:r>
            </a:p>
          </p:txBody>
        </p:sp>
        <p:sp>
          <p:nvSpPr>
            <p:cNvPr id="20" name="Sub_4"/>
            <p:cNvSpPr txBox="1"/>
            <p:nvPr/>
          </p:nvSpPr>
          <p:spPr>
            <a:xfrm>
              <a:off x="1371600" y="39624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次のテーマ選びに使う</a:t>
              </a:r>
            </a:p>
          </p:txBody>
        </p:sp>
        <p:sp>
          <p:nvSpPr>
            <p:cNvPr id="21" name="Note"/>
            <p:cNvSpPr txBox="1"/>
            <p:nvPr/>
          </p:nvSpPr>
          <p:spPr>
            <a:xfrm>
              <a:off x="457200" y="4267200"/>
              <a:ext cx="444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公開日の1日の流れ（26年9月の運用）</a:t>
              </a:r>
            </a:p>
          </p:txBody>
        </p:sp>
      </p:grpSp>
      <p:sp>
        <p:nvSpPr>
          <p:cNvPr id="2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フォロワーが増える道筋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起点は検索流入の増加にある</a:t>
            </a:r>
          </a:p>
        </p:txBody>
      </p:sp>
      <p:grpSp>
        <p:nvGrpSpPr>
          <p:cNvPr id="25" name="organism/O-B16 関係・因果図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検索流入の増加"/>
            <p:cNvSpPr/>
            <p:nvPr/>
          </p:nvSpPr>
          <p:spPr>
            <a:xfrm>
              <a:off x="457200" y="2235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ccent_検索流入の増加"/>
            <p:cNvSpPr/>
            <p:nvPr/>
          </p:nvSpPr>
          <p:spPr>
            <a:xfrm>
              <a:off x="457200" y="2235200"/>
              <a:ext cx="38100" cy="7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_検索流入の増加"/>
            <p:cNvSpPr txBox="1"/>
            <p:nvPr/>
          </p:nvSpPr>
          <p:spPr>
            <a:xfrm>
              <a:off x="635000" y="2463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検索流入の増加</a:t>
              </a:r>
            </a:p>
          </p:txBody>
        </p:sp>
        <p:sp>
          <p:nvSpPr>
            <p:cNvPr id="7" name="Card_滞在時間の伸び"/>
            <p:cNvSpPr/>
            <p:nvPr/>
          </p:nvSpPr>
          <p:spPr>
            <a:xfrm>
              <a:off x="3441700" y="185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Accent_滞在時間の伸び"/>
            <p:cNvSpPr/>
            <p:nvPr/>
          </p:nvSpPr>
          <p:spPr>
            <a:xfrm>
              <a:off x="3441700" y="185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9" name="Text_滞在時間の伸び"/>
            <p:cNvSpPr txBox="1"/>
            <p:nvPr/>
          </p:nvSpPr>
          <p:spPr>
            <a:xfrm>
              <a:off x="3619500" y="208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滞在時間の伸び</a:t>
              </a:r>
            </a:p>
          </p:txBody>
        </p:sp>
        <p:sp>
          <p:nvSpPr>
            <p:cNvPr id="10" name="Card_スキ率の改善"/>
            <p:cNvSpPr/>
            <p:nvPr/>
          </p:nvSpPr>
          <p:spPr>
            <a:xfrm>
              <a:off x="3441700" y="312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Accent_スキ率の改善"/>
            <p:cNvSpPr/>
            <p:nvPr/>
          </p:nvSpPr>
          <p:spPr>
            <a:xfrm>
              <a:off x="3441700" y="312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Text_スキ率の改善"/>
            <p:cNvSpPr txBox="1"/>
            <p:nvPr/>
          </p:nvSpPr>
          <p:spPr>
            <a:xfrm>
              <a:off x="3619500" y="335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スキ率の改善</a:t>
              </a:r>
            </a:p>
          </p:txBody>
        </p:sp>
        <p:sp>
          <p:nvSpPr>
            <p:cNvPr id="13" name="Card_フォロワー増"/>
            <p:cNvSpPr/>
            <p:nvPr/>
          </p:nvSpPr>
          <p:spPr>
            <a:xfrm>
              <a:off x="6426200" y="2489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4" name="Accent_フォロワー増"/>
            <p:cNvSpPr/>
            <p:nvPr/>
          </p:nvSpPr>
          <p:spPr>
            <a:xfrm>
              <a:off x="6426200" y="2489200"/>
              <a:ext cx="38100" cy="7620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5" name="Text_フォロワー増"/>
            <p:cNvSpPr txBox="1"/>
            <p:nvPr/>
          </p:nvSpPr>
          <p:spPr>
            <a:xfrm>
              <a:off x="6604000" y="2717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フォロワー増</a:t>
              </a:r>
            </a:p>
          </p:txBody>
        </p:sp>
        <p:sp>
          <p:nvSpPr>
            <p:cNvPr id="16" name="Note"/>
            <p:cNvSpPr txBox="1"/>
            <p:nvPr/>
          </p:nvSpPr>
          <p:spPr>
            <a:xfrm>
              <a:off x="457200" y="39497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矢印は「→ が増えると → も増える」の向き</a:t>
              </a:r>
            </a:p>
          </p:txBody>
        </p:sp>
        <p:sp>
          <p:nvSpPr>
            <p:cNvPr id="17" name="Link_1"/>
            <p:cNvSpPr/>
            <p:nvPr/>
          </p:nvSpPr>
          <p:spPr>
            <a:xfrm>
              <a:off x="2717800" y="2235200"/>
              <a:ext cx="673100" cy="381000"/>
            </a:xfrm>
            <a:custGeom>
              <a:avLst/>
              <a:gdLst/>
              <a:ahLst/>
              <a:cxnLst/>
              <a:rect l="0" t="0" r="r" b="b"/>
              <a:pathLst>
                <a:path w="673100" h="381000" fill="none">
                  <a:moveTo>
                    <a:pt x="0" y="381000"/>
                  </a:moveTo>
                  <a:lnTo>
                    <a:pt x="361950" y="381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8" name="Link_1_head"/>
            <p:cNvSpPr/>
            <p:nvPr/>
          </p:nvSpPr>
          <p:spPr>
            <a:xfrm>
              <a:off x="3302000" y="226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Link_2"/>
            <p:cNvSpPr/>
            <p:nvPr/>
          </p:nvSpPr>
          <p:spPr>
            <a:xfrm>
              <a:off x="2717800" y="2616200"/>
              <a:ext cx="673100" cy="889000"/>
            </a:xfrm>
            <a:custGeom>
              <a:avLst/>
              <a:gdLst/>
              <a:ahLst/>
              <a:cxnLst/>
              <a:rect l="0" t="0" r="r" b="b"/>
              <a:pathLst>
                <a:path w="673100" h="889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889000"/>
                  </a:lnTo>
                  <a:lnTo>
                    <a:pt x="673100" y="889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0" name="Link_2_head"/>
            <p:cNvSpPr/>
            <p:nvPr/>
          </p:nvSpPr>
          <p:spPr>
            <a:xfrm>
              <a:off x="3302000" y="353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Link_3"/>
            <p:cNvSpPr/>
            <p:nvPr/>
          </p:nvSpPr>
          <p:spPr>
            <a:xfrm>
              <a:off x="5702300" y="2235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635000"/>
                  </a:lnTo>
                  <a:lnTo>
                    <a:pt x="673100" y="635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2" name="Link_3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3" name="Link_4"/>
            <p:cNvSpPr/>
            <p:nvPr/>
          </p:nvSpPr>
          <p:spPr>
            <a:xfrm>
              <a:off x="5702300" y="2870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635000"/>
                  </a:moveTo>
                  <a:lnTo>
                    <a:pt x="361950" y="635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4" name="Link_4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2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この連載の立ち位置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手間はかかるが、一次情報で差がつく</a:t>
            </a:r>
          </a:p>
        </p:txBody>
      </p:sp>
      <p:grpSp>
        <p:nvGrpSpPr>
          <p:cNvPr id="19" name="organism/O-B6 ポジショニングマップ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Plane"/>
            <p:cNvSpPr/>
            <p:nvPr/>
          </p:nvSpPr>
          <p:spPr>
            <a:xfrm>
              <a:off x="1600200" y="1727200"/>
              <a:ext cx="4826000" cy="2413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xisX"/>
            <p:cNvSpPr/>
            <p:nvPr/>
          </p:nvSpPr>
          <p:spPr>
            <a:xfrm>
              <a:off x="1600200" y="2927350"/>
              <a:ext cx="48260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AxisY"/>
            <p:cNvSpPr/>
            <p:nvPr/>
          </p:nvSpPr>
          <p:spPr>
            <a:xfrm>
              <a:off x="4006850" y="1727200"/>
              <a:ext cx="12700" cy="2413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AxisLabel_Top"/>
            <p:cNvSpPr txBox="1"/>
            <p:nvPr/>
          </p:nvSpPr>
          <p:spPr>
            <a:xfrm>
              <a:off x="1600200" y="15113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一次情報が多い</a:t>
              </a:r>
            </a:p>
          </p:txBody>
        </p:sp>
        <p:sp>
          <p:nvSpPr>
            <p:cNvPr id="8" name="AxisLabel_Bottom"/>
            <p:cNvSpPr txBox="1"/>
            <p:nvPr/>
          </p:nvSpPr>
          <p:spPr>
            <a:xfrm>
              <a:off x="1600200" y="41910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まとめ・引用が中心</a:t>
              </a:r>
            </a:p>
          </p:txBody>
        </p:sp>
        <p:sp>
          <p:nvSpPr>
            <p:cNvPr id="9" name="AxisLabel_Left"/>
            <p:cNvSpPr txBox="1"/>
            <p:nvPr/>
          </p:nvSpPr>
          <p:spPr>
            <a:xfrm>
              <a:off x="5207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手間が小さい</a:t>
              </a:r>
            </a:p>
          </p:txBody>
        </p:sp>
        <p:sp>
          <p:nvSpPr>
            <p:cNvPr id="10" name="AxisLabel_Right"/>
            <p:cNvSpPr txBox="1"/>
            <p:nvPr/>
          </p:nvSpPr>
          <p:spPr>
            <a:xfrm>
              <a:off x="65024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手間が大きい</a:t>
              </a:r>
            </a:p>
          </p:txBody>
        </p:sp>
        <p:sp>
          <p:nvSpPr>
            <p:cNvPr id="11" name="Dot_AI記事の量産"/>
            <p:cNvSpPr/>
            <p:nvPr/>
          </p:nvSpPr>
          <p:spPr>
            <a:xfrm>
              <a:off x="2573020" y="352044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Label_AI記事の量産"/>
            <p:cNvSpPr txBox="1"/>
            <p:nvPr/>
          </p:nvSpPr>
          <p:spPr>
            <a:xfrm>
              <a:off x="2801620" y="348551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記事の量産</a:t>
              </a:r>
            </a:p>
          </p:txBody>
        </p:sp>
        <p:sp>
          <p:nvSpPr>
            <p:cNvPr id="13" name="Dot_ニュースまとめ"/>
            <p:cNvSpPr/>
            <p:nvPr/>
          </p:nvSpPr>
          <p:spPr>
            <a:xfrm>
              <a:off x="3055620" y="337566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4" name="Label_ニュースまとめ"/>
            <p:cNvSpPr txBox="1"/>
            <p:nvPr/>
          </p:nvSpPr>
          <p:spPr>
            <a:xfrm>
              <a:off x="3284220" y="334073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ニュースまとめ</a:t>
              </a:r>
            </a:p>
          </p:txBody>
        </p:sp>
        <p:sp>
          <p:nvSpPr>
            <p:cNvPr id="15" name="Dot_ツール紹介"/>
            <p:cNvSpPr/>
            <p:nvPr/>
          </p:nvSpPr>
          <p:spPr>
            <a:xfrm>
              <a:off x="4165600" y="272415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6" name="Label_ツール紹介"/>
            <p:cNvSpPr txBox="1"/>
            <p:nvPr/>
          </p:nvSpPr>
          <p:spPr>
            <a:xfrm>
              <a:off x="4394200" y="268922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ツール紹介</a:t>
              </a:r>
            </a:p>
          </p:txBody>
        </p:sp>
        <p:sp>
          <p:nvSpPr>
            <p:cNvPr id="17" name="Dot_この連載"/>
            <p:cNvSpPr/>
            <p:nvPr/>
          </p:nvSpPr>
          <p:spPr>
            <a:xfrm>
              <a:off x="4986020" y="2217420"/>
              <a:ext cx="177800" cy="177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Label_この連載"/>
            <p:cNvSpPr txBox="1"/>
            <p:nvPr/>
          </p:nvSpPr>
          <p:spPr>
            <a:xfrm>
              <a:off x="5214620" y="218249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この連載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ダッシュボードの見どころ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数字より先に「どこを見るか」を決めておく</a:t>
            </a:r>
          </a:p>
        </p:txBody>
      </p:sp>
      <p:grpSp>
        <p:nvGrpSpPr>
          <p:cNvPr id="24" name="organism/O-B20 コールアウト注釈"/>
          <p:cNvGrpSpPr/>
          <p:nvPr/>
        </p:nvGrpSpPr>
        <p:grpSpPr>
          <a:xfrm>
            <a:off x="457200" y="1371600"/>
            <a:ext cx="8229600" cy="3251200"/>
            <a:chOff x="457200" y="1371600"/>
            <a:chExt cx="8229600" cy="3251200"/>
          </a:xfrm>
        </p:grpSpPr>
        <p:sp>
          <p:nvSpPr>
            <p:cNvPr id="4" name="BaseFigure"/>
            <p:cNvSpPr/>
            <p:nvPr/>
          </p:nvSpPr>
          <p:spPr>
            <a:xfrm>
              <a:off x="2794000" y="1600200"/>
              <a:ext cx="3556000" cy="279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BaseLabel"/>
            <p:cNvSpPr txBox="1"/>
            <p:nvPr/>
          </p:nvSpPr>
          <p:spPr>
            <a:xfrm>
              <a:off x="2794000" y="2870200"/>
              <a:ext cx="35560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ベース図</a:t>
              </a:r>
            </a:p>
            <a:p>
              <a:r>
                <a:rPr lang="ja-JP"/>
                <a:t>（note ダッシュボードの画面）</a:t>
              </a:r>
            </a:p>
          </p:txBody>
        </p:sp>
        <p:sp>
          <p:nvSpPr>
            <p:cNvPr id="6" name="Leader_01"/>
            <p:cNvSpPr/>
            <p:nvPr/>
          </p:nvSpPr>
          <p:spPr>
            <a:xfrm>
              <a:off x="2590800" y="1905000"/>
              <a:ext cx="850900" cy="203200"/>
            </a:xfrm>
            <a:custGeom>
              <a:avLst/>
              <a:gdLst/>
              <a:ahLst/>
              <a:cxnLst/>
              <a:rect l="0" t="0" r="r" b="b"/>
              <a:pathLst>
                <a:path w="850900" h="203200" fill="none">
                  <a:moveTo>
                    <a:pt x="850900" y="0"/>
                  </a:moveTo>
                  <a:lnTo>
                    <a:pt x="425450" y="0"/>
                  </a:lnTo>
                  <a:lnTo>
                    <a:pt x="425450" y="203200"/>
                  </a:lnTo>
                  <a:lnTo>
                    <a:pt x="0" y="2032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7" name="Card_01"/>
            <p:cNvSpPr/>
            <p:nvPr/>
          </p:nvSpPr>
          <p:spPr>
            <a:xfrm>
              <a:off x="457200" y="1752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CardNo_01"/>
            <p:cNvSpPr txBox="1"/>
            <p:nvPr/>
          </p:nvSpPr>
          <p:spPr>
            <a:xfrm>
              <a:off x="584200" y="1828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  アクセス推移</a:t>
              </a:r>
            </a:p>
          </p:txBody>
        </p:sp>
        <p:sp>
          <p:nvSpPr>
            <p:cNvPr id="9" name="CardBody_01"/>
            <p:cNvSpPr txBox="1"/>
            <p:nvPr/>
          </p:nvSpPr>
          <p:spPr>
            <a:xfrm>
              <a:off x="584200" y="2057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7日間の山は</a:t>
              </a:r>
            </a:p>
            <a:p>
              <a:r>
                <a:rPr lang="ja-JP"/>
                <a:t>連載 #3 の公開日</a:t>
              </a:r>
            </a:p>
          </p:txBody>
        </p:sp>
        <p:sp>
          <p:nvSpPr>
            <p:cNvPr id="10" name="Leader_02"/>
            <p:cNvSpPr/>
            <p:nvPr/>
          </p:nvSpPr>
          <p:spPr>
            <a:xfrm>
              <a:off x="5537200" y="2413000"/>
              <a:ext cx="1016000" cy="266700"/>
            </a:xfrm>
            <a:custGeom>
              <a:avLst/>
              <a:gdLst/>
              <a:ahLst/>
              <a:cxnLst/>
              <a:rect l="0" t="0" r="r" b="b"/>
              <a:pathLst>
                <a:path w="1016000" h="266700" fill="none">
                  <a:moveTo>
                    <a:pt x="0" y="0"/>
                  </a:moveTo>
                  <a:lnTo>
                    <a:pt x="508000" y="0"/>
                  </a:lnTo>
                  <a:lnTo>
                    <a:pt x="508000" y="266700"/>
                  </a:lnTo>
                  <a:lnTo>
                    <a:pt x="101600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1" name="Card_02"/>
            <p:cNvSpPr/>
            <p:nvPr/>
          </p:nvSpPr>
          <p:spPr>
            <a:xfrm>
              <a:off x="6553200" y="23241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2" name="CardNo_02"/>
            <p:cNvSpPr txBox="1"/>
            <p:nvPr/>
          </p:nvSpPr>
          <p:spPr>
            <a:xfrm>
              <a:off x="6680200" y="24003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  人気記事</a:t>
              </a:r>
            </a:p>
          </p:txBody>
        </p:sp>
        <p:sp>
          <p:nvSpPr>
            <p:cNvPr id="13" name="CardBody_02"/>
            <p:cNvSpPr txBox="1"/>
            <p:nvPr/>
          </p:nvSpPr>
          <p:spPr>
            <a:xfrm>
              <a:off x="6680200" y="26289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上位3本で</a:t>
              </a:r>
            </a:p>
            <a:p>
              <a:r>
                <a:rPr lang="ja-JP"/>
                <a:t>全体の 62%</a:t>
              </a:r>
            </a:p>
          </p:txBody>
        </p:sp>
        <p:sp>
          <p:nvSpPr>
            <p:cNvPr id="14" name="Leader_03"/>
            <p:cNvSpPr/>
            <p:nvPr/>
          </p:nvSpPr>
          <p:spPr>
            <a:xfrm>
              <a:off x="2590800" y="3365500"/>
              <a:ext cx="1422400" cy="266700"/>
            </a:xfrm>
            <a:custGeom>
              <a:avLst/>
              <a:gdLst/>
              <a:ahLst/>
              <a:cxnLst/>
              <a:rect l="0" t="0" r="r" b="b"/>
              <a:pathLst>
                <a:path w="1422400" h="266700" fill="none">
                  <a:moveTo>
                    <a:pt x="1422400" y="0"/>
                  </a:moveTo>
                  <a:lnTo>
                    <a:pt x="711200" y="0"/>
                  </a:lnTo>
                  <a:lnTo>
                    <a:pt x="711200" y="266700"/>
                  </a:lnTo>
                  <a:lnTo>
                    <a:pt x="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5" name="Card_03"/>
            <p:cNvSpPr/>
            <p:nvPr/>
          </p:nvSpPr>
          <p:spPr>
            <a:xfrm>
              <a:off x="457200" y="3276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CardNo_03"/>
            <p:cNvSpPr txBox="1"/>
            <p:nvPr/>
          </p:nvSpPr>
          <p:spPr>
            <a:xfrm>
              <a:off x="584200" y="3352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  流入元</a:t>
              </a:r>
            </a:p>
          </p:txBody>
        </p:sp>
        <p:sp>
          <p:nvSpPr>
            <p:cNvPr id="17" name="CardBody_03"/>
            <p:cNvSpPr txBox="1"/>
            <p:nvPr/>
          </p:nvSpPr>
          <p:spPr>
            <a:xfrm>
              <a:off x="584200" y="3581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 58%。</a:t>
              </a:r>
            </a:p>
            <a:p>
              <a:r>
                <a:rPr lang="ja-JP"/>
                <a:t>SNS は 21%</a:t>
              </a:r>
            </a:p>
          </p:txBody>
        </p:sp>
        <p:sp>
          <p:nvSpPr>
            <p:cNvPr id="18" name="Pin_01"/>
            <p:cNvSpPr/>
            <p:nvPr/>
          </p:nvSpPr>
          <p:spPr>
            <a:xfrm>
              <a:off x="3352800" y="1816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9" name="PinHole_01"/>
            <p:cNvSpPr/>
            <p:nvPr/>
          </p:nvSpPr>
          <p:spPr>
            <a:xfrm>
              <a:off x="3409950" y="1873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0" name="Pin_02"/>
            <p:cNvSpPr/>
            <p:nvPr/>
          </p:nvSpPr>
          <p:spPr>
            <a:xfrm>
              <a:off x="5448300" y="2324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1" name="PinHole_02"/>
            <p:cNvSpPr/>
            <p:nvPr/>
          </p:nvSpPr>
          <p:spPr>
            <a:xfrm>
              <a:off x="5505450" y="2381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2" name="Pin_03"/>
            <p:cNvSpPr/>
            <p:nvPr/>
          </p:nvSpPr>
          <p:spPr>
            <a:xfrm>
              <a:off x="3924300" y="32766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PinHole_03"/>
            <p:cNvSpPr/>
            <p:nvPr/>
          </p:nvSpPr>
          <p:spPr>
            <a:xfrm>
              <a:off x="3981450" y="33337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デザインシステムの構成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上の層を変えると、下は全部作り直せる</a:t>
            </a:r>
          </a:p>
        </p:txBody>
      </p:sp>
      <p:grpSp>
        <p:nvGrpSpPr>
          <p:cNvPr id="27" name="organism/O-B21 ツリー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oot"/>
            <p:cNvSpPr/>
            <p:nvPr/>
          </p:nvSpPr>
          <p:spPr>
            <a:xfrm>
              <a:off x="3556000" y="1663700"/>
              <a:ext cx="2032000" cy="508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" name="Root_t"/>
            <p:cNvSpPr txBox="1"/>
            <p:nvPr/>
          </p:nvSpPr>
          <p:spPr>
            <a:xfrm>
              <a:off x="3657600" y="17907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6" name="Trunk"/>
            <p:cNvSpPr/>
            <p:nvPr/>
          </p:nvSpPr>
          <p:spPr>
            <a:xfrm>
              <a:off x="4559300" y="2171700"/>
              <a:ext cx="12700" cy="304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Bar"/>
            <p:cNvSpPr/>
            <p:nvPr/>
          </p:nvSpPr>
          <p:spPr>
            <a:xfrm>
              <a:off x="1600200" y="2476500"/>
              <a:ext cx="59436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Stem_共通トークン"/>
            <p:cNvSpPr/>
            <p:nvPr/>
          </p:nvSpPr>
          <p:spPr>
            <a:xfrm>
              <a:off x="26035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de_共通トークン"/>
            <p:cNvSpPr/>
            <p:nvPr/>
          </p:nvSpPr>
          <p:spPr>
            <a:xfrm>
              <a:off x="16002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de_共通トークン_t"/>
            <p:cNvSpPr txBox="1"/>
            <p:nvPr/>
          </p:nvSpPr>
          <p:spPr>
            <a:xfrm>
              <a:off x="17018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共通トークン</a:t>
              </a:r>
            </a:p>
          </p:txBody>
        </p:sp>
        <p:sp>
          <p:nvSpPr>
            <p:cNvPr id="11" name="Stem_PowerPoint"/>
            <p:cNvSpPr/>
            <p:nvPr/>
          </p:nvSpPr>
          <p:spPr>
            <a:xfrm>
              <a:off x="45593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Node_PowerPoint"/>
            <p:cNvSpPr/>
            <p:nvPr/>
          </p:nvSpPr>
          <p:spPr>
            <a:xfrm>
              <a:off x="35560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3" name="Node_PowerPoint_t"/>
            <p:cNvSpPr txBox="1"/>
            <p:nvPr/>
          </p:nvSpPr>
          <p:spPr>
            <a:xfrm>
              <a:off x="36576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PowerPoint</a:t>
              </a:r>
            </a:p>
          </p:txBody>
        </p:sp>
        <p:sp>
          <p:nvSpPr>
            <p:cNvPr id="14" name="Stem_Word"/>
            <p:cNvSpPr/>
            <p:nvPr/>
          </p:nvSpPr>
          <p:spPr>
            <a:xfrm>
              <a:off x="65151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5" name="Node_Word"/>
            <p:cNvSpPr/>
            <p:nvPr/>
          </p:nvSpPr>
          <p:spPr>
            <a:xfrm>
              <a:off x="55118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Node_Word_t"/>
            <p:cNvSpPr txBox="1"/>
            <p:nvPr/>
          </p:nvSpPr>
          <p:spPr>
            <a:xfrm>
              <a:off x="56134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Word</a:t>
              </a:r>
            </a:p>
          </p:txBody>
        </p:sp>
        <p:sp>
          <p:nvSpPr>
            <p:cNvPr id="17" name="Stem2_色・文字サイズ"/>
            <p:cNvSpPr/>
            <p:nvPr/>
          </p:nvSpPr>
          <p:spPr>
            <a:xfrm>
              <a:off x="26035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8" name="Leaf_色・文字サイズ"/>
            <p:cNvSpPr/>
            <p:nvPr/>
          </p:nvSpPr>
          <p:spPr>
            <a:xfrm>
              <a:off x="16002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9" name="Leaf_色・文字サイズ_t"/>
            <p:cNvSpPr txBox="1"/>
            <p:nvPr/>
          </p:nvSpPr>
          <p:spPr>
            <a:xfrm>
              <a:off x="17018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色・文字サイズ</a:t>
              </a:r>
            </a:p>
          </p:txBody>
        </p:sp>
        <p:sp>
          <p:nvSpPr>
            <p:cNvPr id="20" name="Stem2_レイアウト7種"/>
            <p:cNvSpPr/>
            <p:nvPr/>
          </p:nvSpPr>
          <p:spPr>
            <a:xfrm>
              <a:off x="45593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Leaf_レイアウト7種"/>
            <p:cNvSpPr/>
            <p:nvPr/>
          </p:nvSpPr>
          <p:spPr>
            <a:xfrm>
              <a:off x="35560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2" name="Leaf_レイアウト7種_t"/>
            <p:cNvSpPr txBox="1"/>
            <p:nvPr/>
          </p:nvSpPr>
          <p:spPr>
            <a:xfrm>
              <a:off x="36576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レイアウト7種</a:t>
              </a:r>
            </a:p>
          </p:txBody>
        </p:sp>
        <p:sp>
          <p:nvSpPr>
            <p:cNvPr id="23" name="Stem2_スタイル表"/>
            <p:cNvSpPr/>
            <p:nvPr/>
          </p:nvSpPr>
          <p:spPr>
            <a:xfrm>
              <a:off x="65151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4" name="Leaf_スタイル表"/>
            <p:cNvSpPr/>
            <p:nvPr/>
          </p:nvSpPr>
          <p:spPr>
            <a:xfrm>
              <a:off x="55118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Leaf_スタイル表_t"/>
            <p:cNvSpPr txBox="1"/>
            <p:nvPr/>
          </p:nvSpPr>
          <p:spPr>
            <a:xfrm>
              <a:off x="56134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スタイル表</a:t>
              </a:r>
            </a:p>
          </p:txBody>
        </p:sp>
        <p:sp>
          <p:nvSpPr>
            <p:cNvPr id="26" name="Note"/>
            <p:cNvSpPr txBox="1"/>
            <p:nvPr/>
          </p:nvSpPr>
          <p:spPr>
            <a:xfrm>
              <a:off x="457200" y="40513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下の層ほど具体。上の層を変えると下は全部作り直せる</a:t>
              </a:r>
            </a:p>
          </p:txBody>
        </p:sp>
      </p:grpSp>
      <p:sp>
        <p:nvSpPr>
          <p:cNvPr id="28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この連載の登場人物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読者は非エンジニアが中心</a:t>
            </a:r>
          </a:p>
        </p:txBody>
      </p:sp>
      <p:grpSp>
        <p:nvGrpSpPr>
          <p:cNvPr id="19" name="organism/O-B14 人物紹介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1"/>
            <p:cNvSpPr/>
            <p:nvPr/>
          </p:nvSpPr>
          <p:spPr>
            <a:xfrm>
              <a:off x="4572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Photo_1"/>
            <p:cNvSpPr/>
            <p:nvPr/>
          </p:nvSpPr>
          <p:spPr>
            <a:xfrm>
              <a:off x="1320800" y="2108200"/>
              <a:ext cx="812800" cy="812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ame_1"/>
            <p:cNvSpPr txBox="1"/>
            <p:nvPr/>
          </p:nvSpPr>
          <p:spPr>
            <a:xfrm>
              <a:off x="4572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だいき君</a:t>
              </a:r>
            </a:p>
          </p:txBody>
        </p:sp>
        <p:sp>
          <p:nvSpPr>
            <p:cNvPr id="7" name="Role_1"/>
            <p:cNvSpPr txBox="1"/>
            <p:nvPr/>
          </p:nvSpPr>
          <p:spPr>
            <a:xfrm>
              <a:off x="4572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筆者／試作担当</a:t>
              </a:r>
            </a:p>
          </p:txBody>
        </p:sp>
        <p:sp>
          <p:nvSpPr>
            <p:cNvPr id="8" name="Desc_1"/>
            <p:cNvSpPr txBox="1"/>
            <p:nvPr/>
          </p:nvSpPr>
          <p:spPr>
            <a:xfrm>
              <a:off x="660400" y="3657600"/>
              <a:ext cx="213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note を書きながら、AI との進め方を試す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3020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Photo_2"/>
            <p:cNvSpPr/>
            <p:nvPr/>
          </p:nvSpPr>
          <p:spPr>
            <a:xfrm>
              <a:off x="41656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1" name="Name_2"/>
            <p:cNvSpPr txBox="1"/>
            <p:nvPr/>
          </p:nvSpPr>
          <p:spPr>
            <a:xfrm>
              <a:off x="33020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Claude</a:t>
              </a:r>
            </a:p>
          </p:txBody>
        </p:sp>
        <p:sp>
          <p:nvSpPr>
            <p:cNvPr id="12" name="Role_2"/>
            <p:cNvSpPr txBox="1"/>
            <p:nvPr/>
          </p:nvSpPr>
          <p:spPr>
            <a:xfrm>
              <a:off x="33020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エージェント</a:t>
              </a:r>
            </a:p>
          </p:txBody>
        </p:sp>
        <p:sp>
          <p:nvSpPr>
            <p:cNvPr id="13" name="Desc_2"/>
            <p:cNvSpPr txBox="1"/>
            <p:nvPr/>
          </p:nvSpPr>
          <p:spPr>
            <a:xfrm>
              <a:off x="35052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XML を書き、検証し、記録を残す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1468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Photo_3"/>
            <p:cNvSpPr/>
            <p:nvPr/>
          </p:nvSpPr>
          <p:spPr>
            <a:xfrm>
              <a:off x="70104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6" name="Name_3"/>
            <p:cNvSpPr txBox="1"/>
            <p:nvPr/>
          </p:nvSpPr>
          <p:spPr>
            <a:xfrm>
              <a:off x="61468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</a:t>
              </a:r>
            </a:p>
          </p:txBody>
        </p:sp>
        <p:sp>
          <p:nvSpPr>
            <p:cNvPr id="17" name="Role_3"/>
            <p:cNvSpPr txBox="1"/>
            <p:nvPr/>
          </p:nvSpPr>
          <p:spPr>
            <a:xfrm>
              <a:off x="61468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非エンジニア中心</a:t>
              </a:r>
            </a:p>
          </p:txBody>
        </p:sp>
        <p:sp>
          <p:nvSpPr>
            <p:cNvPr id="18" name="Desc_3"/>
            <p:cNvSpPr txBox="1"/>
            <p:nvPr/>
          </p:nvSpPr>
          <p:spPr>
            <a:xfrm>
              <a:off x="63500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自分の仕事に持ち帰れるかで読む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grpSp>
        <p:nvGrpSpPr>
          <p:cNvPr id="33" name="organism/O-S1 目次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Rule_01"/>
            <p:cNvSpPr/>
            <p:nvPr/>
          </p:nvSpPr>
          <p:spPr>
            <a:xfrm>
              <a:off x="4572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Rule_02"/>
            <p:cNvSpPr/>
            <p:nvPr/>
          </p:nvSpPr>
          <p:spPr>
            <a:xfrm>
              <a:off x="47244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Rule_03"/>
            <p:cNvSpPr/>
            <p:nvPr/>
          </p:nvSpPr>
          <p:spPr>
            <a:xfrm>
              <a:off x="4572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Rule_04"/>
            <p:cNvSpPr/>
            <p:nvPr/>
          </p:nvSpPr>
          <p:spPr>
            <a:xfrm>
              <a:off x="47244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Rule_05"/>
            <p:cNvSpPr/>
            <p:nvPr/>
          </p:nvSpPr>
          <p:spPr>
            <a:xfrm>
              <a:off x="4572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Rule_06"/>
            <p:cNvSpPr/>
            <p:nvPr/>
          </p:nvSpPr>
          <p:spPr>
            <a:xfrm>
              <a:off x="47244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_01"/>
            <p:cNvSpPr txBox="1"/>
            <p:nvPr/>
          </p:nvSpPr>
          <p:spPr>
            <a:xfrm>
              <a:off x="4572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0" name="No_02"/>
            <p:cNvSpPr txBox="1"/>
            <p:nvPr/>
          </p:nvSpPr>
          <p:spPr>
            <a:xfrm>
              <a:off x="47244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1" name="No_03"/>
            <p:cNvSpPr txBox="1"/>
            <p:nvPr/>
          </p:nvSpPr>
          <p:spPr>
            <a:xfrm>
              <a:off x="4572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2" name="No_04"/>
            <p:cNvSpPr txBox="1"/>
            <p:nvPr/>
          </p:nvSpPr>
          <p:spPr>
            <a:xfrm>
              <a:off x="47244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13" name="No_05"/>
            <p:cNvSpPr txBox="1"/>
            <p:nvPr/>
          </p:nvSpPr>
          <p:spPr>
            <a:xfrm>
              <a:off x="4572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14" name="No_06"/>
            <p:cNvSpPr txBox="1"/>
            <p:nvPr/>
          </p:nvSpPr>
          <p:spPr>
            <a:xfrm>
              <a:off x="47244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15" name="Title_01"/>
            <p:cNvSpPr txBox="1"/>
            <p:nvPr/>
          </p:nvSpPr>
          <p:spPr>
            <a:xfrm>
              <a:off x="9144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今月の読まれ方</a:t>
              </a:r>
            </a:p>
          </p:txBody>
        </p:sp>
        <p:sp>
          <p:nvSpPr>
            <p:cNvPr id="16" name="Title_02"/>
            <p:cNvSpPr txBox="1"/>
            <p:nvPr/>
          </p:nvSpPr>
          <p:spPr>
            <a:xfrm>
              <a:off x="51816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記事ごとの成績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9144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流入元の変化</a:t>
              </a:r>
            </a:p>
          </p:txBody>
        </p:sp>
        <p:sp>
          <p:nvSpPr>
            <p:cNvPr id="18" name="Title_04"/>
            <p:cNvSpPr txBox="1"/>
            <p:nvPr/>
          </p:nvSpPr>
          <p:spPr>
            <a:xfrm>
              <a:off x="51816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うまくいった型</a:t>
              </a:r>
            </a:p>
          </p:txBody>
        </p:sp>
        <p:sp>
          <p:nvSpPr>
            <p:cNvPr id="19" name="Title_05"/>
            <p:cNvSpPr txBox="1"/>
            <p:nvPr/>
          </p:nvSpPr>
          <p:spPr>
            <a:xfrm>
              <a:off x="9144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次の一手</a:t>
              </a:r>
            </a:p>
          </p:txBody>
        </p:sp>
        <p:sp>
          <p:nvSpPr>
            <p:cNvPr id="20" name="Title_06"/>
            <p:cNvSpPr txBox="1"/>
            <p:nvPr/>
          </p:nvSpPr>
          <p:spPr>
            <a:xfrm>
              <a:off x="51816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付録</a:t>
              </a:r>
            </a:p>
          </p:txBody>
        </p:sp>
        <p:sp>
          <p:nvSpPr>
            <p:cNvPr id="21" name="Sub_01"/>
            <p:cNvSpPr txBox="1"/>
            <p:nvPr/>
          </p:nvSpPr>
          <p:spPr>
            <a:xfrm>
              <a:off x="9144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PV・スキ・フォロワー</a:t>
              </a:r>
            </a:p>
          </p:txBody>
        </p:sp>
        <p:sp>
          <p:nvSpPr>
            <p:cNvPr id="22" name="Sub_02"/>
            <p:cNvSpPr txBox="1"/>
            <p:nvPr/>
          </p:nvSpPr>
          <p:spPr>
            <a:xfrm>
              <a:off x="51816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#1〜#4 の比較</a:t>
              </a:r>
            </a:p>
          </p:txBody>
        </p:sp>
        <p:sp>
          <p:nvSpPr>
            <p:cNvPr id="23" name="Sub_03"/>
            <p:cNvSpPr txBox="1"/>
            <p:nvPr/>
          </p:nvSpPr>
          <p:spPr>
            <a:xfrm>
              <a:off x="9144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検索が全体の 58%</a:t>
              </a:r>
            </a:p>
          </p:txBody>
        </p:sp>
        <p:sp>
          <p:nvSpPr>
            <p:cNvPr id="24" name="Sub_04"/>
            <p:cNvSpPr txBox="1"/>
            <p:nvPr/>
          </p:nvSpPr>
          <p:spPr>
            <a:xfrm>
              <a:off x="51816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 × 図解</a:t>
              </a:r>
            </a:p>
          </p:txBody>
        </p:sp>
        <p:sp>
          <p:nvSpPr>
            <p:cNvPr id="25" name="Sub_05"/>
            <p:cNvSpPr txBox="1"/>
            <p:nvPr/>
          </p:nvSpPr>
          <p:spPr>
            <a:xfrm>
              <a:off x="9144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#5 のテーマ</a:t>
              </a:r>
            </a:p>
          </p:txBody>
        </p:sp>
        <p:sp>
          <p:nvSpPr>
            <p:cNvPr id="26" name="Sub_06"/>
            <p:cNvSpPr txBox="1"/>
            <p:nvPr/>
          </p:nvSpPr>
          <p:spPr>
            <a:xfrm>
              <a:off x="51816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数値の定義と出典</a:t>
              </a:r>
            </a:p>
          </p:txBody>
        </p:sp>
        <p:sp>
          <p:nvSpPr>
            <p:cNvPr id="27" name="Page_01"/>
            <p:cNvSpPr txBox="1"/>
            <p:nvPr/>
          </p:nvSpPr>
          <p:spPr>
            <a:xfrm>
              <a:off x="40386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2</a:t>
              </a:r>
            </a:p>
          </p:txBody>
        </p:sp>
        <p:sp>
          <p:nvSpPr>
            <p:cNvPr id="28" name="Page_02"/>
            <p:cNvSpPr txBox="1"/>
            <p:nvPr/>
          </p:nvSpPr>
          <p:spPr>
            <a:xfrm>
              <a:off x="83058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</a:t>
              </a:r>
            </a:p>
          </p:txBody>
        </p:sp>
        <p:sp>
          <p:nvSpPr>
            <p:cNvPr id="29" name="Page_03"/>
            <p:cNvSpPr txBox="1"/>
            <p:nvPr/>
          </p:nvSpPr>
          <p:spPr>
            <a:xfrm>
              <a:off x="40386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9</a:t>
              </a:r>
            </a:p>
          </p:txBody>
        </p:sp>
        <p:sp>
          <p:nvSpPr>
            <p:cNvPr id="30" name="Page_04"/>
            <p:cNvSpPr txBox="1"/>
            <p:nvPr/>
          </p:nvSpPr>
          <p:spPr>
            <a:xfrm>
              <a:off x="83058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</a:t>
              </a:r>
            </a:p>
          </p:txBody>
        </p:sp>
        <p:sp>
          <p:nvSpPr>
            <p:cNvPr id="31" name="Page_05"/>
            <p:cNvSpPr txBox="1"/>
            <p:nvPr/>
          </p:nvSpPr>
          <p:spPr>
            <a:xfrm>
              <a:off x="40386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15</a:t>
              </a:r>
            </a:p>
          </p:txBody>
        </p:sp>
        <p:sp>
          <p:nvSpPr>
            <p:cNvPr id="32" name="Page_06"/>
            <p:cNvSpPr txBox="1"/>
            <p:nvPr/>
          </p:nvSpPr>
          <p:spPr>
            <a:xfrm>
              <a:off x="83058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18</a:t>
              </a:r>
            </a:p>
          </p:txBody>
        </p:sp>
      </p:grpSp>
      <p:sp>
        <p:nvSpPr>
          <p:cNvPr id="3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9月の記録</a:t>
            </a:r>
          </a:p>
        </p:txBody>
      </p:sp>
      <p:grpSp>
        <p:nvGrpSpPr>
          <p:cNvPr id="13" name="organism/O-S2 写真ギャラリー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Photo_1"/>
            <p:cNvSpPr/>
            <p:nvPr/>
          </p:nvSpPr>
          <p:spPr>
            <a:xfrm>
              <a:off x="457200" y="965200"/>
              <a:ext cx="4038600" cy="3657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Caption_1"/>
            <p:cNvSpPr txBox="1"/>
            <p:nvPr/>
          </p:nvSpPr>
          <p:spPr>
            <a:xfrm>
              <a:off x="609600" y="43180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写真1（差し替え）</a:t>
              </a:r>
            </a:p>
          </p:txBody>
        </p:sp>
        <p:sp>
          <p:nvSpPr>
            <p:cNvPr id="5" name="Photo_2"/>
            <p:cNvSpPr/>
            <p:nvPr/>
          </p:nvSpPr>
          <p:spPr>
            <a:xfrm>
              <a:off x="48006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Photo_3"/>
            <p:cNvSpPr/>
            <p:nvPr/>
          </p:nvSpPr>
          <p:spPr>
            <a:xfrm>
              <a:off x="68199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Photo_4"/>
            <p:cNvSpPr/>
            <p:nvPr/>
          </p:nvSpPr>
          <p:spPr>
            <a:xfrm>
              <a:off x="48006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Photo_5"/>
            <p:cNvSpPr/>
            <p:nvPr/>
          </p:nvSpPr>
          <p:spPr>
            <a:xfrm>
              <a:off x="68199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Caption_2"/>
            <p:cNvSpPr txBox="1"/>
            <p:nvPr/>
          </p:nvSpPr>
          <p:spPr>
            <a:xfrm>
              <a:off x="49276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写真2</a:t>
              </a:r>
            </a:p>
          </p:txBody>
        </p:sp>
        <p:sp>
          <p:nvSpPr>
            <p:cNvPr id="10" name="Caption_3"/>
            <p:cNvSpPr txBox="1"/>
            <p:nvPr/>
          </p:nvSpPr>
          <p:spPr>
            <a:xfrm>
              <a:off x="69469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写真3</a:t>
              </a:r>
            </a:p>
          </p:txBody>
        </p:sp>
        <p:sp>
          <p:nvSpPr>
            <p:cNvPr id="11" name="Caption_4"/>
            <p:cNvSpPr txBox="1"/>
            <p:nvPr/>
          </p:nvSpPr>
          <p:spPr>
            <a:xfrm>
              <a:off x="49276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写真4</a:t>
              </a:r>
            </a:p>
          </p:txBody>
        </p:sp>
        <p:sp>
          <p:nvSpPr>
            <p:cNvPr id="12" name="Caption_5"/>
            <p:cNvSpPr txBox="1"/>
            <p:nvPr/>
          </p:nvSpPr>
          <p:spPr>
            <a:xfrm>
              <a:off x="69469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写真5</a:t>
              </a:r>
            </a:p>
          </p:txBody>
        </p:sp>
      </p:grpSp>
      <p:sp>
        <p:nvSpPr>
          <p:cNvPr id="1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記事別の読まれ方</a:t>
            </a:r>
          </a:p>
        </p:txBody>
      </p:sp>
      <p:sp>
        <p:nvSpPr>
          <p:cNvPr id="4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 PV・スキとも最も多い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3556000"/>
                <a:gridCol w="889000"/>
                <a:gridCol w="1270000"/>
                <a:gridCol w="1143000"/>
                <a:gridCol w="13716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記事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公開日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PV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スキ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スキ率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#1 はじめに：AI と一緒に note を書く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09-02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2,140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96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4.5%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#2 挿絵は HTML で作る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09-09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1,820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121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6.6%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#3 眠っていた才能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09-16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3,560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214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6.0%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#4 Office テンプレート編（予定）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09-30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3つの書き方の違い</a:t>
            </a:r>
          </a:p>
        </p:txBody>
      </p:sp>
      <p:sp>
        <p:nvSpPr>
          <p:cNvPr id="4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速さと一次情報は両立できる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AI に任せきり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人が全部書く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今回のやり方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下書きの速さ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速い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遅い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速い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一次情報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入らない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入る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見た目の統一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毎回ぶれる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手間がかかる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トークンで自動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読者への価値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薄い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高い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高い</a:t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Office テンプレート開発の進め方</a:t>
            </a:r>
          </a:p>
        </p:txBody>
      </p:sp>
      <p:sp>
        <p:nvSpPr>
          <p:cNvPr id="8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9月で開発は一区切り。10月以降は連載と社内展開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1909445"/>
                <a:gridCol w="952500"/>
                <a:gridCol w="673100"/>
                <a:gridCol w="521617"/>
                <a:gridCol w="521617"/>
                <a:gridCol w="521617"/>
                <a:gridCol w="521617"/>
                <a:gridCol w="521617"/>
                <a:gridCol w="521617"/>
                <a:gridCol w="521617"/>
                <a:gridCol w="521617"/>
                <a:gridCol w="521617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タスク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担当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状態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7月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8月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9月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10月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11月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12月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2月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3月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連載 #1〜#3 執筆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担当A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完了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Office テンプレート開発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担当A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進行中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連載 #4〜#6 執筆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担当A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予定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社内展開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編集チーム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未着手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3" name="Bar_1_連載 #1〜#3 執筆"/>
          <p:cNvSpPr/>
          <p:nvPr/>
        </p:nvSpPr>
        <p:spPr>
          <a:xfrm>
            <a:off x="4017645" y="1917700"/>
            <a:ext cx="1514052" cy="177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" name="Bar_2_Office テンプレート開発"/>
          <p:cNvSpPr/>
          <p:nvPr/>
        </p:nvSpPr>
        <p:spPr>
          <a:xfrm>
            <a:off x="5060879" y="2273300"/>
            <a:ext cx="1514052" cy="177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Bar_3_連載 #4〜#6 執筆"/>
          <p:cNvSpPr/>
          <p:nvPr/>
        </p:nvSpPr>
        <p:spPr>
          <a:xfrm>
            <a:off x="6104114" y="2628900"/>
            <a:ext cx="1514052" cy="177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6" name="Bar_4_社内展開"/>
          <p:cNvSpPr/>
          <p:nvPr/>
        </p:nvSpPr>
        <p:spPr>
          <a:xfrm>
            <a:off x="7147348" y="2984500"/>
            <a:ext cx="1514052" cy="177800"/>
          </a:xfrm>
          <a:custGeom>
            <a:avLst/>
            <a:gdLst/>
            <a:ahLst/>
            <a:cxnLst/>
            <a:rect l="0" t="0" r="r" b="b"/>
            <a:pathLst>
              <a:path w="1514052" h="177800">
                <a:moveTo>
                  <a:pt x="0" y="0"/>
                </a:moveTo>
                <a:lnTo>
                  <a:pt x="1412452" y="0"/>
                </a:lnTo>
                <a:lnTo>
                  <a:pt x="1514052" y="88900"/>
                </a:lnTo>
                <a:lnTo>
                  <a:pt x="1412452" y="177800"/>
                </a:lnTo>
                <a:lnTo>
                  <a:pt x="0" y="17780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</p:sp>
      <p:sp>
        <p:nvSpPr>
          <p:cNvPr id="9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